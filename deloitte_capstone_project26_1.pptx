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147480385" r:id="rId2"/>
    <p:sldId id="2147480386" r:id="rId3"/>
    <p:sldId id="2147480396" r:id="rId4"/>
    <p:sldId id="2147480397" r:id="rId5"/>
    <p:sldId id="2147480399" r:id="rId6"/>
    <p:sldId id="2147480393" r:id="rId7"/>
    <p:sldId id="2147480392" r:id="rId8"/>
    <p:sldId id="50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EF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671" dt="2026-08-29T19:00:20.1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11:24:31"/>
    </inkml:context>
    <inkml:brush xml:id="br0">
      <inkml:brushProperty name="width" value="0.1" units="cm"/>
      <inkml:brushProperty name="height" value="0.1" units="cm"/>
    </inkml:brush>
  </inkml:definitions>
  <inkml:trace contextRef="#ctx0" brushRef="#br0">11248 17104 256 0 0,'0'0'1414'0'0,"-2"0"4240"0"0,1-1-4883 0 0,0 0-643 0 0,1 0-513 0 0,2-1-1 0 0,-1 0 1 0 0,2 0-1671 0 0,0 0-129 0 0,2 0-641 0 0,1-1 2826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11:24:31"/>
    </inkml:context>
    <inkml:brush xml:id="br0">
      <inkml:brushProperty name="width" value="0.1" units="cm"/>
      <inkml:brushProperty name="height" value="0.1" units="cm"/>
    </inkml:brush>
  </inkml:definitions>
  <inkml:trace contextRef="#ctx0" brushRef="#br0">9453 16701 642 0 0,'1'0'514'0'0,"0"0"128"0"0,-1 1 1029 0 0,2-1-1414 0 0,-1 1 128 0 0,2 1-128 0 0,-1 0-257 0 0,0 0 0 0 0,0 0 0 0 0,0 0 0 0 0,-1 0-128 0 0,0 0-129 0 0,-1 0 0 0 0,0 0-386 0 0,-1 1-2440 0 0,-1 0 3083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11:24:31"/>
    </inkml:context>
    <inkml:brush xml:id="br0">
      <inkml:brushProperty name="width" value="0.1" units="cm"/>
      <inkml:brushProperty name="height" value="0.1" units="cm"/>
    </inkml:brush>
  </inkml:definitions>
  <inkml:trace contextRef="#ctx0" brushRef="#br0">9946 16195 513 0 0,'0'0'1799'0'0,"-2"0"386"0"0,0 0-900 0 0,0 0-900 0 0,-1 0 1 0 0,2 1 513 0 0,1-1-770 0 0,1 0-129 0 0,1-1-514 0 0,-1 0 128 0 0,0 0-128 0 0,0-1-642 0 0,0 1 1156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F6310E-6C42-4E39-AF34-BAFDB28E96F0}" type="datetimeFigureOut">
              <a:rPr lang="en-US" smtClean="0"/>
              <a:t>8/29/2026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A1A0D5-0374-4A35-80D2-011F6E8F3843}" type="slidenum">
              <a:rPr lang="en-US" smtClean="0"/>
              <a:t>‹#›</a:t>
            </a:fld>
            <a:endParaRPr lang="en-US"/>
          </a:p>
        </p:txBody>
      </p:sp>
    </p:spTree>
    <p:extLst>
      <p:ext uri="{BB962C8B-B14F-4D97-AF65-F5344CB8AC3E}">
        <p14:creationId xmlns:p14="http://schemas.microsoft.com/office/powerpoint/2010/main" val="1140281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1A0D5-0374-4A35-80D2-011F6E8F3843}" type="slidenum">
              <a:rPr lang="en-US" smtClean="0"/>
              <a:t>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2.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2.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2.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2.em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2.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2.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2.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2.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7" name="Group 26">
            <a:extLst>
              <a:ext uri="{FF2B5EF4-FFF2-40B4-BE49-F238E27FC236}">
                <a16:creationId xmlns:a16="http://schemas.microsoft.com/office/drawing/2014/main" id="{A01EE57E-4C1B-4ECF-94C5-14A453751EA1}"/>
              </a:ext>
            </a:extLst>
          </p:cNvPr>
          <p:cNvGrpSpPr>
            <a:grpSpLocks noChangeAspect="1"/>
          </p:cNvGrpSpPr>
          <p:nvPr userDrawn="1"/>
        </p:nvGrpSpPr>
        <p:grpSpPr>
          <a:xfrm>
            <a:off x="450000" y="344137"/>
            <a:ext cx="1819109" cy="345828"/>
            <a:chOff x="398463" y="404813"/>
            <a:chExt cx="1627187" cy="307976"/>
          </a:xfrm>
          <a:solidFill>
            <a:schemeClr val="tx1"/>
          </a:solidFill>
        </p:grpSpPr>
        <p:sp>
          <p:nvSpPr>
            <p:cNvPr id="28" name="Oval 5">
              <a:extLst>
                <a:ext uri="{FF2B5EF4-FFF2-40B4-BE49-F238E27FC236}">
                  <a16:creationId xmlns:a16="http://schemas.microsoft.com/office/drawing/2014/main" id="{848B10DB-7BA0-47A6-A2BF-E43FDE325327}"/>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6">
              <a:extLst>
                <a:ext uri="{FF2B5EF4-FFF2-40B4-BE49-F238E27FC236}">
                  <a16:creationId xmlns:a16="http://schemas.microsoft.com/office/drawing/2014/main" id="{B690FCB5-02B0-42C1-A71D-2F5ABCA25FF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3" name="Rectangle 7">
              <a:extLst>
                <a:ext uri="{FF2B5EF4-FFF2-40B4-BE49-F238E27FC236}">
                  <a16:creationId xmlns:a16="http://schemas.microsoft.com/office/drawing/2014/main" id="{358223E3-2772-41EC-BDC5-F0327F14B28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4" name="Freeform 8">
              <a:extLst>
                <a:ext uri="{FF2B5EF4-FFF2-40B4-BE49-F238E27FC236}">
                  <a16:creationId xmlns:a16="http://schemas.microsoft.com/office/drawing/2014/main" id="{60E75CE7-1268-47E9-A585-16E350CB0979}"/>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5" name="Rectangle 9">
              <a:extLst>
                <a:ext uri="{FF2B5EF4-FFF2-40B4-BE49-F238E27FC236}">
                  <a16:creationId xmlns:a16="http://schemas.microsoft.com/office/drawing/2014/main" id="{BF8B8A80-FD9A-43B9-A936-A0BE1CAD8037}"/>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6" name="Rectangle 10">
              <a:extLst>
                <a:ext uri="{FF2B5EF4-FFF2-40B4-BE49-F238E27FC236}">
                  <a16:creationId xmlns:a16="http://schemas.microsoft.com/office/drawing/2014/main" id="{5DA18E48-2689-422E-A84C-ECB5B61A0D2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7" name="Freeform 11">
              <a:extLst>
                <a:ext uri="{FF2B5EF4-FFF2-40B4-BE49-F238E27FC236}">
                  <a16:creationId xmlns:a16="http://schemas.microsoft.com/office/drawing/2014/main" id="{D9316E24-7A8A-4FCF-B2C4-4EE40E3BA994}"/>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8" name="Freeform 12">
              <a:extLst>
                <a:ext uri="{FF2B5EF4-FFF2-40B4-BE49-F238E27FC236}">
                  <a16:creationId xmlns:a16="http://schemas.microsoft.com/office/drawing/2014/main" id="{76354CE9-D577-46E8-886D-1BBB079BE4D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9" name="Freeform 13">
              <a:extLst>
                <a:ext uri="{FF2B5EF4-FFF2-40B4-BE49-F238E27FC236}">
                  <a16:creationId xmlns:a16="http://schemas.microsoft.com/office/drawing/2014/main" id="{2232419E-4011-4B15-A744-7F8FCDD1F558}"/>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0" name="Freeform 14">
              <a:extLst>
                <a:ext uri="{FF2B5EF4-FFF2-40B4-BE49-F238E27FC236}">
                  <a16:creationId xmlns:a16="http://schemas.microsoft.com/office/drawing/2014/main" id="{2F957E66-C402-4A51-A806-6052AEAFC8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28797" y="698373"/>
            <a:ext cx="5544000" cy="5544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2567167609"/>
      </p:ext>
    </p:extLst>
  </p:cSld>
  <p:clrMapOvr>
    <a:masterClrMapping/>
  </p:clrMapOvr>
  <p:transition>
    <p:fade/>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solidFill>
          <a:schemeClr val="tx1"/>
        </a:solidFill>
        <a:effectLst/>
      </p:bgPr>
    </p:bg>
    <p:spTree>
      <p:nvGrpSpPr>
        <p:cNvPr id="1" name=""/>
        <p:cNvGrpSpPr/>
        <p:nvPr/>
      </p:nvGrpSpPr>
      <p:grpSpPr>
        <a:xfrm>
          <a:off x="0" y="0"/>
          <a:ext cx="0" cy="0"/>
          <a:chOff x="0" y="0"/>
          <a:chExt cx="0" cy="0"/>
        </a:xfrm>
      </p:grpSpPr>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49999" y="6365848"/>
            <a:ext cx="4464000" cy="180000"/>
          </a:xfrm>
          <a:prstGeom prst="rect">
            <a:avLst/>
          </a:prstGeom>
        </p:spPr>
        <p:txBody>
          <a:bodyPr anchor="ctr">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53" name="Title 1">
            <a:extLst>
              <a:ext uri="{FF2B5EF4-FFF2-40B4-BE49-F238E27FC236}">
                <a16:creationId xmlns:a16="http://schemas.microsoft.com/office/drawing/2014/main" id="{647FBB06-57A1-478F-8BCE-57D05265516A}"/>
              </a:ext>
            </a:extLst>
          </p:cNvPr>
          <p:cNvSpPr>
            <a:spLocks noGrp="1"/>
          </p:cNvSpPr>
          <p:nvPr>
            <p:ph type="ctrTitle"/>
          </p:nvPr>
        </p:nvSpPr>
        <p:spPr bwMode="gray">
          <a:xfrm>
            <a:off x="450000" y="5186209"/>
            <a:ext cx="4446269" cy="895983"/>
          </a:xfrm>
          <a:prstGeom prst="rect">
            <a:avLst/>
          </a:prstGeom>
        </p:spPr>
        <p:txBody>
          <a:bodyPr anchor="b" anchorCtr="0">
            <a:noAutofit/>
          </a:bodyPr>
          <a:lstStyle>
            <a:lvl1pPr algn="l">
              <a:lnSpc>
                <a:spcPts val="3200"/>
              </a:lnSpc>
              <a:defRPr sz="3200" b="0">
                <a:solidFill>
                  <a:schemeClr val="accent3"/>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17" name="Picture Placeholder 8">
            <a:extLst>
              <a:ext uri="{FF2B5EF4-FFF2-40B4-BE49-F238E27FC236}">
                <a16:creationId xmlns:a16="http://schemas.microsoft.com/office/drawing/2014/main" id="{AA5D9D6B-8AE5-40BD-B06B-DB5F7F3841FC}"/>
              </a:ext>
            </a:extLst>
          </p:cNvPr>
          <p:cNvSpPr>
            <a:spLocks noGrp="1"/>
          </p:cNvSpPr>
          <p:nvPr>
            <p:ph type="pic" sz="quarter" idx="11"/>
          </p:nvPr>
        </p:nvSpPr>
        <p:spPr>
          <a:xfrm>
            <a:off x="3326467" y="688848"/>
            <a:ext cx="5544000" cy="5544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64839426"/>
      </p:ext>
    </p:extLst>
  </p:cSld>
  <p:clrMapOvr>
    <a:masterClrMapping/>
  </p:clrMapOvr>
  <p:transition>
    <p:fade/>
  </p:transition>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age Image">
    <p:bg bwMode="gray">
      <p:bgPr>
        <a:solidFill>
          <a:schemeClr val="tx1"/>
        </a:solidFill>
        <a:effectLst/>
      </p:bgPr>
    </p:bg>
    <p:spTree>
      <p:nvGrpSpPr>
        <p:cNvPr id="1" name=""/>
        <p:cNvGrpSpPr/>
        <p:nvPr/>
      </p:nvGrpSpPr>
      <p:grpSpPr>
        <a:xfrm>
          <a:off x="0" y="0"/>
          <a:ext cx="0" cy="0"/>
          <a:chOff x="0" y="0"/>
          <a:chExt cx="0" cy="0"/>
        </a:xfrm>
      </p:grpSpPr>
      <p:sp>
        <p:nvSpPr>
          <p:cNvPr id="28" name="Text Placeholder 4">
            <a:extLst>
              <a:ext uri="{FF2B5EF4-FFF2-40B4-BE49-F238E27FC236}">
                <a16:creationId xmlns:a16="http://schemas.microsoft.com/office/drawing/2014/main" id="{7843742C-26CB-411F-8564-50309241988E}"/>
              </a:ext>
            </a:extLst>
          </p:cNvPr>
          <p:cNvSpPr>
            <a:spLocks noGrp="1"/>
          </p:cNvSpPr>
          <p:nvPr>
            <p:ph type="body" sz="quarter" idx="10"/>
          </p:nvPr>
        </p:nvSpPr>
        <p:spPr>
          <a:xfrm>
            <a:off x="449999" y="6373749"/>
            <a:ext cx="4464000" cy="180000"/>
          </a:xfrm>
          <a:prstGeom prst="rect">
            <a:avLst/>
          </a:prstGeom>
        </p:spPr>
        <p:txBody>
          <a:bodyPr anchor="ctr">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29" name="Title 1">
            <a:extLst>
              <a:ext uri="{FF2B5EF4-FFF2-40B4-BE49-F238E27FC236}">
                <a16:creationId xmlns:a16="http://schemas.microsoft.com/office/drawing/2014/main" id="{A7C729B7-24CD-4887-BCB2-9B9E69736AAE}"/>
              </a:ext>
            </a:extLst>
          </p:cNvPr>
          <p:cNvSpPr>
            <a:spLocks noGrp="1"/>
          </p:cNvSpPr>
          <p:nvPr>
            <p:ph type="ctrTitle"/>
          </p:nvPr>
        </p:nvSpPr>
        <p:spPr bwMode="gray">
          <a:xfrm>
            <a:off x="450000" y="5186209"/>
            <a:ext cx="4446269" cy="895983"/>
          </a:xfrm>
          <a:prstGeom prst="rect">
            <a:avLst/>
          </a:prstGeom>
        </p:spPr>
        <p:txBody>
          <a:bodyPr anchor="b" anchorCtr="0">
            <a:noAutofit/>
          </a:bodyPr>
          <a:lstStyle>
            <a:lvl1pPr algn="l">
              <a:lnSpc>
                <a:spcPts val="3200"/>
              </a:lnSpc>
              <a:defRPr sz="3200" b="0">
                <a:solidFill>
                  <a:schemeClr val="accent3"/>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grpSp>
        <p:nvGrpSpPr>
          <p:cNvPr id="50" name="Group 49">
            <a:extLst>
              <a:ext uri="{FF2B5EF4-FFF2-40B4-BE49-F238E27FC236}">
                <a16:creationId xmlns:a16="http://schemas.microsoft.com/office/drawing/2014/main" id="{88F05BB3-C018-BA5C-F9C7-3C16D084D097}"/>
              </a:ext>
            </a:extLst>
          </p:cNvPr>
          <p:cNvGrpSpPr/>
          <p:nvPr userDrawn="1"/>
        </p:nvGrpSpPr>
        <p:grpSpPr>
          <a:xfrm>
            <a:off x="450000" y="341312"/>
            <a:ext cx="1819656" cy="347472"/>
            <a:chOff x="398463" y="404813"/>
            <a:chExt cx="1627187" cy="307976"/>
          </a:xfrm>
          <a:solidFill>
            <a:schemeClr val="bg1"/>
          </a:solidFill>
        </p:grpSpPr>
        <p:sp>
          <p:nvSpPr>
            <p:cNvPr id="51" name="Oval 5">
              <a:extLst>
                <a:ext uri="{FF2B5EF4-FFF2-40B4-BE49-F238E27FC236}">
                  <a16:creationId xmlns:a16="http://schemas.microsoft.com/office/drawing/2014/main" id="{D110F402-178F-F5E7-2721-4CC50CCE4C7A}"/>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2" name="Freeform 6">
              <a:extLst>
                <a:ext uri="{FF2B5EF4-FFF2-40B4-BE49-F238E27FC236}">
                  <a16:creationId xmlns:a16="http://schemas.microsoft.com/office/drawing/2014/main" id="{E8381278-8B8F-4A2B-0553-8BB7D769D22B}"/>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3" name="Rectangle 7">
              <a:extLst>
                <a:ext uri="{FF2B5EF4-FFF2-40B4-BE49-F238E27FC236}">
                  <a16:creationId xmlns:a16="http://schemas.microsoft.com/office/drawing/2014/main" id="{CD01A11A-57C5-2282-1BDA-D5DD716DBD2D}"/>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4" name="Freeform 8">
              <a:extLst>
                <a:ext uri="{FF2B5EF4-FFF2-40B4-BE49-F238E27FC236}">
                  <a16:creationId xmlns:a16="http://schemas.microsoft.com/office/drawing/2014/main" id="{A5BD5D19-C24F-53D3-E071-4F586C08D1EC}"/>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5" name="Rectangle 9">
              <a:extLst>
                <a:ext uri="{FF2B5EF4-FFF2-40B4-BE49-F238E27FC236}">
                  <a16:creationId xmlns:a16="http://schemas.microsoft.com/office/drawing/2014/main" id="{A949C8BC-6E1F-9AF9-8DE7-DB1E34E46F24}"/>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6" name="Rectangle 10">
              <a:extLst>
                <a:ext uri="{FF2B5EF4-FFF2-40B4-BE49-F238E27FC236}">
                  <a16:creationId xmlns:a16="http://schemas.microsoft.com/office/drawing/2014/main" id="{B0417915-C9CE-A886-35D7-ACAFF12760B1}"/>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7" name="Freeform 11">
              <a:extLst>
                <a:ext uri="{FF2B5EF4-FFF2-40B4-BE49-F238E27FC236}">
                  <a16:creationId xmlns:a16="http://schemas.microsoft.com/office/drawing/2014/main" id="{BB6AE7AA-ACF3-FE3A-C102-841EA4F1ECAE}"/>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8" name="Freeform 12">
              <a:extLst>
                <a:ext uri="{FF2B5EF4-FFF2-40B4-BE49-F238E27FC236}">
                  <a16:creationId xmlns:a16="http://schemas.microsoft.com/office/drawing/2014/main" id="{AFCF6CF9-6881-6BD5-E554-8E21D1958C78}"/>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9" name="Freeform 13">
              <a:extLst>
                <a:ext uri="{FF2B5EF4-FFF2-40B4-BE49-F238E27FC236}">
                  <a16:creationId xmlns:a16="http://schemas.microsoft.com/office/drawing/2014/main" id="{B253E829-FC95-FA23-2AB6-F08082740166}"/>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60" name="Freeform 14">
              <a:extLst>
                <a:ext uri="{FF2B5EF4-FFF2-40B4-BE49-F238E27FC236}">
                  <a16:creationId xmlns:a16="http://schemas.microsoft.com/office/drawing/2014/main" id="{7F37B3CB-E9EF-9AB4-1364-949E60A5E388}"/>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Tree>
    <p:extLst>
      <p:ext uri="{BB962C8B-B14F-4D97-AF65-F5344CB8AC3E}">
        <p14:creationId xmlns:p14="http://schemas.microsoft.com/office/powerpoint/2010/main" val="638772471"/>
      </p:ext>
    </p:extLst>
  </p:cSld>
  <p:clrMapOvr>
    <a:masterClrMapping/>
  </p:clrMapOvr>
  <p:transition>
    <p:fade/>
  </p:transition>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userDrawn="1">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bwMode="gray">
          <a:xfrm>
            <a:off x="450000" y="1728217"/>
            <a:ext cx="11304000" cy="1592403"/>
          </a:xfrm>
          <a:prstGeom prst="rect">
            <a:avLst/>
          </a:prstGeom>
        </p:spPr>
        <p:txBody>
          <a:bodyPr vert="horz" anchor="b"/>
          <a:lstStyle>
            <a:lvl1pPr>
              <a:lnSpc>
                <a:spcPct val="95000"/>
              </a:lnSpc>
              <a:defRPr sz="36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50000" y="3474720"/>
            <a:ext cx="11304000" cy="1566532"/>
          </a:xfrm>
        </p:spPr>
        <p:txBody>
          <a:bodyPr lIns="0" tIns="0" rIns="0" bIns="0">
            <a:noAutofit/>
          </a:bodyPr>
          <a:lstStyle>
            <a:lvl1pPr marL="0" indent="0">
              <a:lnSpc>
                <a:spcPct val="95000"/>
              </a:lnSpc>
              <a:spcAft>
                <a:spcPts val="0"/>
              </a:spcAft>
              <a:buNone/>
              <a:defRPr sz="3600" b="0">
                <a:solidFill>
                  <a:schemeClr val="tx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4" name="CaseCode">
            <a:extLst>
              <a:ext uri="{FF2B5EF4-FFF2-40B4-BE49-F238E27FC236}">
                <a16:creationId xmlns:a16="http://schemas.microsoft.com/office/drawing/2014/main" id="{1BDC0FDC-0D9A-61CF-95C8-4BC8540608B8}"/>
              </a:ext>
            </a:extLst>
          </p:cNvPr>
          <p:cNvSpPr txBox="1"/>
          <p:nvPr userDrawn="1"/>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tx1"/>
                </a:solidFill>
                <a:latin typeface="Calibri" panose="020F0502020204030204" pitchFamily="34" charset="0"/>
                <a:cs typeface="Calibri" panose="020F0502020204030204" pitchFamily="34" charset="0"/>
              </a:rPr>
              <a:t>Presentation title</a:t>
            </a:r>
            <a:br>
              <a:rPr lang="en-US" sz="800" noProof="0">
                <a:solidFill>
                  <a:schemeClr val="tx1"/>
                </a:solidFill>
                <a:latin typeface="Calibri" panose="020F0502020204030204" pitchFamily="34" charset="0"/>
                <a:cs typeface="Calibri" panose="020F0502020204030204" pitchFamily="34" charset="0"/>
              </a:rPr>
            </a:br>
            <a:r>
              <a:rPr lang="en-US" sz="800" noProof="0">
                <a:solidFill>
                  <a:schemeClr val="tx1"/>
                </a:solidFill>
                <a:latin typeface="Calibri" panose="020F0502020204030204" pitchFamily="34" charset="0"/>
                <a:cs typeface="Calibri" panose="020F0502020204030204" pitchFamily="34" charset="0"/>
              </a:rPr>
              <a:t>[To edit, click View &gt; Slide Master &gt; Slide Master]</a:t>
            </a:r>
          </a:p>
        </p:txBody>
      </p:sp>
      <p:sp>
        <p:nvSpPr>
          <p:cNvPr id="5" name="Copyright">
            <a:extLst>
              <a:ext uri="{FF2B5EF4-FFF2-40B4-BE49-F238E27FC236}">
                <a16:creationId xmlns:a16="http://schemas.microsoft.com/office/drawing/2014/main" id="{62398D06-C488-9DDB-E248-1C4BC1724227}"/>
              </a:ext>
            </a:extLst>
          </p:cNvPr>
          <p:cNvSpPr txBox="1"/>
          <p:nvPr userDrawn="1"/>
        </p:nvSpPr>
        <p:spPr>
          <a:xfrm>
            <a:off x="450000"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tx1"/>
                </a:solidFill>
                <a:latin typeface="Calibri" panose="020F0502020204030204" pitchFamily="34" charset="0"/>
                <a:cs typeface="Calibri" panose="020F0502020204030204" pitchFamily="34" charset="0"/>
              </a:rPr>
              <a:t>Member firms and DTTL: Insert appropriate copyright</a:t>
            </a:r>
            <a:br>
              <a:rPr lang="en-US" sz="800" noProof="0">
                <a:solidFill>
                  <a:schemeClr val="tx1"/>
                </a:solidFill>
                <a:latin typeface="Calibri" panose="020F0502020204030204" pitchFamily="34" charset="0"/>
                <a:cs typeface="Calibri" panose="020F0502020204030204" pitchFamily="34" charset="0"/>
              </a:rPr>
            </a:br>
            <a:r>
              <a:rPr lang="en-US" sz="800" noProof="0">
                <a:solidFill>
                  <a:schemeClr val="tx1"/>
                </a:solidFill>
                <a:latin typeface="Calibri" panose="020F0502020204030204" pitchFamily="34" charset="0"/>
                <a:cs typeface="Calibri" panose="020F0502020204030204" pitchFamily="34" charset="0"/>
              </a:rPr>
              <a:t>[To edit, click View &gt; Slide Master &gt; Slide Master]</a:t>
            </a:r>
          </a:p>
        </p:txBody>
      </p:sp>
      <p:sp>
        <p:nvSpPr>
          <p:cNvPr id="6" name="TextBox 5">
            <a:extLst>
              <a:ext uri="{FF2B5EF4-FFF2-40B4-BE49-F238E27FC236}">
                <a16:creationId xmlns:a16="http://schemas.microsoft.com/office/drawing/2014/main" id="{ACCA4DFC-A5BD-1CA7-953A-4298BCF3311A}"/>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08937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Accessible Green">
    <p:bg bwMode="gray">
      <p:bgPr>
        <a:solidFill>
          <a:schemeClr val="accent3"/>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userDrawn="1">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bwMode="gray">
          <a:xfrm>
            <a:off x="450000" y="1728217"/>
            <a:ext cx="11304000" cy="1592403"/>
          </a:xfrm>
          <a:prstGeom prst="rect">
            <a:avLst/>
          </a:prstGeom>
        </p:spPr>
        <p:txBody>
          <a:bodyPr vert="horz"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50000" y="3474720"/>
            <a:ext cx="11304000" cy="1566532"/>
          </a:xfrm>
        </p:spPr>
        <p:txBody>
          <a:bodyPr lIns="0" tIns="0" rIns="0" bIns="0">
            <a:noAutofit/>
          </a:bodyPr>
          <a:lstStyle>
            <a:lvl1pPr marL="0" indent="0">
              <a:lnSpc>
                <a:spcPct val="95000"/>
              </a:lnSpc>
              <a:spcAft>
                <a:spcPts val="0"/>
              </a:spcAft>
              <a:buNone/>
              <a:defRPr sz="3600" b="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4" name="CaseCode">
            <a:extLst>
              <a:ext uri="{FF2B5EF4-FFF2-40B4-BE49-F238E27FC236}">
                <a16:creationId xmlns:a16="http://schemas.microsoft.com/office/drawing/2014/main" id="{1BDC0FDC-0D9A-61CF-95C8-4BC8540608B8}"/>
              </a:ext>
            </a:extLst>
          </p:cNvPr>
          <p:cNvSpPr txBox="1"/>
          <p:nvPr userDrawn="1"/>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Presentation title</a:t>
            </a:r>
            <a:br>
              <a:rPr lang="en-US" sz="800" noProof="0">
                <a:solidFill>
                  <a:schemeClr val="bg1"/>
                </a:solidFill>
                <a:latin typeface="Calibri" panose="020F0502020204030204" pitchFamily="34" charset="0"/>
                <a:cs typeface="Calibri" panose="020F0502020204030204" pitchFamily="34" charset="0"/>
              </a:rPr>
            </a:br>
            <a:r>
              <a:rPr lang="en-US" sz="8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5" name="Copyright">
            <a:extLst>
              <a:ext uri="{FF2B5EF4-FFF2-40B4-BE49-F238E27FC236}">
                <a16:creationId xmlns:a16="http://schemas.microsoft.com/office/drawing/2014/main" id="{62398D06-C488-9DDB-E248-1C4BC1724227}"/>
              </a:ext>
            </a:extLst>
          </p:cNvPr>
          <p:cNvSpPr txBox="1"/>
          <p:nvPr userDrawn="1"/>
        </p:nvSpPr>
        <p:spPr>
          <a:xfrm>
            <a:off x="450000"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Member firms and DTTL: Insert appropriate copyright</a:t>
            </a:r>
            <a:br>
              <a:rPr lang="en-US" sz="800" noProof="0">
                <a:solidFill>
                  <a:schemeClr val="bg1"/>
                </a:solidFill>
                <a:latin typeface="Calibri" panose="020F0502020204030204" pitchFamily="34" charset="0"/>
                <a:cs typeface="Calibri" panose="020F0502020204030204" pitchFamily="34" charset="0"/>
              </a:rPr>
            </a:br>
            <a:r>
              <a:rPr lang="en-US" sz="8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6" name="TextBox 5">
            <a:extLst>
              <a:ext uri="{FF2B5EF4-FFF2-40B4-BE49-F238E27FC236}">
                <a16:creationId xmlns:a16="http://schemas.microsoft.com/office/drawing/2014/main" id="{ACCA4DFC-A5BD-1CA7-953A-4298BCF3311A}"/>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20170996"/>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Accessible Teal">
    <p:bg bwMode="gray">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50000" y="1728217"/>
            <a:ext cx="11304000"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50000" y="3474720"/>
            <a:ext cx="11304000" cy="1566532"/>
          </a:xfrm>
        </p:spPr>
        <p:txBody>
          <a:bodyPr lIns="0" tIns="0" rIns="0" bIns="0">
            <a:noAutofit/>
          </a:bodyPr>
          <a:lstStyle>
            <a:lvl1pPr marL="0" indent="0">
              <a:lnSpc>
                <a:spcPct val="95000"/>
              </a:lnSpc>
              <a:spcAft>
                <a:spcPts val="0"/>
              </a:spcAft>
              <a:buNone/>
              <a:defRPr sz="3600" b="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4" name="CaseCode">
            <a:extLst>
              <a:ext uri="{FF2B5EF4-FFF2-40B4-BE49-F238E27FC236}">
                <a16:creationId xmlns:a16="http://schemas.microsoft.com/office/drawing/2014/main" id="{0B944744-9AF8-6F57-762F-A053E0C75A9F}"/>
              </a:ext>
            </a:extLst>
          </p:cNvPr>
          <p:cNvSpPr txBox="1"/>
          <p:nvPr userDrawn="1"/>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Presentation title</a:t>
            </a:r>
            <a:br>
              <a:rPr lang="en-US" sz="800" noProof="0">
                <a:solidFill>
                  <a:schemeClr val="bg1"/>
                </a:solidFill>
                <a:latin typeface="Calibri" panose="020F0502020204030204" pitchFamily="34" charset="0"/>
                <a:cs typeface="Calibri" panose="020F0502020204030204" pitchFamily="34" charset="0"/>
              </a:rPr>
            </a:br>
            <a:r>
              <a:rPr lang="en-US" sz="8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5" name="Copyright">
            <a:extLst>
              <a:ext uri="{FF2B5EF4-FFF2-40B4-BE49-F238E27FC236}">
                <a16:creationId xmlns:a16="http://schemas.microsoft.com/office/drawing/2014/main" id="{18261861-238E-430B-0948-A0CBE15D5638}"/>
              </a:ext>
            </a:extLst>
          </p:cNvPr>
          <p:cNvSpPr txBox="1"/>
          <p:nvPr userDrawn="1"/>
        </p:nvSpPr>
        <p:spPr>
          <a:xfrm>
            <a:off x="450000"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Member firms and DTTL: Insert appropriate copyright</a:t>
            </a:r>
            <a:br>
              <a:rPr lang="en-US" sz="800" noProof="0">
                <a:solidFill>
                  <a:schemeClr val="bg1"/>
                </a:solidFill>
                <a:latin typeface="Calibri" panose="020F0502020204030204" pitchFamily="34" charset="0"/>
                <a:cs typeface="Calibri" panose="020F0502020204030204" pitchFamily="34" charset="0"/>
              </a:rPr>
            </a:br>
            <a:r>
              <a:rPr lang="en-US" sz="8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6" name="TextBox 5">
            <a:extLst>
              <a:ext uri="{FF2B5EF4-FFF2-40B4-BE49-F238E27FC236}">
                <a16:creationId xmlns:a16="http://schemas.microsoft.com/office/drawing/2014/main" id="{37D898DC-2E31-6A58-EC79-6DD0ED09A0D8}"/>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5332905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Accessible Blue">
    <p:bg bwMode="gray">
      <p:bgPr>
        <a:solidFill>
          <a:schemeClr val="accent6"/>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50000" y="1728217"/>
            <a:ext cx="11304000"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50000" y="3474720"/>
            <a:ext cx="11304000" cy="1566532"/>
          </a:xfrm>
        </p:spPr>
        <p:txBody>
          <a:bodyPr lIns="0" tIns="0" rIns="0" bIns="0">
            <a:noAutofit/>
          </a:bodyPr>
          <a:lstStyle>
            <a:lvl1pPr marL="0" indent="0">
              <a:lnSpc>
                <a:spcPct val="95000"/>
              </a:lnSpc>
              <a:spcAft>
                <a:spcPts val="0"/>
              </a:spcAft>
              <a:buNone/>
              <a:defRPr sz="3600" b="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2" name="CaseCode">
            <a:extLst>
              <a:ext uri="{FF2B5EF4-FFF2-40B4-BE49-F238E27FC236}">
                <a16:creationId xmlns:a16="http://schemas.microsoft.com/office/drawing/2014/main" id="{93E04509-01E9-4BE4-AE15-9290E9B2F0D8}"/>
              </a:ext>
            </a:extLst>
          </p:cNvPr>
          <p:cNvSpPr txBox="1"/>
          <p:nvPr userDrawn="1"/>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Presentation title</a:t>
            </a:r>
            <a:br>
              <a:rPr lang="en-US" sz="800" noProof="0">
                <a:solidFill>
                  <a:schemeClr val="bg1"/>
                </a:solidFill>
                <a:latin typeface="Calibri" panose="020F0502020204030204" pitchFamily="34" charset="0"/>
                <a:cs typeface="Calibri" panose="020F0502020204030204" pitchFamily="34" charset="0"/>
              </a:rPr>
            </a:br>
            <a:r>
              <a:rPr lang="en-US" sz="8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3" name="Copyright">
            <a:extLst>
              <a:ext uri="{FF2B5EF4-FFF2-40B4-BE49-F238E27FC236}">
                <a16:creationId xmlns:a16="http://schemas.microsoft.com/office/drawing/2014/main" id="{38C37415-08C8-FC74-7EF5-541DF408E704}"/>
              </a:ext>
            </a:extLst>
          </p:cNvPr>
          <p:cNvSpPr txBox="1"/>
          <p:nvPr userDrawn="1"/>
        </p:nvSpPr>
        <p:spPr>
          <a:xfrm>
            <a:off x="450000"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Member firms and DTTL: Insert appropriate copyright</a:t>
            </a:r>
            <a:br>
              <a:rPr lang="en-US" sz="800" noProof="0">
                <a:solidFill>
                  <a:schemeClr val="bg1"/>
                </a:solidFill>
                <a:latin typeface="Calibri" panose="020F0502020204030204" pitchFamily="34" charset="0"/>
                <a:cs typeface="Calibri" panose="020F0502020204030204" pitchFamily="34" charset="0"/>
              </a:rPr>
            </a:br>
            <a:r>
              <a:rPr lang="en-US" sz="8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4" name="TextBox 3">
            <a:extLst>
              <a:ext uri="{FF2B5EF4-FFF2-40B4-BE49-F238E27FC236}">
                <a16:creationId xmlns:a16="http://schemas.microsoft.com/office/drawing/2014/main" id="{6656F94D-2DC7-60DE-BF1B-B69859E827D9}"/>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4616244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userDrawn="1">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bwMode="gray">
          <a:xfrm>
            <a:off x="450000" y="1728217"/>
            <a:ext cx="11304000" cy="1592403"/>
          </a:xfrm>
          <a:prstGeom prst="rect">
            <a:avLst/>
          </a:prstGeom>
        </p:spPr>
        <p:txBody>
          <a:bodyPr vert="horz"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50000" y="3474720"/>
            <a:ext cx="11304000" cy="1566532"/>
          </a:xfrm>
        </p:spPr>
        <p:txBody>
          <a:bodyPr lIns="0" tIns="0" rIns="0" bIns="0">
            <a:noAutofit/>
          </a:bodyPr>
          <a:lstStyle>
            <a:lvl1pPr marL="0" indent="0">
              <a:lnSpc>
                <a:spcPct val="95000"/>
              </a:lnSpc>
              <a:spcAft>
                <a:spcPts val="0"/>
              </a:spcAft>
              <a:buNone/>
              <a:defRPr sz="3600" b="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4" name="CaseCode">
            <a:extLst>
              <a:ext uri="{FF2B5EF4-FFF2-40B4-BE49-F238E27FC236}">
                <a16:creationId xmlns:a16="http://schemas.microsoft.com/office/drawing/2014/main" id="{1BDC0FDC-0D9A-61CF-95C8-4BC8540608B8}"/>
              </a:ext>
            </a:extLst>
          </p:cNvPr>
          <p:cNvSpPr txBox="1"/>
          <p:nvPr userDrawn="1"/>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Presentation title</a:t>
            </a:r>
            <a:br>
              <a:rPr lang="en-US" sz="800" noProof="0">
                <a:solidFill>
                  <a:schemeClr val="bg1"/>
                </a:solidFill>
                <a:latin typeface="Calibri" panose="020F0502020204030204" pitchFamily="34" charset="0"/>
                <a:cs typeface="Calibri" panose="020F0502020204030204" pitchFamily="34" charset="0"/>
              </a:rPr>
            </a:br>
            <a:r>
              <a:rPr lang="en-US" sz="8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5" name="Copyright">
            <a:extLst>
              <a:ext uri="{FF2B5EF4-FFF2-40B4-BE49-F238E27FC236}">
                <a16:creationId xmlns:a16="http://schemas.microsoft.com/office/drawing/2014/main" id="{62398D06-C488-9DDB-E248-1C4BC1724227}"/>
              </a:ext>
            </a:extLst>
          </p:cNvPr>
          <p:cNvSpPr txBox="1"/>
          <p:nvPr userDrawn="1"/>
        </p:nvSpPr>
        <p:spPr>
          <a:xfrm>
            <a:off x="450000"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Member firms and DTTL: Insert appropriate copyright</a:t>
            </a:r>
            <a:br>
              <a:rPr lang="en-US" sz="800" noProof="0">
                <a:solidFill>
                  <a:schemeClr val="bg1"/>
                </a:solidFill>
                <a:latin typeface="Calibri" panose="020F0502020204030204" pitchFamily="34" charset="0"/>
                <a:cs typeface="Calibri" panose="020F0502020204030204" pitchFamily="34" charset="0"/>
              </a:rPr>
            </a:br>
            <a:r>
              <a:rPr lang="en-US" sz="8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6" name="TextBox 5">
            <a:extLst>
              <a:ext uri="{FF2B5EF4-FFF2-40B4-BE49-F238E27FC236}">
                <a16:creationId xmlns:a16="http://schemas.microsoft.com/office/drawing/2014/main" id="{ACCA4DFC-A5BD-1CA7-953A-4298BCF3311A}"/>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7547880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slide with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AA0174D-B09C-4960-94D1-79FD4D04BDFB}"/>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5" name="Text Placeholder 4">
            <a:extLst>
              <a:ext uri="{FF2B5EF4-FFF2-40B4-BE49-F238E27FC236}">
                <a16:creationId xmlns:a16="http://schemas.microsoft.com/office/drawing/2014/main" id="{E696C364-9ED6-42C4-8FC2-1F9C6CB1656D}"/>
              </a:ext>
            </a:extLst>
          </p:cNvPr>
          <p:cNvSpPr>
            <a:spLocks noGrp="1"/>
          </p:cNvSpPr>
          <p:nvPr>
            <p:ph type="body" sz="quarter" idx="12"/>
          </p:nvPr>
        </p:nvSpPr>
        <p:spPr>
          <a:xfrm>
            <a:off x="450000" y="366547"/>
            <a:ext cx="5465380" cy="484791"/>
          </a:xfrm>
        </p:spPr>
        <p:txBody>
          <a:bodyPr>
            <a:noAutofit/>
          </a:bodyPr>
          <a:lstStyle>
            <a:lvl1pPr>
              <a:defRPr sz="3200" b="1">
                <a:latin typeface="+mj-lt"/>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a:t>Click to edit Master text styles</a:t>
            </a:r>
          </a:p>
        </p:txBody>
      </p:sp>
      <p:sp>
        <p:nvSpPr>
          <p:cNvPr id="6" name="Text Placeholder 4">
            <a:extLst>
              <a:ext uri="{FF2B5EF4-FFF2-40B4-BE49-F238E27FC236}">
                <a16:creationId xmlns:a16="http://schemas.microsoft.com/office/drawing/2014/main" id="{AD421831-C244-4DE0-8DE2-755D7D7315B9}"/>
              </a:ext>
            </a:extLst>
          </p:cNvPr>
          <p:cNvSpPr>
            <a:spLocks noGrp="1"/>
          </p:cNvSpPr>
          <p:nvPr>
            <p:ph type="body" sz="quarter" idx="13"/>
          </p:nvPr>
        </p:nvSpPr>
        <p:spPr>
          <a:xfrm>
            <a:off x="450000" y="851339"/>
            <a:ext cx="5465380" cy="863162"/>
          </a:xfrm>
        </p:spPr>
        <p:txBody>
          <a:bodyPr>
            <a:noAutofit/>
          </a:bodyPr>
          <a:lstStyle>
            <a:lvl1pPr>
              <a:defRPr sz="3200" b="0">
                <a:latin typeface="+mj-lt"/>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a:t>Click to edit Master text styles</a:t>
            </a:r>
          </a:p>
        </p:txBody>
      </p:sp>
    </p:spTree>
    <p:extLst>
      <p:ext uri="{BB962C8B-B14F-4D97-AF65-F5344CB8AC3E}">
        <p14:creationId xmlns:p14="http://schemas.microsoft.com/office/powerpoint/2010/main" val="3912716216"/>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pic>
        <p:nvPicPr>
          <p:cNvPr id="2" name="Picture 1">
            <a:extLst>
              <a:ext uri="{FF2B5EF4-FFF2-40B4-BE49-F238E27FC236}">
                <a16:creationId xmlns:a16="http://schemas.microsoft.com/office/drawing/2014/main" id="{9C3B91C9-23AB-F291-75CA-40D221BE289F}"/>
              </a:ext>
            </a:extLst>
          </p:cNvPr>
          <p:cNvPicPr>
            <a:picLocks noChangeAspect="1"/>
          </p:cNvPicPr>
          <p:nvPr userDrawn="1"/>
        </p:nvPicPr>
        <p:blipFill rotWithShape="1">
          <a:blip r:embed="rId2"/>
          <a:srcRect t="58239" r="29841"/>
          <a:stretch/>
        </p:blipFill>
        <p:spPr>
          <a:xfrm>
            <a:off x="6846269" y="0"/>
            <a:ext cx="5345731" cy="2863974"/>
          </a:xfrm>
          <a:prstGeom prst="rect">
            <a:avLst/>
          </a:prstGeom>
        </p:spPr>
      </p:pic>
    </p:spTree>
    <p:extLst>
      <p:ext uri="{BB962C8B-B14F-4D97-AF65-F5344CB8AC3E}">
        <p14:creationId xmlns:p14="http://schemas.microsoft.com/office/powerpoint/2010/main" val="174023109"/>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userDrawn="1">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450000" y="684000"/>
            <a:ext cx="11304000"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defRPr>
            </a:lvl1pPr>
          </a:lstStyle>
          <a:p>
            <a:pPr lvl="0"/>
            <a:r>
              <a:rPr lang="en-US"/>
              <a:t>Click to add subtitle</a:t>
            </a:r>
          </a:p>
        </p:txBody>
      </p:sp>
      <p:sp>
        <p:nvSpPr>
          <p:cNvPr id="4" name="Title Placeholder 1">
            <a:extLst>
              <a:ext uri="{FF2B5EF4-FFF2-40B4-BE49-F238E27FC236}">
                <a16:creationId xmlns:a16="http://schemas.microsoft.com/office/drawing/2014/main" id="{2567164D-98D6-14DE-1654-8043100211A0}"/>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latin typeface="+mj-lt"/>
              </a:defRPr>
            </a:lvl1pPr>
          </a:lstStyle>
          <a:p>
            <a:r>
              <a:rPr lang="en-US"/>
              <a:t>Click to add title</a:t>
            </a:r>
          </a:p>
        </p:txBody>
      </p:sp>
    </p:spTree>
    <p:extLst>
      <p:ext uri="{BB962C8B-B14F-4D97-AF65-F5344CB8AC3E}">
        <p14:creationId xmlns:p14="http://schemas.microsoft.com/office/powerpoint/2010/main" val="390129510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ubtitle, 1 column ">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userDrawn="1">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ext Placeholder 8">
            <a:extLst>
              <a:ext uri="{FF2B5EF4-FFF2-40B4-BE49-F238E27FC236}">
                <a16:creationId xmlns:a16="http://schemas.microsoft.com/office/drawing/2014/main" id="{463DAA5C-077F-FE00-63CE-03BEF637C37E}"/>
              </a:ext>
            </a:extLst>
          </p:cNvPr>
          <p:cNvSpPr>
            <a:spLocks noGrp="1"/>
          </p:cNvSpPr>
          <p:nvPr>
            <p:ph type="body" sz="quarter" idx="13" hasCustomPrompt="1"/>
          </p:nvPr>
        </p:nvSpPr>
        <p:spPr>
          <a:xfrm>
            <a:off x="450000" y="684000"/>
            <a:ext cx="11304000"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defRPr>
            </a:lvl1pPr>
          </a:lstStyle>
          <a:p>
            <a:pPr lvl="0"/>
            <a:r>
              <a:rPr lang="en-US"/>
              <a:t>Click to add subtitle</a:t>
            </a:r>
          </a:p>
        </p:txBody>
      </p:sp>
      <p:sp>
        <p:nvSpPr>
          <p:cNvPr id="5" name="Title Placeholder 1">
            <a:extLst>
              <a:ext uri="{FF2B5EF4-FFF2-40B4-BE49-F238E27FC236}">
                <a16:creationId xmlns:a16="http://schemas.microsoft.com/office/drawing/2014/main" id="{06929E50-6BC7-6A16-7F97-75FA3937A2C8}"/>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latin typeface="+mj-lt"/>
              </a:defRPr>
            </a:lvl1pPr>
          </a:lstStyle>
          <a:p>
            <a:r>
              <a:rPr lang="en-US"/>
              <a:t>Click to add title</a:t>
            </a:r>
          </a:p>
        </p:txBody>
      </p:sp>
      <p:sp>
        <p:nvSpPr>
          <p:cNvPr id="6" name="Text Placeholder 18">
            <a:extLst>
              <a:ext uri="{FF2B5EF4-FFF2-40B4-BE49-F238E27FC236}">
                <a16:creationId xmlns:a16="http://schemas.microsoft.com/office/drawing/2014/main" id="{7A91D16B-BB64-A40E-E0AF-EBC7EE7F2F08}"/>
              </a:ext>
            </a:extLst>
          </p:cNvPr>
          <p:cNvSpPr>
            <a:spLocks noGrp="1"/>
          </p:cNvSpPr>
          <p:nvPr>
            <p:ph idx="1"/>
          </p:nvPr>
        </p:nvSpPr>
        <p:spPr>
          <a:xfrm>
            <a:off x="450000" y="1714499"/>
            <a:ext cx="11304000" cy="4644000"/>
          </a:xfrm>
          <a:prstGeom prst="rect">
            <a:avLst/>
          </a:prstGeom>
        </p:spPr>
        <p:txBody>
          <a:bodyPr vert="horz" lIns="0" tIns="0" rIns="0" bIns="0" rtlCol="0">
            <a:noAutofit/>
          </a:bodyPr>
          <a:lstStyle>
            <a:lvl1pPr>
              <a:spcBef>
                <a:spcPts val="200"/>
              </a:spcBef>
              <a:spcAft>
                <a:spcPts val="200"/>
              </a:spcAft>
              <a:defRPr/>
            </a:lvl1pPr>
            <a:lvl2pPr>
              <a:spcBef>
                <a:spcPts val="200"/>
              </a:spcBef>
              <a:spcAft>
                <a:spcPts val="200"/>
              </a:spcAft>
              <a:defRPr/>
            </a:lvl2pPr>
            <a:lvl3pPr>
              <a:spcBef>
                <a:spcPts val="200"/>
              </a:spcBef>
              <a:spcAft>
                <a:spcPts val="200"/>
              </a:spcAft>
              <a:defRPr/>
            </a:lvl3pPr>
            <a:lvl4pPr>
              <a:spcBef>
                <a:spcPts val="200"/>
              </a:spcBef>
              <a:spcAft>
                <a:spcPts val="200"/>
              </a:spcAft>
              <a:defRPr/>
            </a:lvl4pPr>
            <a:lvl5pPr>
              <a:spcBef>
                <a:spcPts val="200"/>
              </a:spcBef>
              <a:spcAft>
                <a:spcPts val="200"/>
              </a:spcAf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94334372"/>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ubtitle, 2 columns">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userDrawn="1">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p:nvPr>
        </p:nvSpPr>
        <p:spPr>
          <a:xfrm>
            <a:off x="450000" y="1712894"/>
            <a:ext cx="5508000" cy="4644000"/>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0363" indent="-179388" algn="l">
              <a:spcBef>
                <a:spcPts val="200"/>
              </a:spcBef>
              <a:spcAft>
                <a:spcPts val="200"/>
              </a:spcAft>
              <a:buClrTx/>
              <a:buSzPct val="100000"/>
              <a:buFont typeface="Arial" panose="020B0604020202020204" pitchFamily="34" charset="0"/>
              <a:buChar char="−"/>
              <a:tabLst>
                <a:tab pos="3771900" algn="r"/>
              </a:tabLst>
              <a:defRPr sz="1200"/>
            </a:lvl3pPr>
            <a:lvl4pPr marL="534988" indent="-174625" algn="l">
              <a:spcBef>
                <a:spcPts val="200"/>
              </a:spcBef>
              <a:spcAft>
                <a:spcPts val="200"/>
              </a:spcAft>
              <a:buClrTx/>
              <a:buSzPct val="100000"/>
              <a:buFont typeface="Arial" panose="020B0604020202020204" pitchFamily="34" charset="0"/>
              <a:buChar char="◦"/>
              <a:tabLst>
                <a:tab pos="3771900" algn="r"/>
              </a:tabLst>
              <a:defRPr sz="1200"/>
            </a:lvl4pPr>
            <a:lvl5pPr marL="715963"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246000" y="1712894"/>
            <a:ext cx="5508000" cy="4644000"/>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0363" indent="-179388" algn="l">
              <a:spcBef>
                <a:spcPts val="200"/>
              </a:spcBef>
              <a:spcAft>
                <a:spcPts val="200"/>
              </a:spcAft>
              <a:buClrTx/>
              <a:buSzPct val="100000"/>
              <a:buFont typeface="Arial" panose="020B0604020202020204" pitchFamily="34" charset="0"/>
              <a:buChar char="−"/>
              <a:tabLst>
                <a:tab pos="3771900" algn="r"/>
              </a:tabLst>
              <a:defRPr sz="1200"/>
            </a:lvl3pPr>
            <a:lvl4pPr marL="534988" indent="-174625" algn="l">
              <a:spcBef>
                <a:spcPts val="200"/>
              </a:spcBef>
              <a:spcAft>
                <a:spcPts val="200"/>
              </a:spcAft>
              <a:buClrTx/>
              <a:buSzPct val="100000"/>
              <a:buFont typeface="Arial" panose="020B0604020202020204" pitchFamily="34" charset="0"/>
              <a:buChar char="◦"/>
              <a:tabLst>
                <a:tab pos="3771900" algn="r"/>
              </a:tabLst>
              <a:defRPr sz="1200"/>
            </a:lvl4pPr>
            <a:lvl5pPr marL="715963"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ext Placeholder 8">
            <a:extLst>
              <a:ext uri="{FF2B5EF4-FFF2-40B4-BE49-F238E27FC236}">
                <a16:creationId xmlns:a16="http://schemas.microsoft.com/office/drawing/2014/main" id="{ADD490B8-B418-78D3-2E0B-461A61F706DD}"/>
              </a:ext>
            </a:extLst>
          </p:cNvPr>
          <p:cNvSpPr>
            <a:spLocks noGrp="1"/>
          </p:cNvSpPr>
          <p:nvPr>
            <p:ph type="body" sz="quarter" idx="13" hasCustomPrompt="1"/>
          </p:nvPr>
        </p:nvSpPr>
        <p:spPr>
          <a:xfrm>
            <a:off x="450000" y="684000"/>
            <a:ext cx="11304000"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defRPr>
            </a:lvl1pPr>
          </a:lstStyle>
          <a:p>
            <a:pPr lvl="0"/>
            <a:r>
              <a:rPr lang="en-US"/>
              <a:t>Click to add subtitle</a:t>
            </a:r>
          </a:p>
        </p:txBody>
      </p:sp>
      <p:sp>
        <p:nvSpPr>
          <p:cNvPr id="4" name="Title Placeholder 1">
            <a:extLst>
              <a:ext uri="{FF2B5EF4-FFF2-40B4-BE49-F238E27FC236}">
                <a16:creationId xmlns:a16="http://schemas.microsoft.com/office/drawing/2014/main" id="{8333EA7F-716E-CA3B-831D-4E6ADC7C2184}"/>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latin typeface="+mj-lt"/>
              </a:defRPr>
            </a:lvl1pPr>
          </a:lstStyle>
          <a:p>
            <a:r>
              <a:rPr lang="en-US"/>
              <a:t>Click to add title</a:t>
            </a:r>
          </a:p>
        </p:txBody>
      </p:sp>
    </p:spTree>
    <p:extLst>
      <p:ext uri="{BB962C8B-B14F-4D97-AF65-F5344CB8AC3E}">
        <p14:creationId xmlns:p14="http://schemas.microsoft.com/office/powerpoint/2010/main" val="4150400274"/>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3 column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userDrawn="1">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p:nvPr>
        </p:nvSpPr>
        <p:spPr>
          <a:xfrm>
            <a:off x="450000" y="1719072"/>
            <a:ext cx="3549904" cy="4644000"/>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0363" indent="-179388" algn="l">
              <a:spcBef>
                <a:spcPts val="200"/>
              </a:spcBef>
              <a:spcAft>
                <a:spcPts val="200"/>
              </a:spcAft>
              <a:buClrTx/>
              <a:buSzPct val="100000"/>
              <a:buFont typeface="Arial" panose="020B0604020202020204" pitchFamily="34" charset="0"/>
              <a:buChar char="−"/>
              <a:tabLst>
                <a:tab pos="3771900" algn="r"/>
              </a:tabLst>
              <a:defRPr sz="1200"/>
            </a:lvl3pPr>
            <a:lvl4pPr marL="534988" indent="-174625" algn="l">
              <a:spcBef>
                <a:spcPts val="200"/>
              </a:spcBef>
              <a:spcAft>
                <a:spcPts val="200"/>
              </a:spcAft>
              <a:buClrTx/>
              <a:buSzPct val="100000"/>
              <a:buFont typeface="Arial" panose="020B0604020202020204" pitchFamily="34" charset="0"/>
              <a:buChar char="◦"/>
              <a:tabLst>
                <a:tab pos="3771900" algn="r"/>
              </a:tabLst>
              <a:defRPr sz="1200"/>
            </a:lvl4pPr>
            <a:lvl5pPr marL="715963"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8">
            <a:extLst>
              <a:ext uri="{FF2B5EF4-FFF2-40B4-BE49-F238E27FC236}">
                <a16:creationId xmlns:a16="http://schemas.microsoft.com/office/drawing/2014/main" id="{8B191C74-910B-0CFC-9067-143443C4A272}"/>
              </a:ext>
            </a:extLst>
          </p:cNvPr>
          <p:cNvSpPr>
            <a:spLocks noGrp="1"/>
          </p:cNvSpPr>
          <p:nvPr>
            <p:ph type="body" sz="quarter" idx="13" hasCustomPrompt="1"/>
          </p:nvPr>
        </p:nvSpPr>
        <p:spPr>
          <a:xfrm>
            <a:off x="450000" y="684000"/>
            <a:ext cx="11304000"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defRPr>
            </a:lvl1pPr>
          </a:lstStyle>
          <a:p>
            <a:pPr lvl="0"/>
            <a:r>
              <a:rPr lang="en-US"/>
              <a:t>Click to add subtitle</a:t>
            </a:r>
          </a:p>
        </p:txBody>
      </p:sp>
      <p:sp>
        <p:nvSpPr>
          <p:cNvPr id="5" name="Title Placeholder 1">
            <a:extLst>
              <a:ext uri="{FF2B5EF4-FFF2-40B4-BE49-F238E27FC236}">
                <a16:creationId xmlns:a16="http://schemas.microsoft.com/office/drawing/2014/main" id="{9F0BB36C-DE52-CFD5-6483-3AF9FFFA109A}"/>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latin typeface="+mj-lt"/>
              </a:defRPr>
            </a:lvl1pPr>
          </a:lstStyle>
          <a:p>
            <a:r>
              <a:rPr lang="en-US"/>
              <a:t>Click to add title</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p:nvPr>
        </p:nvSpPr>
        <p:spPr>
          <a:xfrm>
            <a:off x="4327048" y="1719072"/>
            <a:ext cx="3549904" cy="4644000"/>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0363" indent="-179388" algn="l">
              <a:spcBef>
                <a:spcPts val="200"/>
              </a:spcBef>
              <a:spcAft>
                <a:spcPts val="200"/>
              </a:spcAft>
              <a:buClrTx/>
              <a:buSzPct val="100000"/>
              <a:buFont typeface="Arial" panose="020B0604020202020204" pitchFamily="34" charset="0"/>
              <a:buChar char="−"/>
              <a:tabLst>
                <a:tab pos="3771900" algn="r"/>
              </a:tabLst>
              <a:defRPr sz="1200"/>
            </a:lvl3pPr>
            <a:lvl4pPr marL="534988" indent="-174625" algn="l">
              <a:spcBef>
                <a:spcPts val="200"/>
              </a:spcBef>
              <a:spcAft>
                <a:spcPts val="200"/>
              </a:spcAft>
              <a:buClrTx/>
              <a:buSzPct val="100000"/>
              <a:buFont typeface="Arial" panose="020B0604020202020204" pitchFamily="34" charset="0"/>
              <a:buChar char="◦"/>
              <a:tabLst>
                <a:tab pos="3771900" algn="r"/>
              </a:tabLst>
              <a:defRPr sz="1200"/>
            </a:lvl4pPr>
            <a:lvl5pPr marL="715963"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p:nvPr>
        </p:nvSpPr>
        <p:spPr>
          <a:xfrm>
            <a:off x="8204096" y="1719072"/>
            <a:ext cx="3549904" cy="4644000"/>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0363" indent="-179388" algn="l">
              <a:spcBef>
                <a:spcPts val="200"/>
              </a:spcBef>
              <a:spcAft>
                <a:spcPts val="200"/>
              </a:spcAft>
              <a:buClrTx/>
              <a:buSzPct val="100000"/>
              <a:buFont typeface="Arial" panose="020B0604020202020204" pitchFamily="34" charset="0"/>
              <a:buChar char="−"/>
              <a:tabLst>
                <a:tab pos="3771900" algn="r"/>
              </a:tabLst>
              <a:defRPr sz="1200"/>
            </a:lvl3pPr>
            <a:lvl4pPr marL="534988" indent="-174625" algn="l">
              <a:spcBef>
                <a:spcPts val="200"/>
              </a:spcBef>
              <a:spcAft>
                <a:spcPts val="200"/>
              </a:spcAft>
              <a:buClrTx/>
              <a:buSzPct val="100000"/>
              <a:buFont typeface="Arial" panose="020B0604020202020204" pitchFamily="34" charset="0"/>
              <a:buChar char="◦"/>
              <a:tabLst>
                <a:tab pos="3771900" algn="r"/>
              </a:tabLst>
              <a:defRPr sz="1200"/>
            </a:lvl4pPr>
            <a:lvl5pPr marL="715963"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720787428"/>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ubtitle, 4 column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userDrawn="1">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p:nvPr>
        </p:nvSpPr>
        <p:spPr>
          <a:xfrm>
            <a:off x="450000" y="1714500"/>
            <a:ext cx="2685018" cy="4644000"/>
          </a:xfrm>
          <a:prstGeom prst="rect">
            <a:avLst/>
          </a:prstGeom>
        </p:spPr>
        <p:txBody>
          <a:bodyPr>
            <a:noAutofit/>
          </a:bodyPr>
          <a:lstStyle>
            <a:lvl1pPr marL="0" indent="0" algn="l">
              <a:spcBef>
                <a:spcPts val="200"/>
              </a:spcBef>
              <a:spcAft>
                <a:spcPts val="200"/>
              </a:spcAft>
              <a:buFontTx/>
              <a:buNone/>
              <a:tabLst>
                <a:tab pos="3771900" algn="r"/>
              </a:tabLst>
              <a:defRPr sz="1200">
                <a:latin typeface="+mn-lt"/>
              </a:defRPr>
            </a:lvl1pPr>
            <a:lvl2pPr marL="104775" indent="-104775" algn="l">
              <a:spcBef>
                <a:spcPts val="200"/>
              </a:spcBef>
              <a:spcAft>
                <a:spcPts val="200"/>
              </a:spcAft>
              <a:buClrTx/>
              <a:buSzPct val="100000"/>
              <a:buFont typeface="Arial" panose="020B0604020202020204" pitchFamily="34" charset="0"/>
              <a:buChar char="•"/>
              <a:tabLst>
                <a:tab pos="3771900" algn="r"/>
              </a:tabLst>
              <a:defRPr sz="1200">
                <a:latin typeface="+mj-lt"/>
              </a:defRPr>
            </a:lvl2pPr>
            <a:lvl3pPr marL="228600" indent="-104775" algn="l">
              <a:spcBef>
                <a:spcPts val="200"/>
              </a:spcBef>
              <a:spcAft>
                <a:spcPts val="200"/>
              </a:spcAft>
              <a:buClrTx/>
              <a:buSzPct val="100000"/>
              <a:buFont typeface="Arial" panose="020B0604020202020204" pitchFamily="34" charset="0"/>
              <a:buChar char="−"/>
              <a:tabLst>
                <a:tab pos="3771900" algn="r"/>
              </a:tabLst>
              <a:defRPr sz="1200">
                <a:latin typeface="+mn-lt"/>
              </a:defRPr>
            </a:lvl3pPr>
            <a:lvl4pPr marL="352425" indent="-104775" algn="l">
              <a:spcBef>
                <a:spcPts val="200"/>
              </a:spcBef>
              <a:spcAft>
                <a:spcPts val="200"/>
              </a:spcAft>
              <a:buClrTx/>
              <a:buSzPct val="100000"/>
              <a:buFont typeface="Arial" panose="020B0604020202020204" pitchFamily="34" charset="0"/>
              <a:buChar char="◦"/>
              <a:tabLst>
                <a:tab pos="3771900" algn="r"/>
              </a:tabLst>
              <a:defRPr sz="1200">
                <a:latin typeface="+mn-lt"/>
              </a:defRPr>
            </a:lvl4pPr>
            <a:lvl5pPr marL="476250" indent="-104775" algn="l">
              <a:spcBef>
                <a:spcPts val="200"/>
              </a:spcBef>
              <a:spcAft>
                <a:spcPts val="200"/>
              </a:spcAft>
              <a:buClrTx/>
              <a:buSzPct val="100000"/>
              <a:buFont typeface="Arial" panose="020B0604020202020204" pitchFamily="34" charset="0"/>
              <a:buChar char="−"/>
              <a:tabLst>
                <a:tab pos="3771900" algn="r"/>
              </a:tabLst>
              <a:defRPr sz="1200" baseline="0">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p:nvPr>
        </p:nvSpPr>
        <p:spPr>
          <a:xfrm>
            <a:off x="3322994" y="1714500"/>
            <a:ext cx="2685018" cy="4644000"/>
          </a:xfrm>
          <a:prstGeom prst="rect">
            <a:avLst/>
          </a:prstGeom>
        </p:spPr>
        <p:txBody>
          <a:bodyPr>
            <a:noAutofit/>
          </a:bodyPr>
          <a:lstStyle>
            <a:lvl1pPr marL="0" indent="0" algn="l">
              <a:spcBef>
                <a:spcPts val="200"/>
              </a:spcBef>
              <a:spcAft>
                <a:spcPts val="200"/>
              </a:spcAft>
              <a:buFontTx/>
              <a:buNone/>
              <a:tabLst>
                <a:tab pos="3771900" algn="r"/>
              </a:tabLst>
              <a:defRPr sz="1200">
                <a:latin typeface="+mn-lt"/>
              </a:defRPr>
            </a:lvl1pPr>
            <a:lvl2pPr marL="104775" indent="-104775" algn="l">
              <a:spcBef>
                <a:spcPts val="200"/>
              </a:spcBef>
              <a:spcAft>
                <a:spcPts val="200"/>
              </a:spcAft>
              <a:buClrTx/>
              <a:buSzPct val="100000"/>
              <a:buFont typeface="Arial" panose="020B0604020202020204" pitchFamily="34" charset="0"/>
              <a:buChar char="•"/>
              <a:tabLst>
                <a:tab pos="3771900" algn="r"/>
              </a:tabLst>
              <a:defRPr sz="1200">
                <a:latin typeface="+mj-lt"/>
              </a:defRPr>
            </a:lvl2pPr>
            <a:lvl3pPr marL="228600" indent="-104775" algn="l">
              <a:spcBef>
                <a:spcPts val="200"/>
              </a:spcBef>
              <a:spcAft>
                <a:spcPts val="200"/>
              </a:spcAft>
              <a:buClrTx/>
              <a:buSzPct val="100000"/>
              <a:buFont typeface="Arial" panose="020B0604020202020204" pitchFamily="34" charset="0"/>
              <a:buChar char="−"/>
              <a:tabLst>
                <a:tab pos="3771900" algn="r"/>
              </a:tabLst>
              <a:defRPr sz="1200">
                <a:latin typeface="+mn-lt"/>
              </a:defRPr>
            </a:lvl3pPr>
            <a:lvl4pPr marL="352425" indent="-104775" algn="l">
              <a:spcBef>
                <a:spcPts val="200"/>
              </a:spcBef>
              <a:spcAft>
                <a:spcPts val="200"/>
              </a:spcAft>
              <a:buClrTx/>
              <a:buSzPct val="100000"/>
              <a:buFont typeface="Arial" panose="020B0604020202020204" pitchFamily="34" charset="0"/>
              <a:buChar char="◦"/>
              <a:tabLst>
                <a:tab pos="3771900" algn="r"/>
              </a:tabLst>
              <a:defRPr sz="1200">
                <a:latin typeface="+mn-lt"/>
              </a:defRPr>
            </a:lvl4pPr>
            <a:lvl5pPr marL="476250" indent="-104775" algn="l">
              <a:spcBef>
                <a:spcPts val="200"/>
              </a:spcBef>
              <a:spcAft>
                <a:spcPts val="200"/>
              </a:spcAft>
              <a:buClrTx/>
              <a:buSzPct val="100000"/>
              <a:buFont typeface="Arial" panose="020B0604020202020204" pitchFamily="34" charset="0"/>
              <a:buChar char="−"/>
              <a:tabLst>
                <a:tab pos="3771900" algn="r"/>
              </a:tabLst>
              <a:defRPr sz="1200" baseline="0">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p:nvPr>
        </p:nvSpPr>
        <p:spPr>
          <a:xfrm>
            <a:off x="6195988" y="1714500"/>
            <a:ext cx="2685018" cy="4644000"/>
          </a:xfrm>
          <a:prstGeom prst="rect">
            <a:avLst/>
          </a:prstGeom>
        </p:spPr>
        <p:txBody>
          <a:bodyPr>
            <a:noAutofit/>
          </a:bodyPr>
          <a:lstStyle>
            <a:lvl1pPr marL="0" indent="0" algn="l">
              <a:spcBef>
                <a:spcPts val="200"/>
              </a:spcBef>
              <a:spcAft>
                <a:spcPts val="200"/>
              </a:spcAft>
              <a:buFontTx/>
              <a:buNone/>
              <a:tabLst>
                <a:tab pos="3771900" algn="r"/>
              </a:tabLst>
              <a:defRPr sz="1200">
                <a:latin typeface="+mn-lt"/>
              </a:defRPr>
            </a:lvl1pPr>
            <a:lvl2pPr marL="104775" indent="-104775" algn="l">
              <a:spcBef>
                <a:spcPts val="200"/>
              </a:spcBef>
              <a:spcAft>
                <a:spcPts val="200"/>
              </a:spcAft>
              <a:buClrTx/>
              <a:buSzPct val="100000"/>
              <a:buFont typeface="Arial" panose="020B0604020202020204" pitchFamily="34" charset="0"/>
              <a:buChar char="•"/>
              <a:tabLst>
                <a:tab pos="3771900" algn="r"/>
              </a:tabLst>
              <a:defRPr sz="1200">
                <a:latin typeface="+mj-lt"/>
              </a:defRPr>
            </a:lvl2pPr>
            <a:lvl3pPr marL="228600" indent="-104775" algn="l">
              <a:spcBef>
                <a:spcPts val="200"/>
              </a:spcBef>
              <a:spcAft>
                <a:spcPts val="200"/>
              </a:spcAft>
              <a:buClrTx/>
              <a:buSzPct val="100000"/>
              <a:buFont typeface="Arial" panose="020B0604020202020204" pitchFamily="34" charset="0"/>
              <a:buChar char="−"/>
              <a:tabLst>
                <a:tab pos="3771900" algn="r"/>
              </a:tabLst>
              <a:defRPr sz="1200">
                <a:latin typeface="+mn-lt"/>
              </a:defRPr>
            </a:lvl3pPr>
            <a:lvl4pPr marL="352425" indent="-104775" algn="l">
              <a:spcBef>
                <a:spcPts val="200"/>
              </a:spcBef>
              <a:spcAft>
                <a:spcPts val="200"/>
              </a:spcAft>
              <a:buClrTx/>
              <a:buSzPct val="100000"/>
              <a:buFont typeface="Arial" panose="020B0604020202020204" pitchFamily="34" charset="0"/>
              <a:buChar char="◦"/>
              <a:tabLst>
                <a:tab pos="3771900" algn="r"/>
              </a:tabLst>
              <a:defRPr sz="1200">
                <a:latin typeface="+mn-lt"/>
              </a:defRPr>
            </a:lvl4pPr>
            <a:lvl5pPr marL="476250" indent="-104775" algn="l">
              <a:spcBef>
                <a:spcPts val="200"/>
              </a:spcBef>
              <a:spcAft>
                <a:spcPts val="200"/>
              </a:spcAft>
              <a:buClrTx/>
              <a:buSzPct val="100000"/>
              <a:buFont typeface="Arial" panose="020B0604020202020204" pitchFamily="34" charset="0"/>
              <a:buChar char="−"/>
              <a:tabLst>
                <a:tab pos="3771900" algn="r"/>
              </a:tabLst>
              <a:defRPr sz="1200" baseline="0">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p:nvPr>
        </p:nvSpPr>
        <p:spPr>
          <a:xfrm>
            <a:off x="9068982" y="1714500"/>
            <a:ext cx="2685018" cy="4644000"/>
          </a:xfrm>
          <a:prstGeom prst="rect">
            <a:avLst/>
          </a:prstGeom>
        </p:spPr>
        <p:txBody>
          <a:bodyPr>
            <a:noAutofit/>
          </a:bodyPr>
          <a:lstStyle>
            <a:lvl1pPr marL="0" indent="0" algn="l">
              <a:spcBef>
                <a:spcPts val="200"/>
              </a:spcBef>
              <a:spcAft>
                <a:spcPts val="200"/>
              </a:spcAft>
              <a:buFontTx/>
              <a:buNone/>
              <a:tabLst>
                <a:tab pos="3771900" algn="r"/>
              </a:tabLst>
              <a:defRPr sz="1200">
                <a:latin typeface="+mn-lt"/>
              </a:defRPr>
            </a:lvl1pPr>
            <a:lvl2pPr marL="104775" indent="-104775" algn="l">
              <a:spcBef>
                <a:spcPts val="200"/>
              </a:spcBef>
              <a:spcAft>
                <a:spcPts val="200"/>
              </a:spcAft>
              <a:buClrTx/>
              <a:buSzPct val="100000"/>
              <a:buFont typeface="Arial" panose="020B0604020202020204" pitchFamily="34" charset="0"/>
              <a:buChar char="•"/>
              <a:tabLst>
                <a:tab pos="3771900" algn="r"/>
              </a:tabLst>
              <a:defRPr sz="1200">
                <a:latin typeface="+mj-lt"/>
              </a:defRPr>
            </a:lvl2pPr>
            <a:lvl3pPr marL="228600" indent="-104775" algn="l">
              <a:spcBef>
                <a:spcPts val="200"/>
              </a:spcBef>
              <a:spcAft>
                <a:spcPts val="200"/>
              </a:spcAft>
              <a:buClrTx/>
              <a:buSzPct val="100000"/>
              <a:buFont typeface="Arial" panose="020B0604020202020204" pitchFamily="34" charset="0"/>
              <a:buChar char="−"/>
              <a:tabLst>
                <a:tab pos="3771900" algn="r"/>
              </a:tabLst>
              <a:defRPr sz="1200">
                <a:latin typeface="+mn-lt"/>
              </a:defRPr>
            </a:lvl3pPr>
            <a:lvl4pPr marL="352425" indent="-104775" algn="l">
              <a:spcBef>
                <a:spcPts val="200"/>
              </a:spcBef>
              <a:spcAft>
                <a:spcPts val="200"/>
              </a:spcAft>
              <a:buClrTx/>
              <a:buSzPct val="100000"/>
              <a:buFont typeface="Arial" panose="020B0604020202020204" pitchFamily="34" charset="0"/>
              <a:buChar char="◦"/>
              <a:tabLst>
                <a:tab pos="3771900" algn="r"/>
              </a:tabLst>
              <a:defRPr sz="1200">
                <a:latin typeface="+mn-lt"/>
              </a:defRPr>
            </a:lvl4pPr>
            <a:lvl5pPr marL="476250" indent="-104775" algn="l">
              <a:spcBef>
                <a:spcPts val="200"/>
              </a:spcBef>
              <a:spcAft>
                <a:spcPts val="200"/>
              </a:spcAft>
              <a:buClrTx/>
              <a:buSzPct val="100000"/>
              <a:buFont typeface="Arial" panose="020B0604020202020204" pitchFamily="34" charset="0"/>
              <a:buChar char="−"/>
              <a:tabLst>
                <a:tab pos="3771900" algn="r"/>
              </a:tabLst>
              <a:defRPr sz="1200" baseline="0">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ext Placeholder 8">
            <a:extLst>
              <a:ext uri="{FF2B5EF4-FFF2-40B4-BE49-F238E27FC236}">
                <a16:creationId xmlns:a16="http://schemas.microsoft.com/office/drawing/2014/main" id="{FB60B513-6C68-425A-86AC-3FC42F4B2B1D}"/>
              </a:ext>
            </a:extLst>
          </p:cNvPr>
          <p:cNvSpPr>
            <a:spLocks noGrp="1"/>
          </p:cNvSpPr>
          <p:nvPr>
            <p:ph type="body" sz="quarter" idx="13" hasCustomPrompt="1"/>
          </p:nvPr>
        </p:nvSpPr>
        <p:spPr>
          <a:xfrm>
            <a:off x="450000" y="684000"/>
            <a:ext cx="11304000"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defRPr>
            </a:lvl1pPr>
          </a:lstStyle>
          <a:p>
            <a:pPr lvl="0"/>
            <a:r>
              <a:rPr lang="en-US"/>
              <a:t>Click to add subtitle</a:t>
            </a:r>
          </a:p>
        </p:txBody>
      </p:sp>
      <p:sp>
        <p:nvSpPr>
          <p:cNvPr id="8" name="Title Placeholder 1">
            <a:extLst>
              <a:ext uri="{FF2B5EF4-FFF2-40B4-BE49-F238E27FC236}">
                <a16:creationId xmlns:a16="http://schemas.microsoft.com/office/drawing/2014/main" id="{D9257AFC-2713-6B3B-F635-37B6D88CC30D}"/>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latin typeface="+mj-lt"/>
              </a:defRPr>
            </a:lvl1pPr>
          </a:lstStyle>
          <a:p>
            <a:r>
              <a:rPr lang="en-US"/>
              <a:t>Click to add title</a:t>
            </a:r>
          </a:p>
        </p:txBody>
      </p:sp>
    </p:spTree>
    <p:extLst>
      <p:ext uri="{BB962C8B-B14F-4D97-AF65-F5344CB8AC3E}">
        <p14:creationId xmlns:p14="http://schemas.microsoft.com/office/powerpoint/2010/main" val="40600257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am profile ">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userDrawn="1">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0000"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56583"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0000"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p:nvPr>
        </p:nvSpPr>
        <p:spPr>
          <a:xfrm>
            <a:off x="2104052" y="1880213"/>
            <a:ext cx="3846100" cy="1944000"/>
          </a:xfrm>
        </p:spPr>
        <p:txBody>
          <a:bodyPr/>
          <a:lstStyle>
            <a:lvl1pPr>
              <a:spcBef>
                <a:spcPts val="200"/>
              </a:spcBef>
              <a:spcAft>
                <a:spcPts val="200"/>
              </a:spcAft>
              <a:defRPr sz="1200" b="1"/>
            </a:lvl1pPr>
            <a:lvl2pPr>
              <a:spcBef>
                <a:spcPts val="200"/>
              </a:spcBef>
              <a:spcAft>
                <a:spcPts val="200"/>
              </a:spcAft>
              <a:defRPr sz="1200" b="0"/>
            </a:lvl2pPr>
          </a:lstStyle>
          <a:p>
            <a:pPr lvl="0"/>
            <a:r>
              <a:rPr lang="en-US"/>
              <a:t>Click to edit Master text styles</a:t>
            </a:r>
          </a:p>
          <a:p>
            <a:pPr lvl="1"/>
            <a:r>
              <a:rPr lang="en-US"/>
              <a:t>Second level</a:t>
            </a: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p:nvPr>
        </p:nvSpPr>
        <p:spPr>
          <a:xfrm>
            <a:off x="7907900" y="1880213"/>
            <a:ext cx="3846100" cy="1944000"/>
          </a:xfrm>
        </p:spPr>
        <p:txBody>
          <a:bodyPr/>
          <a:lstStyle>
            <a:lvl1pPr>
              <a:spcBef>
                <a:spcPts val="200"/>
              </a:spcBef>
              <a:spcAft>
                <a:spcPts val="200"/>
              </a:spcAft>
              <a:defRPr sz="1200" b="1"/>
            </a:lvl1pPr>
            <a:lvl2pPr>
              <a:spcBef>
                <a:spcPts val="200"/>
              </a:spcBef>
              <a:spcAft>
                <a:spcPts val="200"/>
              </a:spcAft>
              <a:defRPr sz="1200" b="0"/>
            </a:lvl2pPr>
          </a:lstStyle>
          <a:p>
            <a:pPr lvl="0"/>
            <a:r>
              <a:rPr lang="en-US"/>
              <a:t>Click to edit Master text styles</a:t>
            </a:r>
          </a:p>
          <a:p>
            <a:pPr lvl="1"/>
            <a:r>
              <a:rPr lang="en-US"/>
              <a:t>Second level</a:t>
            </a: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p:nvPr>
        </p:nvSpPr>
        <p:spPr>
          <a:xfrm>
            <a:off x="2104051" y="4256213"/>
            <a:ext cx="3824765" cy="1944000"/>
          </a:xfrm>
        </p:spPr>
        <p:txBody>
          <a:bodyPr/>
          <a:lstStyle>
            <a:lvl1pPr>
              <a:spcBef>
                <a:spcPts val="200"/>
              </a:spcBef>
              <a:spcAft>
                <a:spcPts val="200"/>
              </a:spcAft>
              <a:defRPr sz="1200" b="1"/>
            </a:lvl1pPr>
            <a:lvl2pPr>
              <a:spcBef>
                <a:spcPts val="200"/>
              </a:spcBef>
              <a:spcAft>
                <a:spcPts val="200"/>
              </a:spcAft>
              <a:defRPr sz="1200" b="0"/>
            </a:lvl2pPr>
          </a:lstStyle>
          <a:p>
            <a:pPr lvl="0"/>
            <a:r>
              <a:rPr lang="en-US"/>
              <a:t>Click to edit Master text styles</a:t>
            </a:r>
          </a:p>
          <a:p>
            <a:pPr lvl="1"/>
            <a:r>
              <a:rPr lang="en-US"/>
              <a:t>Second level</a:t>
            </a: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p:nvPr>
        </p:nvSpPr>
        <p:spPr>
          <a:xfrm>
            <a:off x="7905645" y="4256213"/>
            <a:ext cx="3848355" cy="1944000"/>
          </a:xfrm>
        </p:spPr>
        <p:txBody>
          <a:bodyPr/>
          <a:lstStyle>
            <a:lvl1pPr>
              <a:spcBef>
                <a:spcPts val="200"/>
              </a:spcBef>
              <a:spcAft>
                <a:spcPts val="200"/>
              </a:spcAft>
              <a:defRPr sz="1200" b="1"/>
            </a:lvl1pPr>
            <a:lvl2pPr>
              <a:spcBef>
                <a:spcPts val="200"/>
              </a:spcBef>
              <a:spcAft>
                <a:spcPts val="200"/>
              </a:spcAft>
              <a:defRPr sz="1200" b="0"/>
            </a:lvl2pPr>
          </a:lstStyle>
          <a:p>
            <a:pPr lvl="0"/>
            <a:r>
              <a:rPr lang="en-US"/>
              <a:t>Click to edit Master text styles</a:t>
            </a:r>
          </a:p>
          <a:p>
            <a:pPr lvl="1"/>
            <a:r>
              <a:rPr lang="en-US"/>
              <a:t>Second level</a:t>
            </a:r>
          </a:p>
        </p:txBody>
      </p:sp>
      <p:sp>
        <p:nvSpPr>
          <p:cNvPr id="10" name="Rectangle 9">
            <a:extLst>
              <a:ext uri="{FF2B5EF4-FFF2-40B4-BE49-F238E27FC236}">
                <a16:creationId xmlns:a16="http://schemas.microsoft.com/office/drawing/2014/main" id="{8B1455C2-E21F-06D2-DADD-7FD7A0C6A036}"/>
              </a:ext>
            </a:extLst>
          </p:cNvPr>
          <p:cNvSpPr/>
          <p:nvPr userDrawn="1"/>
        </p:nvSpPr>
        <p:spPr>
          <a:xfrm>
            <a:off x="6256583" y="1677307"/>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userDrawn="1"/>
        </p:nvSpPr>
        <p:spPr>
          <a:xfrm>
            <a:off x="450000" y="1677307"/>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userDrawn="1"/>
        </p:nvSpPr>
        <p:spPr>
          <a:xfrm>
            <a:off x="6256583" y="4044901"/>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userDrawn="1"/>
        </p:nvSpPr>
        <p:spPr>
          <a:xfrm>
            <a:off x="450000" y="4044901"/>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4" name="Text Placeholder 8">
            <a:extLst>
              <a:ext uri="{FF2B5EF4-FFF2-40B4-BE49-F238E27FC236}">
                <a16:creationId xmlns:a16="http://schemas.microsoft.com/office/drawing/2014/main" id="{67D2A86E-3485-4064-F11B-592641772D4F}"/>
              </a:ext>
            </a:extLst>
          </p:cNvPr>
          <p:cNvSpPr>
            <a:spLocks noGrp="1"/>
          </p:cNvSpPr>
          <p:nvPr>
            <p:ph type="body" sz="quarter" idx="13" hasCustomPrompt="1"/>
          </p:nvPr>
        </p:nvSpPr>
        <p:spPr>
          <a:xfrm>
            <a:off x="450000" y="684000"/>
            <a:ext cx="11304000"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defRPr>
            </a:lvl1pPr>
          </a:lstStyle>
          <a:p>
            <a:pPr lvl="0"/>
            <a:r>
              <a:rPr lang="en-US"/>
              <a:t>Click to add subtitle</a:t>
            </a:r>
          </a:p>
        </p:txBody>
      </p:sp>
      <p:sp>
        <p:nvSpPr>
          <p:cNvPr id="15" name="Title Placeholder 1">
            <a:extLst>
              <a:ext uri="{FF2B5EF4-FFF2-40B4-BE49-F238E27FC236}">
                <a16:creationId xmlns:a16="http://schemas.microsoft.com/office/drawing/2014/main" id="{E96810A4-9AE7-5408-F486-24386EEDA4CD}"/>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latin typeface="+mj-lt"/>
              </a:defRPr>
            </a:lvl1pPr>
          </a:lstStyle>
          <a:p>
            <a:r>
              <a:rPr lang="en-US"/>
              <a:t>Click to add title</a:t>
            </a:r>
          </a:p>
        </p:txBody>
      </p:sp>
    </p:spTree>
    <p:extLst>
      <p:ext uri="{BB962C8B-B14F-4D97-AF65-F5344CB8AC3E}">
        <p14:creationId xmlns:p14="http://schemas.microsoft.com/office/powerpoint/2010/main" val="2437147498"/>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userDrawn="1">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userDrawn="1"/>
        </p:nvSpPr>
        <p:spPr>
          <a:xfrm>
            <a:off x="6256583" y="1677307"/>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userDrawn="1"/>
        </p:nvSpPr>
        <p:spPr>
          <a:xfrm>
            <a:off x="450000" y="1677307"/>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80531"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68918"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2" name="Text Placeholder 8">
            <a:extLst>
              <a:ext uri="{FF2B5EF4-FFF2-40B4-BE49-F238E27FC236}">
                <a16:creationId xmlns:a16="http://schemas.microsoft.com/office/drawing/2014/main" id="{F362A436-16E9-8D92-CE75-CF090274A98C}"/>
              </a:ext>
            </a:extLst>
          </p:cNvPr>
          <p:cNvSpPr>
            <a:spLocks noGrp="1"/>
          </p:cNvSpPr>
          <p:nvPr>
            <p:ph type="body" sz="quarter" idx="13" hasCustomPrompt="1"/>
          </p:nvPr>
        </p:nvSpPr>
        <p:spPr>
          <a:xfrm>
            <a:off x="450000" y="684000"/>
            <a:ext cx="11304000"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defRPr>
            </a:lvl1pPr>
          </a:lstStyle>
          <a:p>
            <a:pPr lvl="0"/>
            <a:r>
              <a:rPr lang="en-US"/>
              <a:t>Click to add subtitle</a:t>
            </a:r>
          </a:p>
        </p:txBody>
      </p:sp>
      <p:sp>
        <p:nvSpPr>
          <p:cNvPr id="3" name="Title Placeholder 1">
            <a:extLst>
              <a:ext uri="{FF2B5EF4-FFF2-40B4-BE49-F238E27FC236}">
                <a16:creationId xmlns:a16="http://schemas.microsoft.com/office/drawing/2014/main" id="{1CE7ED7B-D3F7-0C2D-3D7F-23B03A315CFC}"/>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latin typeface="+mj-lt"/>
              </a:defRPr>
            </a:lvl1pPr>
          </a:lstStyle>
          <a:p>
            <a:r>
              <a:rPr lang="en-US"/>
              <a:t>Click to add title</a:t>
            </a:r>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p:nvPr>
        </p:nvSpPr>
        <p:spPr>
          <a:xfrm>
            <a:off x="449999" y="3498336"/>
            <a:ext cx="5506532" cy="1944000"/>
          </a:xfrm>
        </p:spPr>
        <p:txBody>
          <a:bodyPr/>
          <a:lstStyle>
            <a:lvl1pPr>
              <a:spcBef>
                <a:spcPts val="200"/>
              </a:spcBef>
              <a:spcAft>
                <a:spcPts val="200"/>
              </a:spcAft>
              <a:defRPr sz="1200" b="0"/>
            </a:lvl1pPr>
            <a:lvl2pPr>
              <a:spcBef>
                <a:spcPts val="200"/>
              </a:spcBef>
              <a:spcAft>
                <a:spcPts val="200"/>
              </a:spcAft>
              <a:defRPr sz="1200" b="0"/>
            </a:lvl2pPr>
          </a:lstStyle>
          <a:p>
            <a:pPr lvl="0"/>
            <a:r>
              <a:rPr lang="en-US"/>
              <a:t>Click to edit Master text styles</a:t>
            </a:r>
          </a:p>
          <a:p>
            <a:pPr lvl="1"/>
            <a:r>
              <a:rPr lang="en-US"/>
              <a:t>Second level</a:t>
            </a: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p:nvPr>
        </p:nvSpPr>
        <p:spPr>
          <a:xfrm>
            <a:off x="6247468" y="3498336"/>
            <a:ext cx="5506532" cy="1944000"/>
          </a:xfrm>
        </p:spPr>
        <p:txBody>
          <a:bodyPr/>
          <a:lstStyle>
            <a:lvl1pPr>
              <a:spcBef>
                <a:spcPts val="200"/>
              </a:spcBef>
              <a:spcAft>
                <a:spcPts val="200"/>
              </a:spcAft>
              <a:defRPr sz="1200" b="0"/>
            </a:lvl1pPr>
            <a:lvl2pPr>
              <a:spcBef>
                <a:spcPts val="200"/>
              </a:spcBef>
              <a:spcAft>
                <a:spcPts val="200"/>
              </a:spcAft>
              <a:defRPr sz="1200" b="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350950983"/>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450000" y="4189870"/>
            <a:ext cx="8566108" cy="2169796"/>
          </a:xfrm>
        </p:spPr>
        <p:txBody>
          <a:bodyPr anchor="b" anchorCtr="0">
            <a:normAutofit/>
          </a:bodyPr>
          <a:lstStyle>
            <a:lvl1pPr>
              <a:lnSpc>
                <a:spcPct val="100000"/>
              </a:lnSpc>
              <a:spcBef>
                <a:spcPts val="200"/>
              </a:spcBef>
              <a:spcAft>
                <a:spcPts val="200"/>
              </a:spcAft>
              <a:defRPr sz="800" b="0"/>
            </a:lvl1pPr>
          </a:lstStyle>
          <a:p>
            <a:pPr lvl="0"/>
            <a:r>
              <a:rPr lang="en-US"/>
              <a:t>Click to edit Master text styles</a:t>
            </a:r>
          </a:p>
        </p:txBody>
      </p:sp>
      <p:sp>
        <p:nvSpPr>
          <p:cNvPr id="3" name="Picture Placeholder 2"/>
          <p:cNvSpPr>
            <a:spLocks noGrp="1"/>
          </p:cNvSpPr>
          <p:nvPr>
            <p:ph type="pic" sz="quarter" idx="14" hasCustomPrompt="1"/>
          </p:nvPr>
        </p:nvSpPr>
        <p:spPr>
          <a:xfrm>
            <a:off x="9434497" y="4189870"/>
            <a:ext cx="2319503" cy="1725448"/>
          </a:xfrm>
        </p:spPr>
        <p:txBody>
          <a:bodyPr anchor="ctr" anchorCtr="0">
            <a:normAutofit/>
          </a:bodyPr>
          <a:lstStyle>
            <a:lvl1pPr algn="ctr">
              <a:spcBef>
                <a:spcPts val="200"/>
              </a:spcBef>
              <a:spcAft>
                <a:spcPts val="200"/>
              </a:spcAft>
              <a:defRPr sz="600" b="0"/>
            </a:lvl1pPr>
          </a:lstStyle>
          <a:p>
            <a:r>
              <a:rPr lang="en-GB" sz="675"/>
              <a:t>Insert sponsorship mark here</a:t>
            </a:r>
            <a:endParaRPr lang="en-GB"/>
          </a:p>
        </p:txBody>
      </p:sp>
      <p:sp>
        <p:nvSpPr>
          <p:cNvPr id="8" name="Text Placeholder 7"/>
          <p:cNvSpPr>
            <a:spLocks noGrp="1"/>
          </p:cNvSpPr>
          <p:nvPr>
            <p:ph type="body" sz="quarter" idx="15"/>
          </p:nvPr>
        </p:nvSpPr>
        <p:spPr>
          <a:xfrm>
            <a:off x="9434499" y="5995943"/>
            <a:ext cx="2319501" cy="363722"/>
          </a:xfrm>
        </p:spPr>
        <p:txBody>
          <a:bodyPr anchor="b" anchorCtr="0">
            <a:normAutofit/>
          </a:bodyPr>
          <a:lstStyle>
            <a:lvl1pPr>
              <a:lnSpc>
                <a:spcPct val="100000"/>
              </a:lnSpc>
              <a:spcBef>
                <a:spcPts val="200"/>
              </a:spcBef>
              <a:spcAft>
                <a:spcPts val="200"/>
              </a:spcAft>
              <a:defRPr sz="600" b="0"/>
            </a:lvl1pPr>
          </a:lstStyle>
          <a:p>
            <a:pPr lvl="0"/>
            <a:r>
              <a:rPr lang="en-US"/>
              <a:t>Click to edit Master text styles</a:t>
            </a:r>
          </a:p>
        </p:txBody>
      </p:sp>
      <p:grpSp>
        <p:nvGrpSpPr>
          <p:cNvPr id="20" name="Group 19">
            <a:extLst>
              <a:ext uri="{FF2B5EF4-FFF2-40B4-BE49-F238E27FC236}">
                <a16:creationId xmlns:a16="http://schemas.microsoft.com/office/drawing/2014/main" id="{11FFF62A-78AC-4176-888C-7369D55740C5}"/>
              </a:ext>
            </a:extLst>
          </p:cNvPr>
          <p:cNvGrpSpPr>
            <a:grpSpLocks noChangeAspect="1"/>
          </p:cNvGrpSpPr>
          <p:nvPr userDrawn="1"/>
        </p:nvGrpSpPr>
        <p:grpSpPr>
          <a:xfrm>
            <a:off x="450000" y="344137"/>
            <a:ext cx="1819109" cy="345828"/>
            <a:chOff x="398463" y="404813"/>
            <a:chExt cx="1627187" cy="307976"/>
          </a:xfrm>
          <a:solidFill>
            <a:schemeClr val="tx1"/>
          </a:solidFill>
        </p:grpSpPr>
        <p:sp>
          <p:nvSpPr>
            <p:cNvPr id="21" name="Oval 5">
              <a:extLst>
                <a:ext uri="{FF2B5EF4-FFF2-40B4-BE49-F238E27FC236}">
                  <a16:creationId xmlns:a16="http://schemas.microsoft.com/office/drawing/2014/main" id="{FD77EF0A-6F9B-4CB4-BDFE-54901AC3BDEB}"/>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2" name="Freeform 6">
              <a:extLst>
                <a:ext uri="{FF2B5EF4-FFF2-40B4-BE49-F238E27FC236}">
                  <a16:creationId xmlns:a16="http://schemas.microsoft.com/office/drawing/2014/main" id="{CFBCB662-4DCB-4701-B5DB-617E9625AC3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3" name="Rectangle 7">
              <a:extLst>
                <a:ext uri="{FF2B5EF4-FFF2-40B4-BE49-F238E27FC236}">
                  <a16:creationId xmlns:a16="http://schemas.microsoft.com/office/drawing/2014/main" id="{3AA8F7EF-0FC0-4792-B4E2-516188FAADCC}"/>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4" name="Freeform 8">
              <a:extLst>
                <a:ext uri="{FF2B5EF4-FFF2-40B4-BE49-F238E27FC236}">
                  <a16:creationId xmlns:a16="http://schemas.microsoft.com/office/drawing/2014/main" id="{7180810E-179A-4B4D-992C-DB02F3F2AA73}"/>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5" name="Rectangle 9">
              <a:extLst>
                <a:ext uri="{FF2B5EF4-FFF2-40B4-BE49-F238E27FC236}">
                  <a16:creationId xmlns:a16="http://schemas.microsoft.com/office/drawing/2014/main" id="{931CFAC2-92E1-42CB-BB66-BD91AB6DB50D}"/>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6" name="Rectangle 10">
              <a:extLst>
                <a:ext uri="{FF2B5EF4-FFF2-40B4-BE49-F238E27FC236}">
                  <a16:creationId xmlns:a16="http://schemas.microsoft.com/office/drawing/2014/main" id="{6C92D323-CA87-4BD4-9F33-9346A18A6790}"/>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7" name="Freeform 11">
              <a:extLst>
                <a:ext uri="{FF2B5EF4-FFF2-40B4-BE49-F238E27FC236}">
                  <a16:creationId xmlns:a16="http://schemas.microsoft.com/office/drawing/2014/main" id="{D31146A3-7248-4F9C-8242-2B343E0BCE41}"/>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8" name="Freeform 12">
              <a:extLst>
                <a:ext uri="{FF2B5EF4-FFF2-40B4-BE49-F238E27FC236}">
                  <a16:creationId xmlns:a16="http://schemas.microsoft.com/office/drawing/2014/main" id="{4BFA0610-A333-4B16-A20C-3ADB78A32CF9}"/>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13">
              <a:extLst>
                <a:ext uri="{FF2B5EF4-FFF2-40B4-BE49-F238E27FC236}">
                  <a16:creationId xmlns:a16="http://schemas.microsoft.com/office/drawing/2014/main" id="{D81528E3-7AAB-4FE3-96EB-0CA354538CA9}"/>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0" name="Freeform 14">
              <a:extLst>
                <a:ext uri="{FF2B5EF4-FFF2-40B4-BE49-F238E27FC236}">
                  <a16:creationId xmlns:a16="http://schemas.microsoft.com/office/drawing/2014/main" id="{7C686C02-5833-4DB0-8AD3-1E143B411A13}"/>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Tree>
    <p:extLst>
      <p:ext uri="{BB962C8B-B14F-4D97-AF65-F5344CB8AC3E}">
        <p14:creationId xmlns:p14="http://schemas.microsoft.com/office/powerpoint/2010/main" val="17859843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slide with image - Black">
    <p:bg>
      <p:bgRef idx="1001">
        <a:schemeClr val="bg1"/>
      </p:bgRef>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AA0174D-B09C-4960-94D1-79FD4D04BDFB}"/>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5" name="Text Placeholder 4">
            <a:extLst>
              <a:ext uri="{FF2B5EF4-FFF2-40B4-BE49-F238E27FC236}">
                <a16:creationId xmlns:a16="http://schemas.microsoft.com/office/drawing/2014/main" id="{E696C364-9ED6-42C4-8FC2-1F9C6CB1656D}"/>
              </a:ext>
            </a:extLst>
          </p:cNvPr>
          <p:cNvSpPr>
            <a:spLocks noGrp="1"/>
          </p:cNvSpPr>
          <p:nvPr>
            <p:ph type="body" sz="quarter" idx="12"/>
          </p:nvPr>
        </p:nvSpPr>
        <p:spPr>
          <a:xfrm>
            <a:off x="450000" y="366547"/>
            <a:ext cx="5465380" cy="484791"/>
          </a:xfrm>
        </p:spPr>
        <p:txBody>
          <a:bodyPr>
            <a:noAutofit/>
          </a:bodyPr>
          <a:lstStyle>
            <a:lvl1pPr>
              <a:defRPr sz="3200" b="1">
                <a:latin typeface="+mj-lt"/>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a:t>Click to edit Master text styles</a:t>
            </a:r>
          </a:p>
        </p:txBody>
      </p:sp>
      <p:sp>
        <p:nvSpPr>
          <p:cNvPr id="6" name="Text Placeholder 4">
            <a:extLst>
              <a:ext uri="{FF2B5EF4-FFF2-40B4-BE49-F238E27FC236}">
                <a16:creationId xmlns:a16="http://schemas.microsoft.com/office/drawing/2014/main" id="{AD421831-C244-4DE0-8DE2-755D7D7315B9}"/>
              </a:ext>
            </a:extLst>
          </p:cNvPr>
          <p:cNvSpPr>
            <a:spLocks noGrp="1"/>
          </p:cNvSpPr>
          <p:nvPr>
            <p:ph type="body" sz="quarter" idx="13"/>
          </p:nvPr>
        </p:nvSpPr>
        <p:spPr>
          <a:xfrm>
            <a:off x="450000" y="851339"/>
            <a:ext cx="5465380" cy="863162"/>
          </a:xfrm>
        </p:spPr>
        <p:txBody>
          <a:bodyPr>
            <a:noAutofit/>
          </a:bodyPr>
          <a:lstStyle>
            <a:lvl1pPr>
              <a:defRPr sz="3200" b="0">
                <a:latin typeface="+mj-lt"/>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a:t>Click to edit Master text styles</a:t>
            </a:r>
          </a:p>
        </p:txBody>
      </p:sp>
    </p:spTree>
    <p:extLst>
      <p:ext uri="{BB962C8B-B14F-4D97-AF65-F5344CB8AC3E}">
        <p14:creationId xmlns:p14="http://schemas.microsoft.com/office/powerpoint/2010/main" val="279182114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 Black">
    <p:bg>
      <p:bgRef idx="1001">
        <a:schemeClr val="bg1"/>
      </p:bgRef>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341A6448-2CDA-7D6D-F1A0-347696B21B5C}"/>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237527242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 Black">
    <p:bg>
      <p:bgRef idx="1001">
        <a:schemeClr val="bg1"/>
      </p:bgRef>
    </p:bg>
    <p:spTree>
      <p:nvGrpSpPr>
        <p:cNvPr id="1" name=""/>
        <p:cNvGrpSpPr/>
        <p:nvPr/>
      </p:nvGrpSpPr>
      <p:grpSpPr>
        <a:xfrm>
          <a:off x="0" y="0"/>
          <a:ext cx="0" cy="0"/>
          <a:chOff x="0" y="0"/>
          <a:chExt cx="0" cy="0"/>
        </a:xfrm>
      </p:grpSpPr>
      <p:sp>
        <p:nvSpPr>
          <p:cNvPr id="2" name="Text Placeholder 8">
            <a:extLst>
              <a:ext uri="{FF2B5EF4-FFF2-40B4-BE49-F238E27FC236}">
                <a16:creationId xmlns:a16="http://schemas.microsoft.com/office/drawing/2014/main" id="{98D36622-3315-0885-4F7E-8CCDE0C2BA1C}"/>
              </a:ext>
            </a:extLst>
          </p:cNvPr>
          <p:cNvSpPr>
            <a:spLocks noGrp="1"/>
          </p:cNvSpPr>
          <p:nvPr>
            <p:ph type="body" sz="quarter" idx="13" hasCustomPrompt="1"/>
          </p:nvPr>
        </p:nvSpPr>
        <p:spPr>
          <a:xfrm>
            <a:off x="450000" y="684000"/>
            <a:ext cx="11304000" cy="757255"/>
          </a:xfrm>
          <a:prstGeom prst="rect">
            <a:avLst/>
          </a:prstGeom>
        </p:spPr>
        <p:txBody>
          <a:bodyPr lIns="0" tIns="0" rIns="0" bIns="0">
            <a:noAutofit/>
          </a:bodyPr>
          <a:lstStyle>
            <a:lvl1pPr marL="0" indent="0">
              <a:spcBef>
                <a:spcPts val="0"/>
              </a:spcBef>
              <a:spcAft>
                <a:spcPts val="0"/>
              </a:spcAft>
              <a:buNone/>
              <a:defRPr sz="1800" b="0">
                <a:solidFill>
                  <a:schemeClr val="tx2"/>
                </a:solidFill>
              </a:defRPr>
            </a:lvl1pPr>
          </a:lstStyle>
          <a:p>
            <a:pPr lvl="0"/>
            <a:r>
              <a:rPr lang="en-US"/>
              <a:t>Click to add subtitle</a:t>
            </a:r>
          </a:p>
        </p:txBody>
      </p:sp>
      <p:sp>
        <p:nvSpPr>
          <p:cNvPr id="3" name="Title Placeholder 1">
            <a:extLst>
              <a:ext uri="{FF2B5EF4-FFF2-40B4-BE49-F238E27FC236}">
                <a16:creationId xmlns:a16="http://schemas.microsoft.com/office/drawing/2014/main" id="{53E8942A-B484-29A8-C101-63496BEA57FC}"/>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latin typeface="+mj-lt"/>
              </a:defRPr>
            </a:lvl1pPr>
          </a:lstStyle>
          <a:p>
            <a:r>
              <a:rPr lang="en-US"/>
              <a:t>Click to add title</a:t>
            </a:r>
          </a:p>
        </p:txBody>
      </p:sp>
    </p:spTree>
    <p:extLst>
      <p:ext uri="{BB962C8B-B14F-4D97-AF65-F5344CB8AC3E}">
        <p14:creationId xmlns:p14="http://schemas.microsoft.com/office/powerpoint/2010/main" val="370360823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title, 1 column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C36FB10-1EF5-A9A4-577D-A18DA4D12077}"/>
              </a:ext>
            </a:extLst>
          </p:cNvPr>
          <p:cNvGraphicFramePr>
            <a:graphicFrameLocks noChangeAspect="1"/>
          </p:cNvGraphicFramePr>
          <p:nvPr userDrawn="1">
            <p:custDataLst>
              <p:tags r:id="rId1"/>
            </p:custDataLst>
            <p:extLst>
              <p:ext uri="{D42A27DB-BD31-4B8C-83A1-F6EECF244321}">
                <p14:modId xmlns:p14="http://schemas.microsoft.com/office/powerpoint/2010/main" val="18793236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9C36FB10-1EF5-A9A4-577D-A18DA4D1207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aseCode">
            <a:extLst>
              <a:ext uri="{FF2B5EF4-FFF2-40B4-BE49-F238E27FC236}">
                <a16:creationId xmlns:a16="http://schemas.microsoft.com/office/drawing/2014/main" id="{439CAA0B-BD7D-E961-FD1C-9131F85A54CA}"/>
              </a:ext>
            </a:extLst>
          </p:cNvPr>
          <p:cNvSpPr txBox="1"/>
          <p:nvPr userDrawn="1"/>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Presentation title</a:t>
            </a:r>
            <a:br>
              <a:rPr lang="en-US" sz="800" noProof="0">
                <a:solidFill>
                  <a:schemeClr val="bg1"/>
                </a:solidFill>
                <a:latin typeface="Calibri" panose="020F0502020204030204" pitchFamily="34" charset="0"/>
                <a:cs typeface="Calibri" panose="020F0502020204030204" pitchFamily="34" charset="0"/>
              </a:rPr>
            </a:br>
            <a:r>
              <a:rPr lang="en-US" sz="8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5" name="Copyright">
            <a:extLst>
              <a:ext uri="{FF2B5EF4-FFF2-40B4-BE49-F238E27FC236}">
                <a16:creationId xmlns:a16="http://schemas.microsoft.com/office/drawing/2014/main" id="{F6E54051-AB2C-A07C-F684-FE42B225EAE9}"/>
              </a:ext>
            </a:extLst>
          </p:cNvPr>
          <p:cNvSpPr txBox="1"/>
          <p:nvPr userDrawn="1"/>
        </p:nvSpPr>
        <p:spPr>
          <a:xfrm>
            <a:off x="466344"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Member firms and DTTL: Insert appropriate copyright</a:t>
            </a:r>
            <a:br>
              <a:rPr lang="en-US" sz="800" noProof="0">
                <a:solidFill>
                  <a:schemeClr val="bg1"/>
                </a:solidFill>
                <a:latin typeface="Calibri" panose="020F0502020204030204" pitchFamily="34" charset="0"/>
                <a:cs typeface="Calibri" panose="020F0502020204030204" pitchFamily="34" charset="0"/>
              </a:rPr>
            </a:br>
            <a:r>
              <a:rPr lang="en-US" sz="8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6" name="TextBox 5">
            <a:extLst>
              <a:ext uri="{FF2B5EF4-FFF2-40B4-BE49-F238E27FC236}">
                <a16:creationId xmlns:a16="http://schemas.microsoft.com/office/drawing/2014/main" id="{7138B5BD-933E-BC54-3884-620C20F639B9}"/>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Calibri" panose="020F0502020204030204" pitchFamily="34" charset="0"/>
              <a:cs typeface="Calibri" panose="020F0502020204030204" pitchFamily="34" charset="0"/>
            </a:endParaRPr>
          </a:p>
        </p:txBody>
      </p:sp>
      <p:sp>
        <p:nvSpPr>
          <p:cNvPr id="14" name="Text Placeholder 18">
            <a:extLst>
              <a:ext uri="{FF2B5EF4-FFF2-40B4-BE49-F238E27FC236}">
                <a16:creationId xmlns:a16="http://schemas.microsoft.com/office/drawing/2014/main" id="{FB46B341-3430-2348-6D11-485200BFA997}"/>
              </a:ext>
            </a:extLst>
          </p:cNvPr>
          <p:cNvSpPr>
            <a:spLocks noGrp="1"/>
          </p:cNvSpPr>
          <p:nvPr>
            <p:ph idx="1"/>
          </p:nvPr>
        </p:nvSpPr>
        <p:spPr>
          <a:xfrm>
            <a:off x="450000" y="1714500"/>
            <a:ext cx="11304000" cy="4644000"/>
          </a:xfrm>
          <a:prstGeom prst="rect">
            <a:avLst/>
          </a:prstGeom>
        </p:spPr>
        <p:txBody>
          <a:bodyPr vert="horz" lIns="0" tIns="0" rIns="0" bIns="0" rtlCol="0">
            <a:noAutofit/>
          </a:bodyPr>
          <a:lstStyle>
            <a:lvl1pPr>
              <a:spcBef>
                <a:spcPts val="200"/>
              </a:spcBef>
              <a:spcAft>
                <a:spcPts val="200"/>
              </a:spcAft>
              <a:defRPr>
                <a:solidFill>
                  <a:schemeClr val="bg1"/>
                </a:solidFill>
              </a:defRPr>
            </a:lvl1pPr>
            <a:lvl2pPr>
              <a:spcBef>
                <a:spcPts val="200"/>
              </a:spcBef>
              <a:spcAft>
                <a:spcPts val="200"/>
              </a:spcAft>
              <a:defRPr>
                <a:solidFill>
                  <a:schemeClr val="bg1"/>
                </a:solidFill>
              </a:defRPr>
            </a:lvl2pPr>
            <a:lvl3pPr>
              <a:spcBef>
                <a:spcPts val="200"/>
              </a:spcBef>
              <a:spcAft>
                <a:spcPts val="200"/>
              </a:spcAft>
              <a:defRPr>
                <a:solidFill>
                  <a:schemeClr val="bg1"/>
                </a:solidFill>
              </a:defRPr>
            </a:lvl3pPr>
            <a:lvl4pPr>
              <a:spcBef>
                <a:spcPts val="200"/>
              </a:spcBef>
              <a:spcAft>
                <a:spcPts val="200"/>
              </a:spcAft>
              <a:defRPr>
                <a:solidFill>
                  <a:schemeClr val="bg1"/>
                </a:solidFill>
              </a:defRPr>
            </a:lvl4pPr>
            <a:lvl5pPr>
              <a:spcBef>
                <a:spcPts val="200"/>
              </a:spcBef>
              <a:spcAft>
                <a:spcPts val="200"/>
              </a:spcAft>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Title Placeholder 1">
            <a:extLst>
              <a:ext uri="{FF2B5EF4-FFF2-40B4-BE49-F238E27FC236}">
                <a16:creationId xmlns:a16="http://schemas.microsoft.com/office/drawing/2014/main" id="{F99282DB-7705-38D1-75C5-92BD76D9183E}"/>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mj-lt"/>
              </a:defRPr>
            </a:lvl1pPr>
          </a:lstStyle>
          <a:p>
            <a:r>
              <a:rPr lang="en-US"/>
              <a:t>Click to add title</a:t>
            </a:r>
          </a:p>
        </p:txBody>
      </p:sp>
      <p:sp>
        <p:nvSpPr>
          <p:cNvPr id="17" name="Text Placeholder 8">
            <a:extLst>
              <a:ext uri="{FF2B5EF4-FFF2-40B4-BE49-F238E27FC236}">
                <a16:creationId xmlns:a16="http://schemas.microsoft.com/office/drawing/2014/main" id="{2F2C4463-3F55-0B57-ECFE-555C0A1782BD}"/>
              </a:ext>
            </a:extLst>
          </p:cNvPr>
          <p:cNvSpPr>
            <a:spLocks noGrp="1"/>
          </p:cNvSpPr>
          <p:nvPr>
            <p:ph type="body" sz="quarter" idx="13" hasCustomPrompt="1"/>
          </p:nvPr>
        </p:nvSpPr>
        <p:spPr>
          <a:xfrm>
            <a:off x="450000" y="684000"/>
            <a:ext cx="11304000"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defRPr>
            </a:lvl1pPr>
          </a:lstStyle>
          <a:p>
            <a:pPr lvl="0"/>
            <a:r>
              <a:rPr lang="en-US"/>
              <a:t>Click to add subtitle</a:t>
            </a:r>
          </a:p>
        </p:txBody>
      </p:sp>
    </p:spTree>
    <p:extLst>
      <p:ext uri="{BB962C8B-B14F-4D97-AF65-F5344CB8AC3E}">
        <p14:creationId xmlns:p14="http://schemas.microsoft.com/office/powerpoint/2010/main" val="4120385941"/>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subtitle, 2 columns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05E6F299-A818-CA93-A927-F61A877DA27A}"/>
              </a:ext>
            </a:extLst>
          </p:cNvPr>
          <p:cNvGraphicFramePr>
            <a:graphicFrameLocks noChangeAspect="1"/>
          </p:cNvGraphicFramePr>
          <p:nvPr userDrawn="1">
            <p:custDataLst>
              <p:tags r:id="rId1"/>
            </p:custDataLst>
            <p:extLst>
              <p:ext uri="{D42A27DB-BD31-4B8C-83A1-F6EECF244321}">
                <p14:modId xmlns:p14="http://schemas.microsoft.com/office/powerpoint/2010/main" val="5613879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05E6F299-A818-CA93-A927-F61A877DA2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p:nvPr>
        </p:nvSpPr>
        <p:spPr>
          <a:xfrm>
            <a:off x="450000" y="1719072"/>
            <a:ext cx="5508000"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CaseCode">
            <a:extLst>
              <a:ext uri="{FF2B5EF4-FFF2-40B4-BE49-F238E27FC236}">
                <a16:creationId xmlns:a16="http://schemas.microsoft.com/office/drawing/2014/main" id="{2FAA9AE1-07D6-1DEA-5444-4C520526B959}"/>
              </a:ext>
            </a:extLst>
          </p:cNvPr>
          <p:cNvSpPr txBox="1"/>
          <p:nvPr userDrawn="1"/>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Presentation title</a:t>
            </a:r>
            <a:br>
              <a:rPr lang="en-US" sz="800" noProof="0">
                <a:solidFill>
                  <a:schemeClr val="bg1"/>
                </a:solidFill>
                <a:latin typeface="Calibri" panose="020F0502020204030204" pitchFamily="34" charset="0"/>
                <a:cs typeface="Calibri" panose="020F0502020204030204" pitchFamily="34" charset="0"/>
              </a:rPr>
            </a:br>
            <a:r>
              <a:rPr lang="en-US" sz="8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4" name="Copyright">
            <a:extLst>
              <a:ext uri="{FF2B5EF4-FFF2-40B4-BE49-F238E27FC236}">
                <a16:creationId xmlns:a16="http://schemas.microsoft.com/office/drawing/2014/main" id="{AECCCF0B-B1BD-BCCA-2910-86017684AE3D}"/>
              </a:ext>
            </a:extLst>
          </p:cNvPr>
          <p:cNvSpPr txBox="1"/>
          <p:nvPr userDrawn="1"/>
        </p:nvSpPr>
        <p:spPr>
          <a:xfrm>
            <a:off x="466344"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Member firms and DTTL: Insert appropriate copyright</a:t>
            </a:r>
            <a:br>
              <a:rPr lang="en-US" sz="800" noProof="0">
                <a:solidFill>
                  <a:schemeClr val="bg1"/>
                </a:solidFill>
                <a:latin typeface="Calibri" panose="020F0502020204030204" pitchFamily="34" charset="0"/>
                <a:cs typeface="Calibri" panose="020F0502020204030204" pitchFamily="34" charset="0"/>
              </a:rPr>
            </a:br>
            <a:r>
              <a:rPr lang="en-US" sz="8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5" name="TextBox 4">
            <a:extLst>
              <a:ext uri="{FF2B5EF4-FFF2-40B4-BE49-F238E27FC236}">
                <a16:creationId xmlns:a16="http://schemas.microsoft.com/office/drawing/2014/main" id="{0D8F1BBD-EF0D-7D04-5538-273842FEC19B}"/>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Calibri" panose="020F0502020204030204" pitchFamily="34" charset="0"/>
              <a:cs typeface="Calibri" panose="020F0502020204030204" pitchFamily="34" charset="0"/>
            </a:endParaRPr>
          </a:p>
        </p:txBody>
      </p:sp>
      <p:sp>
        <p:nvSpPr>
          <p:cNvPr id="10" name="Title Placeholder 1">
            <a:extLst>
              <a:ext uri="{FF2B5EF4-FFF2-40B4-BE49-F238E27FC236}">
                <a16:creationId xmlns:a16="http://schemas.microsoft.com/office/drawing/2014/main" id="{8D6FEAFF-2B74-1B3D-168E-42A9A695E117}"/>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mj-lt"/>
              </a:defRPr>
            </a:lvl1pPr>
          </a:lstStyle>
          <a:p>
            <a:r>
              <a:rPr lang="en-US"/>
              <a:t>Click to add title</a:t>
            </a:r>
          </a:p>
        </p:txBody>
      </p:sp>
      <p:sp>
        <p:nvSpPr>
          <p:cNvPr id="11" name="Text Placeholder 8">
            <a:extLst>
              <a:ext uri="{FF2B5EF4-FFF2-40B4-BE49-F238E27FC236}">
                <a16:creationId xmlns:a16="http://schemas.microsoft.com/office/drawing/2014/main" id="{2DF503BF-FE6C-E555-3A41-CFFD64147183}"/>
              </a:ext>
            </a:extLst>
          </p:cNvPr>
          <p:cNvSpPr>
            <a:spLocks noGrp="1"/>
          </p:cNvSpPr>
          <p:nvPr>
            <p:ph type="body" sz="quarter" idx="13" hasCustomPrompt="1"/>
          </p:nvPr>
        </p:nvSpPr>
        <p:spPr>
          <a:xfrm>
            <a:off x="450000" y="684000"/>
            <a:ext cx="11304000"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defRPr>
            </a:lvl1pPr>
          </a:lstStyle>
          <a:p>
            <a:pPr lvl="0"/>
            <a:r>
              <a:rPr lang="en-US"/>
              <a:t>Click to add subtitle</a:t>
            </a:r>
          </a:p>
        </p:txBody>
      </p:sp>
      <p:sp>
        <p:nvSpPr>
          <p:cNvPr id="3" name="Content Placeholder 3">
            <a:extLst>
              <a:ext uri="{FF2B5EF4-FFF2-40B4-BE49-F238E27FC236}">
                <a16:creationId xmlns:a16="http://schemas.microsoft.com/office/drawing/2014/main" id="{45E59B36-2F4F-A0E8-D1A8-C198F28B171E}"/>
              </a:ext>
            </a:extLst>
          </p:cNvPr>
          <p:cNvSpPr>
            <a:spLocks noGrp="1"/>
          </p:cNvSpPr>
          <p:nvPr>
            <p:ph sz="quarter" idx="15"/>
          </p:nvPr>
        </p:nvSpPr>
        <p:spPr>
          <a:xfrm>
            <a:off x="6246000" y="1719072"/>
            <a:ext cx="5508000"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136306013"/>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ubtitle, 3 columns -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82120E2-D6C2-D764-40A5-E97D481216B5}"/>
              </a:ext>
            </a:extLst>
          </p:cNvPr>
          <p:cNvGraphicFramePr>
            <a:graphicFrameLocks noChangeAspect="1"/>
          </p:cNvGraphicFramePr>
          <p:nvPr userDrawn="1">
            <p:custDataLst>
              <p:tags r:id="rId1"/>
            </p:custDataLst>
            <p:extLst>
              <p:ext uri="{D42A27DB-BD31-4B8C-83A1-F6EECF244321}">
                <p14:modId xmlns:p14="http://schemas.microsoft.com/office/powerpoint/2010/main" val="13522964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D82120E2-D6C2-D764-40A5-E97D481216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p:nvPr>
        </p:nvSpPr>
        <p:spPr>
          <a:xfrm>
            <a:off x="450000" y="1719072"/>
            <a:ext cx="3549904"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aseCode">
            <a:extLst>
              <a:ext uri="{FF2B5EF4-FFF2-40B4-BE49-F238E27FC236}">
                <a16:creationId xmlns:a16="http://schemas.microsoft.com/office/drawing/2014/main" id="{4C9C6FA1-DDE1-8073-D67E-BBF06C3542A3}"/>
              </a:ext>
            </a:extLst>
          </p:cNvPr>
          <p:cNvSpPr txBox="1"/>
          <p:nvPr userDrawn="1"/>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Presentation title</a:t>
            </a:r>
            <a:br>
              <a:rPr lang="en-US" sz="800" noProof="0">
                <a:solidFill>
                  <a:schemeClr val="bg1"/>
                </a:solidFill>
                <a:latin typeface="Calibri" panose="020F0502020204030204" pitchFamily="34" charset="0"/>
                <a:cs typeface="Calibri" panose="020F0502020204030204" pitchFamily="34" charset="0"/>
              </a:rPr>
            </a:br>
            <a:r>
              <a:rPr lang="en-US" sz="8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5" name="Copyright">
            <a:extLst>
              <a:ext uri="{FF2B5EF4-FFF2-40B4-BE49-F238E27FC236}">
                <a16:creationId xmlns:a16="http://schemas.microsoft.com/office/drawing/2014/main" id="{E0E9664F-F6E9-5088-C878-2C69B2DB5422}"/>
              </a:ext>
            </a:extLst>
          </p:cNvPr>
          <p:cNvSpPr txBox="1"/>
          <p:nvPr userDrawn="1"/>
        </p:nvSpPr>
        <p:spPr>
          <a:xfrm>
            <a:off x="466344"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Member firms and DTTL: Insert appropriate copyright</a:t>
            </a:r>
            <a:br>
              <a:rPr lang="en-US" sz="800" noProof="0">
                <a:solidFill>
                  <a:schemeClr val="bg1"/>
                </a:solidFill>
                <a:latin typeface="Calibri" panose="020F0502020204030204" pitchFamily="34" charset="0"/>
                <a:cs typeface="Calibri" panose="020F0502020204030204" pitchFamily="34" charset="0"/>
              </a:rPr>
            </a:br>
            <a:r>
              <a:rPr lang="en-US" sz="8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6" name="TextBox 5">
            <a:extLst>
              <a:ext uri="{FF2B5EF4-FFF2-40B4-BE49-F238E27FC236}">
                <a16:creationId xmlns:a16="http://schemas.microsoft.com/office/drawing/2014/main" id="{51FB6382-2CB7-7FC9-D920-10C689F2F5E2}"/>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Calibri" panose="020F0502020204030204" pitchFamily="34" charset="0"/>
              <a:cs typeface="Calibri" panose="020F0502020204030204" pitchFamily="34" charset="0"/>
            </a:endParaRPr>
          </a:p>
        </p:txBody>
      </p:sp>
      <p:sp>
        <p:nvSpPr>
          <p:cNvPr id="9" name="Title Placeholder 1">
            <a:extLst>
              <a:ext uri="{FF2B5EF4-FFF2-40B4-BE49-F238E27FC236}">
                <a16:creationId xmlns:a16="http://schemas.microsoft.com/office/drawing/2014/main" id="{7413E34D-A983-4D25-B3D7-D7643F603577}"/>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defRPr sz="2100">
                <a:solidFill>
                  <a:schemeClr val="bg1"/>
                </a:solidFill>
                <a:latin typeface="+mj-lt"/>
              </a:defRPr>
            </a:lvl1pPr>
          </a:lstStyle>
          <a:p>
            <a:r>
              <a:rPr lang="en-US"/>
              <a:t>Click to add title</a:t>
            </a:r>
          </a:p>
        </p:txBody>
      </p:sp>
      <p:sp>
        <p:nvSpPr>
          <p:cNvPr id="10" name="Text Placeholder 8">
            <a:extLst>
              <a:ext uri="{FF2B5EF4-FFF2-40B4-BE49-F238E27FC236}">
                <a16:creationId xmlns:a16="http://schemas.microsoft.com/office/drawing/2014/main" id="{6F14D54C-54B5-CC50-7E64-122407456A83}"/>
              </a:ext>
            </a:extLst>
          </p:cNvPr>
          <p:cNvSpPr>
            <a:spLocks noGrp="1"/>
          </p:cNvSpPr>
          <p:nvPr>
            <p:ph type="body" sz="quarter" idx="13" hasCustomPrompt="1"/>
          </p:nvPr>
        </p:nvSpPr>
        <p:spPr>
          <a:xfrm>
            <a:off x="450000" y="684000"/>
            <a:ext cx="11304000" cy="757255"/>
          </a:xfrm>
          <a:prstGeom prst="rect">
            <a:avLst/>
          </a:prstGeom>
        </p:spPr>
        <p:txBody>
          <a:bodyPr vert="horz" lIns="0" tIns="0" rIns="0" bIns="0" rtlCol="0" anchor="t" anchorCtr="0">
            <a:noAutofit/>
          </a:bodyPr>
          <a:lstStyle>
            <a:lvl1pPr>
              <a:defRPr lang="en-US" sz="1800" b="0" dirty="0">
                <a:solidFill>
                  <a:srgbClr val="D0D0CE"/>
                </a:solidFill>
              </a:defRPr>
            </a:lvl1pPr>
          </a:lstStyle>
          <a:p>
            <a:pPr lvl="0"/>
            <a:r>
              <a:rPr lang="en-US"/>
              <a:t>Click to add subtitle</a:t>
            </a:r>
          </a:p>
        </p:txBody>
      </p:sp>
      <p:sp>
        <p:nvSpPr>
          <p:cNvPr id="4" name="Content Placeholder 3">
            <a:extLst>
              <a:ext uri="{FF2B5EF4-FFF2-40B4-BE49-F238E27FC236}">
                <a16:creationId xmlns:a16="http://schemas.microsoft.com/office/drawing/2014/main" id="{DF0E9C8C-3361-2EBB-1420-4D27917305A8}"/>
              </a:ext>
            </a:extLst>
          </p:cNvPr>
          <p:cNvSpPr>
            <a:spLocks noGrp="1"/>
          </p:cNvSpPr>
          <p:nvPr>
            <p:ph sz="quarter" idx="17"/>
          </p:nvPr>
        </p:nvSpPr>
        <p:spPr>
          <a:xfrm>
            <a:off x="4327048" y="1719072"/>
            <a:ext cx="3549904"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ntent Placeholder 3">
            <a:extLst>
              <a:ext uri="{FF2B5EF4-FFF2-40B4-BE49-F238E27FC236}">
                <a16:creationId xmlns:a16="http://schemas.microsoft.com/office/drawing/2014/main" id="{CD594323-BB1E-32C6-75D1-37D14037392C}"/>
              </a:ext>
            </a:extLst>
          </p:cNvPr>
          <p:cNvSpPr>
            <a:spLocks noGrp="1"/>
          </p:cNvSpPr>
          <p:nvPr>
            <p:ph sz="quarter" idx="18"/>
          </p:nvPr>
        </p:nvSpPr>
        <p:spPr>
          <a:xfrm>
            <a:off x="8204096" y="1719072"/>
            <a:ext cx="3549904"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459083464"/>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subtitle, 4 columns - Black">
    <p:bg>
      <p:bgPr>
        <a:solidFill>
          <a:schemeClr val="tx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AF0D7E5-2029-3151-0D44-92D925760B08}"/>
              </a:ext>
            </a:extLst>
          </p:cNvPr>
          <p:cNvGraphicFramePr>
            <a:graphicFrameLocks noChangeAspect="1"/>
          </p:cNvGraphicFramePr>
          <p:nvPr userDrawn="1">
            <p:custDataLst>
              <p:tags r:id="rId1"/>
            </p:custDataLst>
            <p:extLst>
              <p:ext uri="{D42A27DB-BD31-4B8C-83A1-F6EECF244321}">
                <p14:modId xmlns:p14="http://schemas.microsoft.com/office/powerpoint/2010/main" val="12431203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0AF0D7E5-2029-3151-0D44-92D925760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p:nvPr>
        </p:nvSpPr>
        <p:spPr>
          <a:xfrm>
            <a:off x="450000" y="1714500"/>
            <a:ext cx="2685018"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mn-lt"/>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j-lt"/>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n-lt"/>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n-lt"/>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CaseCode">
            <a:extLst>
              <a:ext uri="{FF2B5EF4-FFF2-40B4-BE49-F238E27FC236}">
                <a16:creationId xmlns:a16="http://schemas.microsoft.com/office/drawing/2014/main" id="{2AC6B5AE-2398-5F77-C242-BA82202FDB97}"/>
              </a:ext>
            </a:extLst>
          </p:cNvPr>
          <p:cNvSpPr txBox="1"/>
          <p:nvPr userDrawn="1"/>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Presentation title</a:t>
            </a:r>
            <a:br>
              <a:rPr lang="en-US" sz="800" noProof="0">
                <a:solidFill>
                  <a:schemeClr val="bg1"/>
                </a:solidFill>
                <a:latin typeface="Calibri" panose="020F0502020204030204" pitchFamily="34" charset="0"/>
                <a:cs typeface="Calibri" panose="020F0502020204030204" pitchFamily="34" charset="0"/>
              </a:rPr>
            </a:br>
            <a:r>
              <a:rPr lang="en-US" sz="8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8" name="Copyright">
            <a:extLst>
              <a:ext uri="{FF2B5EF4-FFF2-40B4-BE49-F238E27FC236}">
                <a16:creationId xmlns:a16="http://schemas.microsoft.com/office/drawing/2014/main" id="{D86F00B9-162D-0F0A-AF00-68C6D5FF16DE}"/>
              </a:ext>
            </a:extLst>
          </p:cNvPr>
          <p:cNvSpPr txBox="1"/>
          <p:nvPr userDrawn="1"/>
        </p:nvSpPr>
        <p:spPr>
          <a:xfrm>
            <a:off x="466344"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Member firms and DTTL: Insert appropriate copyright</a:t>
            </a:r>
            <a:br>
              <a:rPr lang="en-US" sz="800" noProof="0">
                <a:solidFill>
                  <a:schemeClr val="bg1"/>
                </a:solidFill>
                <a:latin typeface="Calibri" panose="020F0502020204030204" pitchFamily="34" charset="0"/>
                <a:cs typeface="Calibri" panose="020F0502020204030204" pitchFamily="34" charset="0"/>
              </a:rPr>
            </a:br>
            <a:r>
              <a:rPr lang="en-US" sz="8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0" name="TextBox 9">
            <a:extLst>
              <a:ext uri="{FF2B5EF4-FFF2-40B4-BE49-F238E27FC236}">
                <a16:creationId xmlns:a16="http://schemas.microsoft.com/office/drawing/2014/main" id="{7ADEBAD5-40EB-51CE-ACE7-BD2DFF52BB5F}"/>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Calibri" panose="020F0502020204030204" pitchFamily="34" charset="0"/>
              <a:cs typeface="Calibri" panose="020F0502020204030204" pitchFamily="34" charset="0"/>
            </a:endParaRPr>
          </a:p>
        </p:txBody>
      </p:sp>
      <p:sp>
        <p:nvSpPr>
          <p:cNvPr id="14" name="Title Placeholder 1">
            <a:extLst>
              <a:ext uri="{FF2B5EF4-FFF2-40B4-BE49-F238E27FC236}">
                <a16:creationId xmlns:a16="http://schemas.microsoft.com/office/drawing/2014/main" id="{286DEB7A-2D80-0936-9E40-8E28EEB0EB24}"/>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mj-lt"/>
              </a:defRPr>
            </a:lvl1pPr>
          </a:lstStyle>
          <a:p>
            <a:r>
              <a:rPr lang="en-US"/>
              <a:t>Click to add title</a:t>
            </a:r>
          </a:p>
        </p:txBody>
      </p:sp>
      <p:sp>
        <p:nvSpPr>
          <p:cNvPr id="15" name="Text Placeholder 8">
            <a:extLst>
              <a:ext uri="{FF2B5EF4-FFF2-40B4-BE49-F238E27FC236}">
                <a16:creationId xmlns:a16="http://schemas.microsoft.com/office/drawing/2014/main" id="{67F64B02-86CD-B81B-86B2-05391A92AC52}"/>
              </a:ext>
            </a:extLst>
          </p:cNvPr>
          <p:cNvSpPr>
            <a:spLocks noGrp="1"/>
          </p:cNvSpPr>
          <p:nvPr>
            <p:ph type="body" sz="quarter" idx="13" hasCustomPrompt="1"/>
          </p:nvPr>
        </p:nvSpPr>
        <p:spPr>
          <a:xfrm>
            <a:off x="450000" y="684000"/>
            <a:ext cx="11304000"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defRPr>
            </a:lvl1pPr>
          </a:lstStyle>
          <a:p>
            <a:pPr lvl="0"/>
            <a:r>
              <a:rPr lang="en-US"/>
              <a:t>Click to add subtitle</a:t>
            </a:r>
          </a:p>
        </p:txBody>
      </p:sp>
      <p:sp>
        <p:nvSpPr>
          <p:cNvPr id="3" name="Content Placeholder 3">
            <a:extLst>
              <a:ext uri="{FF2B5EF4-FFF2-40B4-BE49-F238E27FC236}">
                <a16:creationId xmlns:a16="http://schemas.microsoft.com/office/drawing/2014/main" id="{39EE392B-1FEE-21B0-181D-C9962A3FE8E5}"/>
              </a:ext>
            </a:extLst>
          </p:cNvPr>
          <p:cNvSpPr>
            <a:spLocks noGrp="1"/>
          </p:cNvSpPr>
          <p:nvPr>
            <p:ph sz="quarter" idx="18"/>
          </p:nvPr>
        </p:nvSpPr>
        <p:spPr>
          <a:xfrm>
            <a:off x="3322994" y="1714500"/>
            <a:ext cx="2685018"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mn-lt"/>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j-lt"/>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n-lt"/>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n-lt"/>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ntent Placeholder 3">
            <a:extLst>
              <a:ext uri="{FF2B5EF4-FFF2-40B4-BE49-F238E27FC236}">
                <a16:creationId xmlns:a16="http://schemas.microsoft.com/office/drawing/2014/main" id="{EC71861D-BC3F-2DAD-BA49-86947F937CC5}"/>
              </a:ext>
            </a:extLst>
          </p:cNvPr>
          <p:cNvSpPr>
            <a:spLocks noGrp="1"/>
          </p:cNvSpPr>
          <p:nvPr>
            <p:ph sz="quarter" idx="19"/>
          </p:nvPr>
        </p:nvSpPr>
        <p:spPr>
          <a:xfrm>
            <a:off x="6195988" y="1714500"/>
            <a:ext cx="2685018"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mn-lt"/>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j-lt"/>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n-lt"/>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n-lt"/>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6D62757C-35E9-6C73-1638-E2D99D8D412E}"/>
              </a:ext>
            </a:extLst>
          </p:cNvPr>
          <p:cNvSpPr>
            <a:spLocks noGrp="1"/>
          </p:cNvSpPr>
          <p:nvPr>
            <p:ph sz="quarter" idx="20"/>
          </p:nvPr>
        </p:nvSpPr>
        <p:spPr>
          <a:xfrm>
            <a:off x="9068982" y="1714500"/>
            <a:ext cx="2685018"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mn-lt"/>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j-lt"/>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n-lt"/>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n-lt"/>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938729672"/>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eam profile - Black">
    <p:bg>
      <p:bgPr>
        <a:solidFill>
          <a:schemeClr val="tx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3E4C1F1A-C2FD-0E2E-2497-1640B8CFB7F6}"/>
              </a:ext>
            </a:extLst>
          </p:cNvPr>
          <p:cNvGraphicFramePr>
            <a:graphicFrameLocks noChangeAspect="1"/>
          </p:cNvGraphicFramePr>
          <p:nvPr userDrawn="1">
            <p:custDataLst>
              <p:tags r:id="rId1"/>
            </p:custDataLst>
            <p:extLst>
              <p:ext uri="{D42A27DB-BD31-4B8C-83A1-F6EECF244321}">
                <p14:modId xmlns:p14="http://schemas.microsoft.com/office/powerpoint/2010/main" val="22239920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6" name="think-cell data - do not delete" hidden="1">
                        <a:extLst>
                          <a:ext uri="{FF2B5EF4-FFF2-40B4-BE49-F238E27FC236}">
                            <a16:creationId xmlns:a16="http://schemas.microsoft.com/office/drawing/2014/main" id="{3E4C1F1A-C2FD-0E2E-2497-1640B8CFB7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0000" y="1880213"/>
            <a:ext cx="1476000" cy="1476000"/>
          </a:xfrm>
        </p:spPr>
        <p:txBody>
          <a:bodyPr>
            <a:normAutofit/>
          </a:bodyPr>
          <a:lstStyle>
            <a:lvl1pPr algn="ctr">
              <a:defRPr sz="1200"/>
            </a:lvl1pPr>
          </a:lstStyle>
          <a:p>
            <a:r>
              <a:rPr lang="en-US"/>
              <a:t>Click icon to add picture</a:t>
            </a:r>
            <a:endParaRPr lang="en-GB"/>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6000" y="1880213"/>
            <a:ext cx="1476000" cy="1476000"/>
          </a:xfrm>
        </p:spPr>
        <p:txBody>
          <a:bodyPr>
            <a:normAutofit/>
          </a:bodyPr>
          <a:lstStyle>
            <a:lvl1pPr algn="ctr">
              <a:defRPr sz="1200"/>
            </a:lvl1pPr>
          </a:lstStyle>
          <a:p>
            <a:r>
              <a:rPr lang="en-US"/>
              <a:t>Click icon to add picture</a:t>
            </a:r>
            <a:endParaRPr lang="en-GB"/>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0000" y="4256213"/>
            <a:ext cx="1476000" cy="1476000"/>
          </a:xfrm>
        </p:spPr>
        <p:txBody>
          <a:bodyPr>
            <a:normAutofit/>
          </a:bodyPr>
          <a:lstStyle>
            <a:lvl1pPr algn="ctr">
              <a:defRPr sz="1200"/>
            </a:lvl1pPr>
          </a:lstStyle>
          <a:p>
            <a:r>
              <a:rPr lang="en-US"/>
              <a:t>Click icon to add picture</a:t>
            </a:r>
            <a:endParaRPr lang="en-GB"/>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46000" y="4256213"/>
            <a:ext cx="1476000" cy="1476000"/>
          </a:xfrm>
        </p:spPr>
        <p:txBody>
          <a:bodyPr>
            <a:normAutofit/>
          </a:bodyPr>
          <a:lstStyle>
            <a:lvl1pPr algn="ctr">
              <a:defRPr sz="1200"/>
            </a:lvl1pPr>
          </a:lstStyle>
          <a:p>
            <a:r>
              <a:rPr lang="en-US"/>
              <a:t>Click icon to add picture</a:t>
            </a:r>
            <a:endParaRPr lang="en-GB"/>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p:nvPr>
        </p:nvSpPr>
        <p:spPr>
          <a:xfrm>
            <a:off x="7902000" y="1880213"/>
            <a:ext cx="3852000" cy="1944000"/>
          </a:xfrm>
        </p:spPr>
        <p:txBody>
          <a:bodyPr/>
          <a:lstStyle>
            <a:lvl1pPr>
              <a:spcBef>
                <a:spcPts val="200"/>
              </a:spcBef>
              <a:spcAft>
                <a:spcPts val="200"/>
              </a:spcAft>
              <a:defRPr sz="1200" b="0">
                <a:solidFill>
                  <a:schemeClr val="bg1"/>
                </a:solidFill>
              </a:defRPr>
            </a:lvl1pPr>
            <a:lvl2pPr>
              <a:spcBef>
                <a:spcPts val="200"/>
              </a:spcBef>
              <a:spcAft>
                <a:spcPts val="200"/>
              </a:spcAft>
              <a:defRPr sz="1200" b="0">
                <a:solidFill>
                  <a:schemeClr val="bg1"/>
                </a:solidFill>
              </a:defRPr>
            </a:lvl2pPr>
          </a:lstStyle>
          <a:p>
            <a:pPr lvl="0"/>
            <a:r>
              <a:rPr lang="en-US"/>
              <a:t>Click to edit Master text styles</a:t>
            </a:r>
          </a:p>
          <a:p>
            <a:pPr lvl="1"/>
            <a:r>
              <a:rPr lang="en-US"/>
              <a:t>Second level</a:t>
            </a: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p:nvPr>
        </p:nvSpPr>
        <p:spPr>
          <a:xfrm>
            <a:off x="2106000" y="4256213"/>
            <a:ext cx="3852000" cy="1944000"/>
          </a:xfrm>
        </p:spPr>
        <p:txBody>
          <a:bodyPr/>
          <a:lstStyle>
            <a:lvl1pPr>
              <a:spcBef>
                <a:spcPts val="200"/>
              </a:spcBef>
              <a:spcAft>
                <a:spcPts val="200"/>
              </a:spcAft>
              <a:defRPr sz="1200" b="0">
                <a:solidFill>
                  <a:schemeClr val="bg1"/>
                </a:solidFill>
              </a:defRPr>
            </a:lvl1pPr>
            <a:lvl2pPr>
              <a:spcBef>
                <a:spcPts val="200"/>
              </a:spcBef>
              <a:spcAft>
                <a:spcPts val="200"/>
              </a:spcAft>
              <a:defRPr sz="1200" b="0">
                <a:solidFill>
                  <a:schemeClr val="bg1"/>
                </a:solidFill>
              </a:defRPr>
            </a:lvl2pPr>
          </a:lstStyle>
          <a:p>
            <a:pPr lvl="0"/>
            <a:r>
              <a:rPr lang="en-US"/>
              <a:t>Click to edit Master text styles</a:t>
            </a:r>
          </a:p>
          <a:p>
            <a:pPr lvl="1"/>
            <a:r>
              <a:rPr lang="en-US"/>
              <a:t>Second level</a:t>
            </a: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p:nvPr>
        </p:nvSpPr>
        <p:spPr>
          <a:xfrm>
            <a:off x="7902000" y="4256213"/>
            <a:ext cx="3852000" cy="1944000"/>
          </a:xfrm>
        </p:spPr>
        <p:txBody>
          <a:bodyPr/>
          <a:lstStyle>
            <a:lvl1pPr>
              <a:spcBef>
                <a:spcPts val="200"/>
              </a:spcBef>
              <a:spcAft>
                <a:spcPts val="200"/>
              </a:spcAft>
              <a:defRPr sz="1200" b="0">
                <a:solidFill>
                  <a:schemeClr val="bg1"/>
                </a:solidFill>
              </a:defRPr>
            </a:lvl1pPr>
            <a:lvl2pPr>
              <a:spcBef>
                <a:spcPts val="200"/>
              </a:spcBef>
              <a:spcAft>
                <a:spcPts val="200"/>
              </a:spcAft>
              <a:defRPr sz="1200" b="0">
                <a:solidFill>
                  <a:schemeClr val="bg1"/>
                </a:solidFill>
              </a:defRPr>
            </a:lvl2pPr>
          </a:lstStyle>
          <a:p>
            <a:pPr lvl="0"/>
            <a:r>
              <a:rPr lang="en-US"/>
              <a:t>Click to edit Master text styles</a:t>
            </a:r>
          </a:p>
          <a:p>
            <a:pPr lvl="1"/>
            <a:r>
              <a:rPr lang="en-US"/>
              <a:t>Second level</a:t>
            </a:r>
          </a:p>
        </p:txBody>
      </p:sp>
      <p:sp>
        <p:nvSpPr>
          <p:cNvPr id="10" name="Rectangle 9">
            <a:extLst>
              <a:ext uri="{FF2B5EF4-FFF2-40B4-BE49-F238E27FC236}">
                <a16:creationId xmlns:a16="http://schemas.microsoft.com/office/drawing/2014/main" id="{8B1455C2-E21F-06D2-DADD-7FD7A0C6A036}"/>
              </a:ext>
            </a:extLst>
          </p:cNvPr>
          <p:cNvSpPr/>
          <p:nvPr userDrawn="1"/>
        </p:nvSpPr>
        <p:spPr>
          <a:xfrm>
            <a:off x="6246000" y="1677307"/>
            <a:ext cx="5508000"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userDrawn="1"/>
        </p:nvSpPr>
        <p:spPr>
          <a:xfrm>
            <a:off x="450000" y="1677307"/>
            <a:ext cx="5508000"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userDrawn="1"/>
        </p:nvSpPr>
        <p:spPr>
          <a:xfrm>
            <a:off x="6246000" y="4044901"/>
            <a:ext cx="5508000"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userDrawn="1"/>
        </p:nvSpPr>
        <p:spPr>
          <a:xfrm>
            <a:off x="450000" y="4044901"/>
            <a:ext cx="5508000"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4" name="CaseCode">
            <a:extLst>
              <a:ext uri="{FF2B5EF4-FFF2-40B4-BE49-F238E27FC236}">
                <a16:creationId xmlns:a16="http://schemas.microsoft.com/office/drawing/2014/main" id="{FDC8E98C-87C9-16F4-A3B7-C5661C38BF7F}"/>
              </a:ext>
            </a:extLst>
          </p:cNvPr>
          <p:cNvSpPr txBox="1"/>
          <p:nvPr userDrawn="1"/>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Presentation title</a:t>
            </a:r>
            <a:br>
              <a:rPr lang="en-US" sz="800" noProof="0">
                <a:solidFill>
                  <a:schemeClr val="bg1"/>
                </a:solidFill>
                <a:latin typeface="Calibri" panose="020F0502020204030204" pitchFamily="34" charset="0"/>
                <a:cs typeface="Calibri" panose="020F0502020204030204" pitchFamily="34" charset="0"/>
              </a:rPr>
            </a:br>
            <a:r>
              <a:rPr lang="en-US" sz="8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5" name="Copyright">
            <a:extLst>
              <a:ext uri="{FF2B5EF4-FFF2-40B4-BE49-F238E27FC236}">
                <a16:creationId xmlns:a16="http://schemas.microsoft.com/office/drawing/2014/main" id="{DA3BDEDC-034E-F458-1BCE-FF50B92ED6FA}"/>
              </a:ext>
            </a:extLst>
          </p:cNvPr>
          <p:cNvSpPr txBox="1"/>
          <p:nvPr userDrawn="1"/>
        </p:nvSpPr>
        <p:spPr>
          <a:xfrm>
            <a:off x="466344"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Member firms and DTTL: Insert appropriate copyright</a:t>
            </a:r>
            <a:br>
              <a:rPr lang="en-US" sz="800" noProof="0">
                <a:solidFill>
                  <a:schemeClr val="bg1"/>
                </a:solidFill>
                <a:latin typeface="Calibri" panose="020F0502020204030204" pitchFamily="34" charset="0"/>
                <a:cs typeface="Calibri" panose="020F0502020204030204" pitchFamily="34" charset="0"/>
              </a:rPr>
            </a:br>
            <a:r>
              <a:rPr lang="en-US" sz="8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8" name="TextBox 17">
            <a:extLst>
              <a:ext uri="{FF2B5EF4-FFF2-40B4-BE49-F238E27FC236}">
                <a16:creationId xmlns:a16="http://schemas.microsoft.com/office/drawing/2014/main" id="{3C4639CE-52C7-C346-7162-BAD5CAAE51C5}"/>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Calibri" panose="020F0502020204030204" pitchFamily="34" charset="0"/>
              <a:cs typeface="Calibri" panose="020F0502020204030204" pitchFamily="34" charset="0"/>
            </a:endParaRPr>
          </a:p>
        </p:txBody>
      </p:sp>
      <p:sp>
        <p:nvSpPr>
          <p:cNvPr id="19" name="Text Placeholder 12">
            <a:extLst>
              <a:ext uri="{FF2B5EF4-FFF2-40B4-BE49-F238E27FC236}">
                <a16:creationId xmlns:a16="http://schemas.microsoft.com/office/drawing/2014/main" id="{98DB5DD3-41BE-3F94-9CAF-1C6AF307A274}"/>
              </a:ext>
            </a:extLst>
          </p:cNvPr>
          <p:cNvSpPr>
            <a:spLocks noGrp="1"/>
          </p:cNvSpPr>
          <p:nvPr>
            <p:ph type="body" sz="quarter" idx="36"/>
          </p:nvPr>
        </p:nvSpPr>
        <p:spPr>
          <a:xfrm>
            <a:off x="2106000" y="1880213"/>
            <a:ext cx="3852000" cy="1944000"/>
          </a:xfrm>
        </p:spPr>
        <p:txBody>
          <a:bodyPr/>
          <a:lstStyle>
            <a:lvl1pPr>
              <a:spcBef>
                <a:spcPts val="200"/>
              </a:spcBef>
              <a:spcAft>
                <a:spcPts val="200"/>
              </a:spcAft>
              <a:defRPr sz="1200" b="0">
                <a:solidFill>
                  <a:schemeClr val="bg1"/>
                </a:solidFill>
              </a:defRPr>
            </a:lvl1pPr>
            <a:lvl2pPr>
              <a:spcBef>
                <a:spcPts val="200"/>
              </a:spcBef>
              <a:spcAft>
                <a:spcPts val="200"/>
              </a:spcAft>
              <a:defRPr sz="1200" b="0">
                <a:solidFill>
                  <a:schemeClr val="bg1"/>
                </a:solidFill>
              </a:defRPr>
            </a:lvl2pPr>
          </a:lstStyle>
          <a:p>
            <a:pPr lvl="0"/>
            <a:r>
              <a:rPr lang="en-US"/>
              <a:t>Click to edit Master text styles</a:t>
            </a:r>
          </a:p>
          <a:p>
            <a:pPr lvl="1"/>
            <a:r>
              <a:rPr lang="en-US"/>
              <a:t>Second level</a:t>
            </a:r>
          </a:p>
        </p:txBody>
      </p:sp>
      <p:sp>
        <p:nvSpPr>
          <p:cNvPr id="21" name="Title Placeholder 1">
            <a:extLst>
              <a:ext uri="{FF2B5EF4-FFF2-40B4-BE49-F238E27FC236}">
                <a16:creationId xmlns:a16="http://schemas.microsoft.com/office/drawing/2014/main" id="{7685A54B-009E-7531-D093-9C1E6AA6E824}"/>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mj-lt"/>
              </a:defRPr>
            </a:lvl1pPr>
          </a:lstStyle>
          <a:p>
            <a:r>
              <a:rPr lang="en-US"/>
              <a:t>Click to add title</a:t>
            </a:r>
          </a:p>
        </p:txBody>
      </p:sp>
      <p:sp>
        <p:nvSpPr>
          <p:cNvPr id="22" name="Text Placeholder 8">
            <a:extLst>
              <a:ext uri="{FF2B5EF4-FFF2-40B4-BE49-F238E27FC236}">
                <a16:creationId xmlns:a16="http://schemas.microsoft.com/office/drawing/2014/main" id="{1F09F11E-B446-F54E-C136-D44C717D2011}"/>
              </a:ext>
            </a:extLst>
          </p:cNvPr>
          <p:cNvSpPr>
            <a:spLocks noGrp="1"/>
          </p:cNvSpPr>
          <p:nvPr>
            <p:ph type="body" sz="quarter" idx="13" hasCustomPrompt="1"/>
          </p:nvPr>
        </p:nvSpPr>
        <p:spPr>
          <a:xfrm>
            <a:off x="450000" y="684000"/>
            <a:ext cx="11304000"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defRPr>
            </a:lvl1pPr>
          </a:lstStyle>
          <a:p>
            <a:pPr lvl="0"/>
            <a:r>
              <a:rPr lang="en-US"/>
              <a:t>Click to add subtitle</a:t>
            </a:r>
          </a:p>
        </p:txBody>
      </p:sp>
    </p:spTree>
    <p:extLst>
      <p:ext uri="{BB962C8B-B14F-4D97-AF65-F5344CB8AC3E}">
        <p14:creationId xmlns:p14="http://schemas.microsoft.com/office/powerpoint/2010/main" val="1405609250"/>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Qualifications 2 x 1 - Black">
    <p:bg>
      <p:bgPr>
        <a:solidFill>
          <a:schemeClr val="tx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7C7A401-E3C4-4448-BB60-24DC9B089C72}"/>
              </a:ext>
            </a:extLst>
          </p:cNvPr>
          <p:cNvGraphicFramePr>
            <a:graphicFrameLocks noChangeAspect="1"/>
          </p:cNvGraphicFramePr>
          <p:nvPr userDrawn="1">
            <p:custDataLst>
              <p:tags r:id="rId1"/>
            </p:custDataLst>
            <p:extLst>
              <p:ext uri="{D42A27DB-BD31-4B8C-83A1-F6EECF244321}">
                <p14:modId xmlns:p14="http://schemas.microsoft.com/office/powerpoint/2010/main" val="12102339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0" name="think-cell data - do not delete" hidden="1">
                        <a:extLst>
                          <a:ext uri="{FF2B5EF4-FFF2-40B4-BE49-F238E27FC236}">
                            <a16:creationId xmlns:a16="http://schemas.microsoft.com/office/drawing/2014/main" id="{A7C7A401-E3C4-4448-BB60-24DC9B089C7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Picture Placeholder 11">
            <a:extLst>
              <a:ext uri="{FF2B5EF4-FFF2-40B4-BE49-F238E27FC236}">
                <a16:creationId xmlns:a16="http://schemas.microsoft.com/office/drawing/2014/main" id="{DFBE7610-ECB4-CA89-5B4C-9B0C6E8A5706}"/>
              </a:ext>
            </a:extLst>
          </p:cNvPr>
          <p:cNvSpPr>
            <a:spLocks noGrp="1"/>
          </p:cNvSpPr>
          <p:nvPr>
            <p:ph type="pic" sz="quarter" idx="28"/>
          </p:nvPr>
        </p:nvSpPr>
        <p:spPr>
          <a:xfrm>
            <a:off x="4482000" y="1883664"/>
            <a:ext cx="1476000" cy="1476000"/>
          </a:xfrm>
        </p:spPr>
        <p:txBody>
          <a:bodyPr>
            <a:normAutofit/>
          </a:bodyPr>
          <a:lstStyle>
            <a:lvl1pPr algn="ctr">
              <a:defRPr sz="1200"/>
            </a:lvl1pPr>
          </a:lstStyle>
          <a:p>
            <a:r>
              <a:rPr lang="en-US"/>
              <a:t>Click icon to add picture</a:t>
            </a:r>
            <a:endParaRPr lang="en-GB"/>
          </a:p>
        </p:txBody>
      </p:sp>
      <p:sp>
        <p:nvSpPr>
          <p:cNvPr id="18" name="Picture Placeholder 11">
            <a:extLst>
              <a:ext uri="{FF2B5EF4-FFF2-40B4-BE49-F238E27FC236}">
                <a16:creationId xmlns:a16="http://schemas.microsoft.com/office/drawing/2014/main" id="{6E7011BF-A32B-4689-4585-D2226C8A39D9}"/>
              </a:ext>
            </a:extLst>
          </p:cNvPr>
          <p:cNvSpPr>
            <a:spLocks noGrp="1"/>
          </p:cNvSpPr>
          <p:nvPr>
            <p:ph type="pic" sz="quarter" idx="29"/>
          </p:nvPr>
        </p:nvSpPr>
        <p:spPr>
          <a:xfrm>
            <a:off x="10278000" y="1883664"/>
            <a:ext cx="1476000" cy="1476000"/>
          </a:xfrm>
        </p:spPr>
        <p:txBody>
          <a:bodyPr>
            <a:normAutofit/>
          </a:bodyPr>
          <a:lstStyle>
            <a:lvl1pPr algn="ctr">
              <a:defRPr sz="1200"/>
            </a:lvl1pPr>
          </a:lstStyle>
          <a:p>
            <a:r>
              <a:rPr lang="en-US"/>
              <a:t>Click icon to add picture</a:t>
            </a:r>
            <a:endParaRPr lang="en-GB"/>
          </a:p>
        </p:txBody>
      </p:sp>
      <p:sp>
        <p:nvSpPr>
          <p:cNvPr id="2" name="CaseCode">
            <a:extLst>
              <a:ext uri="{FF2B5EF4-FFF2-40B4-BE49-F238E27FC236}">
                <a16:creationId xmlns:a16="http://schemas.microsoft.com/office/drawing/2014/main" id="{FB1AB0CC-E815-A64E-13C9-1E9087A3F714}"/>
              </a:ext>
            </a:extLst>
          </p:cNvPr>
          <p:cNvSpPr txBox="1"/>
          <p:nvPr userDrawn="1"/>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Presentation title</a:t>
            </a:r>
            <a:br>
              <a:rPr lang="en-US" sz="800" noProof="0">
                <a:solidFill>
                  <a:schemeClr val="bg1"/>
                </a:solidFill>
                <a:latin typeface="Calibri" panose="020F0502020204030204" pitchFamily="34" charset="0"/>
                <a:cs typeface="Calibri" panose="020F0502020204030204" pitchFamily="34" charset="0"/>
              </a:rPr>
            </a:br>
            <a:r>
              <a:rPr lang="en-US" sz="8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3" name="Copyright">
            <a:extLst>
              <a:ext uri="{FF2B5EF4-FFF2-40B4-BE49-F238E27FC236}">
                <a16:creationId xmlns:a16="http://schemas.microsoft.com/office/drawing/2014/main" id="{49CC0FB1-FB29-62ED-E79E-91BD9EE9F124}"/>
              </a:ext>
            </a:extLst>
          </p:cNvPr>
          <p:cNvSpPr txBox="1"/>
          <p:nvPr userDrawn="1"/>
        </p:nvSpPr>
        <p:spPr>
          <a:xfrm>
            <a:off x="466344"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Member firms and DTTL: Insert appropriate copyright</a:t>
            </a:r>
            <a:br>
              <a:rPr lang="en-US" sz="800" noProof="0">
                <a:solidFill>
                  <a:schemeClr val="bg1"/>
                </a:solidFill>
                <a:latin typeface="Calibri" panose="020F0502020204030204" pitchFamily="34" charset="0"/>
                <a:cs typeface="Calibri" panose="020F0502020204030204" pitchFamily="34" charset="0"/>
              </a:rPr>
            </a:br>
            <a:r>
              <a:rPr lang="en-US" sz="8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4" name="TextBox 3">
            <a:extLst>
              <a:ext uri="{FF2B5EF4-FFF2-40B4-BE49-F238E27FC236}">
                <a16:creationId xmlns:a16="http://schemas.microsoft.com/office/drawing/2014/main" id="{C4D2FF46-F2E3-4C53-5DB7-61C38243D4F9}"/>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Calibri" panose="020F0502020204030204" pitchFamily="34" charset="0"/>
              <a:cs typeface="Calibri" panose="020F0502020204030204" pitchFamily="34" charset="0"/>
            </a:endParaRPr>
          </a:p>
        </p:txBody>
      </p:sp>
      <p:sp>
        <p:nvSpPr>
          <p:cNvPr id="9" name="Content Placeholder 3">
            <a:extLst>
              <a:ext uri="{FF2B5EF4-FFF2-40B4-BE49-F238E27FC236}">
                <a16:creationId xmlns:a16="http://schemas.microsoft.com/office/drawing/2014/main" id="{DBEB426A-016F-1B65-1168-FF2235F36C2A}"/>
              </a:ext>
            </a:extLst>
          </p:cNvPr>
          <p:cNvSpPr>
            <a:spLocks noGrp="1"/>
          </p:cNvSpPr>
          <p:nvPr>
            <p:ph sz="quarter" idx="10"/>
          </p:nvPr>
        </p:nvSpPr>
        <p:spPr>
          <a:xfrm>
            <a:off x="450000" y="3491918"/>
            <a:ext cx="5508000" cy="2880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mn-lt"/>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j-lt"/>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n-lt"/>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n-lt"/>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itle Placeholder 1">
            <a:extLst>
              <a:ext uri="{FF2B5EF4-FFF2-40B4-BE49-F238E27FC236}">
                <a16:creationId xmlns:a16="http://schemas.microsoft.com/office/drawing/2014/main" id="{843CBCEE-6AB3-6F31-A1DF-F3F88E17572A}"/>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mj-lt"/>
              </a:defRPr>
            </a:lvl1pPr>
          </a:lstStyle>
          <a:p>
            <a:r>
              <a:rPr lang="en-US"/>
              <a:t>Click to add title</a:t>
            </a:r>
          </a:p>
        </p:txBody>
      </p:sp>
      <p:sp>
        <p:nvSpPr>
          <p:cNvPr id="14" name="Text Placeholder 8">
            <a:extLst>
              <a:ext uri="{FF2B5EF4-FFF2-40B4-BE49-F238E27FC236}">
                <a16:creationId xmlns:a16="http://schemas.microsoft.com/office/drawing/2014/main" id="{8D7B41BD-8ED5-299A-47F6-EACF78AFCB46}"/>
              </a:ext>
            </a:extLst>
          </p:cNvPr>
          <p:cNvSpPr>
            <a:spLocks noGrp="1"/>
          </p:cNvSpPr>
          <p:nvPr>
            <p:ph type="body" sz="quarter" idx="13" hasCustomPrompt="1"/>
          </p:nvPr>
        </p:nvSpPr>
        <p:spPr>
          <a:xfrm>
            <a:off x="450000" y="684000"/>
            <a:ext cx="11304000"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defRPr>
            </a:lvl1pPr>
          </a:lstStyle>
          <a:p>
            <a:pPr lvl="0"/>
            <a:r>
              <a:rPr lang="en-US"/>
              <a:t>Click to add subtitle</a:t>
            </a:r>
          </a:p>
        </p:txBody>
      </p:sp>
      <p:sp>
        <p:nvSpPr>
          <p:cNvPr id="15" name="Rectangle 14">
            <a:extLst>
              <a:ext uri="{FF2B5EF4-FFF2-40B4-BE49-F238E27FC236}">
                <a16:creationId xmlns:a16="http://schemas.microsoft.com/office/drawing/2014/main" id="{16E79773-3B23-90E9-4D48-A5FDB54800E7}"/>
              </a:ext>
            </a:extLst>
          </p:cNvPr>
          <p:cNvSpPr/>
          <p:nvPr userDrawn="1"/>
        </p:nvSpPr>
        <p:spPr>
          <a:xfrm>
            <a:off x="6246000" y="1677307"/>
            <a:ext cx="5508000"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7" name="Rectangle 16">
            <a:extLst>
              <a:ext uri="{FF2B5EF4-FFF2-40B4-BE49-F238E27FC236}">
                <a16:creationId xmlns:a16="http://schemas.microsoft.com/office/drawing/2014/main" id="{6B2B04A7-88BB-C053-00D5-6E084E746EAB}"/>
              </a:ext>
            </a:extLst>
          </p:cNvPr>
          <p:cNvSpPr/>
          <p:nvPr userDrawn="1"/>
        </p:nvSpPr>
        <p:spPr>
          <a:xfrm>
            <a:off x="450000" y="1677307"/>
            <a:ext cx="5508000"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5" name="Content Placeholder 3">
            <a:extLst>
              <a:ext uri="{FF2B5EF4-FFF2-40B4-BE49-F238E27FC236}">
                <a16:creationId xmlns:a16="http://schemas.microsoft.com/office/drawing/2014/main" id="{746306D7-050B-5308-5E5B-4221EF4A7F66}"/>
              </a:ext>
            </a:extLst>
          </p:cNvPr>
          <p:cNvSpPr>
            <a:spLocks noGrp="1"/>
          </p:cNvSpPr>
          <p:nvPr>
            <p:ph sz="quarter" idx="30"/>
          </p:nvPr>
        </p:nvSpPr>
        <p:spPr>
          <a:xfrm>
            <a:off x="6246000" y="3491918"/>
            <a:ext cx="5508000" cy="2880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mn-lt"/>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j-lt"/>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n-lt"/>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n-lt"/>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967723317"/>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End slide -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450000" y="4194287"/>
            <a:ext cx="8528936" cy="2169796"/>
          </a:xfrm>
        </p:spPr>
        <p:txBody>
          <a:bodyPr anchor="b" anchorCtr="0">
            <a:noAutofit/>
          </a:bodyPr>
          <a:lstStyle>
            <a:lvl1pPr>
              <a:lnSpc>
                <a:spcPct val="100000"/>
              </a:lnSpc>
              <a:spcAft>
                <a:spcPts val="450"/>
              </a:spcAft>
              <a:defRPr sz="800" b="0">
                <a:solidFill>
                  <a:schemeClr val="bg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412074" y="4189870"/>
            <a:ext cx="2319503" cy="1725448"/>
          </a:xfrm>
        </p:spPr>
        <p:txBody>
          <a:bodyPr anchor="ctr" anchorCtr="0">
            <a:normAutofit/>
          </a:bodyPr>
          <a:lstStyle>
            <a:lvl1pPr algn="ctr">
              <a:defRPr sz="600" b="0">
                <a:solidFill>
                  <a:schemeClr val="bg1"/>
                </a:solidFill>
              </a:defRPr>
            </a:lvl1pPr>
          </a:lstStyle>
          <a:p>
            <a:r>
              <a:rPr lang="en-GB" sz="675"/>
              <a:t>Insert sponsorship mark here</a:t>
            </a:r>
            <a:endParaRPr lang="en-GB"/>
          </a:p>
        </p:txBody>
      </p:sp>
      <p:sp>
        <p:nvSpPr>
          <p:cNvPr id="8" name="Text Placeholder 7"/>
          <p:cNvSpPr>
            <a:spLocks noGrp="1"/>
          </p:cNvSpPr>
          <p:nvPr>
            <p:ph type="body" sz="quarter" idx="15"/>
          </p:nvPr>
        </p:nvSpPr>
        <p:spPr>
          <a:xfrm>
            <a:off x="9412076" y="6000361"/>
            <a:ext cx="2319501" cy="363722"/>
          </a:xfrm>
        </p:spPr>
        <p:txBody>
          <a:bodyPr anchor="b" anchorCtr="0">
            <a:noAutofit/>
          </a:bodyPr>
          <a:lstStyle>
            <a:lvl1pPr>
              <a:lnSpc>
                <a:spcPct val="100000"/>
              </a:lnSpc>
              <a:defRPr sz="600" b="0">
                <a:solidFill>
                  <a:schemeClr val="bg1"/>
                </a:solidFill>
              </a:defRPr>
            </a:lvl1pPr>
          </a:lstStyle>
          <a:p>
            <a:pPr lvl="0"/>
            <a:r>
              <a:rPr lang="en-US"/>
              <a:t>Click to edit Master text styles</a:t>
            </a:r>
          </a:p>
        </p:txBody>
      </p:sp>
      <p:grpSp>
        <p:nvGrpSpPr>
          <p:cNvPr id="16" name="Group 15">
            <a:extLst>
              <a:ext uri="{FF2B5EF4-FFF2-40B4-BE49-F238E27FC236}">
                <a16:creationId xmlns:a16="http://schemas.microsoft.com/office/drawing/2014/main" id="{8AB860FC-9229-466C-B67B-E6B79E07BB2B}"/>
              </a:ext>
            </a:extLst>
          </p:cNvPr>
          <p:cNvGrpSpPr/>
          <p:nvPr userDrawn="1"/>
        </p:nvGrpSpPr>
        <p:grpSpPr>
          <a:xfrm>
            <a:off x="450000" y="341312"/>
            <a:ext cx="1819656" cy="347472"/>
            <a:chOff x="398463" y="404813"/>
            <a:chExt cx="1627187" cy="307976"/>
          </a:xfrm>
          <a:solidFill>
            <a:schemeClr val="bg1"/>
          </a:solidFill>
        </p:grpSpPr>
        <p:sp>
          <p:nvSpPr>
            <p:cNvPr id="17" name="Oval 5">
              <a:extLst>
                <a:ext uri="{FF2B5EF4-FFF2-40B4-BE49-F238E27FC236}">
                  <a16:creationId xmlns:a16="http://schemas.microsoft.com/office/drawing/2014/main" id="{477D509D-A74E-4D79-8C41-28EE20877109}"/>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8" name="Freeform 6">
              <a:extLst>
                <a:ext uri="{FF2B5EF4-FFF2-40B4-BE49-F238E27FC236}">
                  <a16:creationId xmlns:a16="http://schemas.microsoft.com/office/drawing/2014/main" id="{CC851991-483D-4A9F-8C5F-626DE9D5C1B0}"/>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9" name="Rectangle 7">
              <a:extLst>
                <a:ext uri="{FF2B5EF4-FFF2-40B4-BE49-F238E27FC236}">
                  <a16:creationId xmlns:a16="http://schemas.microsoft.com/office/drawing/2014/main" id="{28FEC250-9F3B-45BC-90AF-4CDE000C2C36}"/>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1" name="Freeform 8">
              <a:extLst>
                <a:ext uri="{FF2B5EF4-FFF2-40B4-BE49-F238E27FC236}">
                  <a16:creationId xmlns:a16="http://schemas.microsoft.com/office/drawing/2014/main" id="{F8494B23-9F67-4108-8FC3-E645BD138AE0}"/>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2" name="Rectangle 9">
              <a:extLst>
                <a:ext uri="{FF2B5EF4-FFF2-40B4-BE49-F238E27FC236}">
                  <a16:creationId xmlns:a16="http://schemas.microsoft.com/office/drawing/2014/main" id="{198EEDBF-F835-40E6-A1D3-AAADC96DD008}"/>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3" name="Rectangle 10">
              <a:extLst>
                <a:ext uri="{FF2B5EF4-FFF2-40B4-BE49-F238E27FC236}">
                  <a16:creationId xmlns:a16="http://schemas.microsoft.com/office/drawing/2014/main" id="{42C9A861-6332-4ADC-88F7-183765B2D793}"/>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4" name="Freeform 11">
              <a:extLst>
                <a:ext uri="{FF2B5EF4-FFF2-40B4-BE49-F238E27FC236}">
                  <a16:creationId xmlns:a16="http://schemas.microsoft.com/office/drawing/2014/main" id="{593BFC01-C985-4400-9F59-CA3E701AB845}"/>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5" name="Freeform 12">
              <a:extLst>
                <a:ext uri="{FF2B5EF4-FFF2-40B4-BE49-F238E27FC236}">
                  <a16:creationId xmlns:a16="http://schemas.microsoft.com/office/drawing/2014/main" id="{4A67BA7C-21CB-474A-9E6A-BCA082851A8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6" name="Freeform 13">
              <a:extLst>
                <a:ext uri="{FF2B5EF4-FFF2-40B4-BE49-F238E27FC236}">
                  <a16:creationId xmlns:a16="http://schemas.microsoft.com/office/drawing/2014/main" id="{315ADC0C-A127-4E52-A974-5D4D91506DAC}"/>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7" name="Freeform 14">
              <a:extLst>
                <a:ext uri="{FF2B5EF4-FFF2-40B4-BE49-F238E27FC236}">
                  <a16:creationId xmlns:a16="http://schemas.microsoft.com/office/drawing/2014/main" id="{71ADF477-53BF-4770-AA08-07332CAF6A7B}"/>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Tree>
    <p:extLst>
      <p:ext uri="{BB962C8B-B14F-4D97-AF65-F5344CB8AC3E}">
        <p14:creationId xmlns:p14="http://schemas.microsoft.com/office/powerpoint/2010/main" val="4021258730"/>
      </p:ext>
    </p:extLst>
  </p:cSld>
  <p:clrMapOvr>
    <a:masterClrMapping/>
  </p:clrMapOvr>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itle, subtitle, 4 columns">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835639" y="2403687"/>
            <a:ext cx="2292456" cy="2632934"/>
          </a:xfrm>
          <a:prstGeom prst="rect">
            <a:avLst/>
          </a:prstGeom>
        </p:spPr>
        <p:txBody>
          <a:bodyPr lIns="0" rIns="0">
            <a:noAutofit/>
          </a:bodyPr>
          <a:lstStyle>
            <a:lvl1pPr marL="0" indent="0" algn="l">
              <a:buFontTx/>
              <a:buNone/>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1pPr>
            <a:lvl2pPr marL="139700" indent="-139700" algn="l">
              <a:buClrTx/>
              <a:buSzPct val="100000"/>
              <a:buFont typeface="Arial" panose="020B0604020202020204" pitchFamily="34" charset="0"/>
              <a:buChar char="•"/>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2pPr>
            <a:lvl3pPr marL="304800" indent="-139700" algn="l">
              <a:buClrTx/>
              <a:buSzPct val="100000"/>
              <a:buFont typeface="Arial" panose="020B0604020202020204" pitchFamily="34" charset="0"/>
              <a:buChar char="−"/>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3pPr>
            <a:lvl4pPr marL="469900" indent="-139700" algn="l">
              <a:buClrTx/>
              <a:buSzPct val="100000"/>
              <a:buFont typeface="Arial" panose="020B0604020202020204" pitchFamily="34" charset="0"/>
              <a:buChar char="◦"/>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4pPr>
            <a:lvl5pPr marL="635000" indent="-139700" algn="l">
              <a:buClrTx/>
              <a:buSzPct val="100000"/>
              <a:buFont typeface="Arial" panose="020B0604020202020204" pitchFamily="34" charset="0"/>
              <a:buChar char="−"/>
              <a:tabLst>
                <a:tab pos="5029200" algn="r"/>
              </a:tabLst>
              <a:defRPr b="0" i="0" baseline="0">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Placeholder 1">
            <a:extLst>
              <a:ext uri="{FF2B5EF4-FFF2-40B4-BE49-F238E27FC236}">
                <a16:creationId xmlns:a16="http://schemas.microsoft.com/office/drawing/2014/main" id="{24D326FF-AE7C-9AB5-3C7E-0CF62E0237E7}"/>
              </a:ext>
            </a:extLst>
          </p:cNvPr>
          <p:cNvSpPr>
            <a:spLocks noGrp="1"/>
          </p:cNvSpPr>
          <p:nvPr>
            <p:ph type="title" hasCustomPrompt="1"/>
          </p:nvPr>
        </p:nvSpPr>
        <p:spPr>
          <a:xfrm>
            <a:off x="501650" y="317501"/>
            <a:ext cx="10356850" cy="330200"/>
          </a:xfrm>
          <a:prstGeom prst="rect">
            <a:avLst/>
          </a:prstGeom>
        </p:spPr>
        <p:txBody>
          <a:bodyPr vert="horz" lIns="0" tIns="0" rIns="0" bIns="0" rtlCol="0" anchor="t" anchorCtr="0">
            <a:noAutofit/>
          </a:bodyPr>
          <a:lstStyle>
            <a:lvl1pPr>
              <a:defRPr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Click to add title</a:t>
            </a:r>
          </a:p>
        </p:txBody>
      </p:sp>
      <p:sp>
        <p:nvSpPr>
          <p:cNvPr id="5" name="Text Placeholder 8">
            <a:extLst>
              <a:ext uri="{FF2B5EF4-FFF2-40B4-BE49-F238E27FC236}">
                <a16:creationId xmlns:a16="http://schemas.microsoft.com/office/drawing/2014/main" id="{63928FDE-49CA-3512-9A13-668759DF00BF}"/>
              </a:ext>
            </a:extLst>
          </p:cNvPr>
          <p:cNvSpPr>
            <a:spLocks noGrp="1"/>
          </p:cNvSpPr>
          <p:nvPr>
            <p:ph type="body" sz="quarter" idx="13" hasCustomPrompt="1"/>
          </p:nvPr>
        </p:nvSpPr>
        <p:spPr>
          <a:xfrm>
            <a:off x="501650" y="717412"/>
            <a:ext cx="10356850" cy="691443"/>
          </a:xfrm>
          <a:prstGeom prst="rect">
            <a:avLst/>
          </a:prstGeom>
        </p:spPr>
        <p:txBody>
          <a:bodyPr lIns="0" tIns="0" rIns="0" bIns="0">
            <a:noAutofit/>
          </a:bodyPr>
          <a:lstStyle>
            <a:lvl1pPr marL="0" indent="0">
              <a:buNone/>
              <a:defRPr sz="1200" b="0">
                <a:solidFill>
                  <a:schemeClr val="tx2"/>
                </a:solidFill>
              </a:defRPr>
            </a:lvl1pPr>
          </a:lstStyle>
          <a:p>
            <a:pPr lvl="0"/>
            <a:r>
              <a:rPr lang="en-US"/>
              <a:t>Click to add subtitle</a:t>
            </a:r>
          </a:p>
        </p:txBody>
      </p:sp>
      <p:sp>
        <p:nvSpPr>
          <p:cNvPr id="10" name="Content Placeholder 3">
            <a:extLst>
              <a:ext uri="{FF2B5EF4-FFF2-40B4-BE49-F238E27FC236}">
                <a16:creationId xmlns:a16="http://schemas.microsoft.com/office/drawing/2014/main" id="{FB267EDB-21C0-8721-F73D-676D88507660}"/>
              </a:ext>
            </a:extLst>
          </p:cNvPr>
          <p:cNvSpPr>
            <a:spLocks noGrp="1"/>
          </p:cNvSpPr>
          <p:nvPr>
            <p:ph sz="quarter" idx="14"/>
          </p:nvPr>
        </p:nvSpPr>
        <p:spPr>
          <a:xfrm>
            <a:off x="3543213" y="2403687"/>
            <a:ext cx="2292456" cy="2632934"/>
          </a:xfrm>
          <a:prstGeom prst="rect">
            <a:avLst/>
          </a:prstGeom>
        </p:spPr>
        <p:txBody>
          <a:bodyPr lIns="0" rIns="0">
            <a:noAutofit/>
          </a:bodyPr>
          <a:lstStyle>
            <a:lvl1pPr marL="0" indent="0" algn="l">
              <a:buFontTx/>
              <a:buNone/>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1pPr>
            <a:lvl2pPr marL="139700" indent="-139700" algn="l">
              <a:buClrTx/>
              <a:buSzPct val="100000"/>
              <a:buFont typeface="Arial" panose="020B0604020202020204" pitchFamily="34" charset="0"/>
              <a:buChar char="•"/>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2pPr>
            <a:lvl3pPr marL="304800" indent="-139700" algn="l">
              <a:buClrTx/>
              <a:buSzPct val="100000"/>
              <a:buFont typeface="Arial" panose="020B0604020202020204" pitchFamily="34" charset="0"/>
              <a:buChar char="−"/>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3pPr>
            <a:lvl4pPr marL="469900" indent="-139700" algn="l">
              <a:buClrTx/>
              <a:buSzPct val="100000"/>
              <a:buFont typeface="Arial" panose="020B0604020202020204" pitchFamily="34" charset="0"/>
              <a:buChar char="◦"/>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4pPr>
            <a:lvl5pPr marL="635000" indent="-139700" algn="l">
              <a:buClrTx/>
              <a:buSzPct val="100000"/>
              <a:buFont typeface="Arial" panose="020B0604020202020204" pitchFamily="34" charset="0"/>
              <a:buChar char="−"/>
              <a:tabLst>
                <a:tab pos="5029200" algn="r"/>
              </a:tabLst>
              <a:defRPr b="0" i="0" baseline="0">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Placeholder 3">
            <a:extLst>
              <a:ext uri="{FF2B5EF4-FFF2-40B4-BE49-F238E27FC236}">
                <a16:creationId xmlns:a16="http://schemas.microsoft.com/office/drawing/2014/main" id="{BE8A0397-6296-B3FC-2C03-DE7F99D6708F}"/>
              </a:ext>
            </a:extLst>
          </p:cNvPr>
          <p:cNvSpPr>
            <a:spLocks noGrp="1"/>
          </p:cNvSpPr>
          <p:nvPr>
            <p:ph sz="quarter" idx="15"/>
          </p:nvPr>
        </p:nvSpPr>
        <p:spPr>
          <a:xfrm>
            <a:off x="6250788" y="2403687"/>
            <a:ext cx="2292456" cy="2632934"/>
          </a:xfrm>
          <a:prstGeom prst="rect">
            <a:avLst/>
          </a:prstGeom>
        </p:spPr>
        <p:txBody>
          <a:bodyPr lIns="0" rIns="0">
            <a:noAutofit/>
          </a:bodyPr>
          <a:lstStyle>
            <a:lvl1pPr marL="0" indent="0" algn="l">
              <a:buFontTx/>
              <a:buNone/>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1pPr>
            <a:lvl2pPr marL="139700" indent="-139700" algn="l">
              <a:buClrTx/>
              <a:buSzPct val="100000"/>
              <a:buFont typeface="Arial" panose="020B0604020202020204" pitchFamily="34" charset="0"/>
              <a:buChar char="•"/>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2pPr>
            <a:lvl3pPr marL="304800" indent="-139700" algn="l">
              <a:buClrTx/>
              <a:buSzPct val="100000"/>
              <a:buFont typeface="Arial" panose="020B0604020202020204" pitchFamily="34" charset="0"/>
              <a:buChar char="−"/>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3pPr>
            <a:lvl4pPr marL="469900" indent="-139700" algn="l">
              <a:buClrTx/>
              <a:buSzPct val="100000"/>
              <a:buFont typeface="Arial" panose="020B0604020202020204" pitchFamily="34" charset="0"/>
              <a:buChar char="◦"/>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4pPr>
            <a:lvl5pPr marL="635000" indent="-139700" algn="l">
              <a:buClrTx/>
              <a:buSzPct val="100000"/>
              <a:buFont typeface="Arial" panose="020B0604020202020204" pitchFamily="34" charset="0"/>
              <a:buChar char="−"/>
              <a:tabLst>
                <a:tab pos="5029200" algn="r"/>
              </a:tabLst>
              <a:defRPr b="0" i="0" baseline="0">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ntent Placeholder 3">
            <a:extLst>
              <a:ext uri="{FF2B5EF4-FFF2-40B4-BE49-F238E27FC236}">
                <a16:creationId xmlns:a16="http://schemas.microsoft.com/office/drawing/2014/main" id="{BE0C8ABF-2AE7-6082-F25B-9706DF4CB941}"/>
              </a:ext>
            </a:extLst>
          </p:cNvPr>
          <p:cNvSpPr>
            <a:spLocks noGrp="1"/>
          </p:cNvSpPr>
          <p:nvPr>
            <p:ph sz="quarter" idx="16"/>
          </p:nvPr>
        </p:nvSpPr>
        <p:spPr>
          <a:xfrm>
            <a:off x="8958362" y="2403687"/>
            <a:ext cx="2292456" cy="2632934"/>
          </a:xfrm>
          <a:prstGeom prst="rect">
            <a:avLst/>
          </a:prstGeom>
        </p:spPr>
        <p:txBody>
          <a:bodyPr lIns="0" rIns="0">
            <a:noAutofit/>
          </a:bodyPr>
          <a:lstStyle>
            <a:lvl1pPr marL="0" indent="0" algn="l">
              <a:buFontTx/>
              <a:buNone/>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1pPr>
            <a:lvl2pPr marL="139700" indent="-139700" algn="l">
              <a:buClrTx/>
              <a:buSzPct val="100000"/>
              <a:buFont typeface="Arial" panose="020B0604020202020204" pitchFamily="34" charset="0"/>
              <a:buChar char="•"/>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2pPr>
            <a:lvl3pPr marL="304800" indent="-139700" algn="l">
              <a:buClrTx/>
              <a:buSzPct val="100000"/>
              <a:buFont typeface="Arial" panose="020B0604020202020204" pitchFamily="34" charset="0"/>
              <a:buChar char="−"/>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3pPr>
            <a:lvl4pPr marL="469900" indent="-139700" algn="l">
              <a:buClrTx/>
              <a:buSzPct val="100000"/>
              <a:buFont typeface="Arial" panose="020B0604020202020204" pitchFamily="34" charset="0"/>
              <a:buChar char="◦"/>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4pPr>
            <a:lvl5pPr marL="635000" indent="-139700" algn="l">
              <a:buClrTx/>
              <a:buSzPct val="100000"/>
              <a:buFont typeface="Arial" panose="020B0604020202020204" pitchFamily="34" charset="0"/>
              <a:buChar char="−"/>
              <a:tabLst>
                <a:tab pos="5029200" algn="r"/>
              </a:tabLst>
              <a:defRPr b="0" i="0" baseline="0">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Picture Placeholder 15">
            <a:extLst>
              <a:ext uri="{FF2B5EF4-FFF2-40B4-BE49-F238E27FC236}">
                <a16:creationId xmlns:a16="http://schemas.microsoft.com/office/drawing/2014/main" id="{979ECF92-7282-C9E0-0D8F-614229047C76}"/>
              </a:ext>
            </a:extLst>
          </p:cNvPr>
          <p:cNvSpPr>
            <a:spLocks noGrp="1"/>
          </p:cNvSpPr>
          <p:nvPr>
            <p:ph type="pic" sz="quarter" idx="17" hasCustomPrompt="1"/>
          </p:nvPr>
        </p:nvSpPr>
        <p:spPr>
          <a:xfrm>
            <a:off x="0" y="5336128"/>
            <a:ext cx="12192000" cy="695325"/>
          </a:xfrm>
        </p:spPr>
        <p:txBody>
          <a:bodyPr anchor="ctr"/>
          <a:lstStyle>
            <a:lvl1pPr algn="ctr">
              <a:defRPr/>
            </a:lvl1pPr>
          </a:lstStyle>
          <a:p>
            <a:r>
              <a:rPr lang="en-US"/>
              <a:t>d</a:t>
            </a:r>
          </a:p>
        </p:txBody>
      </p:sp>
    </p:spTree>
    <p:extLst>
      <p:ext uri="{BB962C8B-B14F-4D97-AF65-F5344CB8AC3E}">
        <p14:creationId xmlns:p14="http://schemas.microsoft.com/office/powerpoint/2010/main" val="3332663640"/>
      </p:ext>
    </p:extLst>
  </p:cSld>
  <p:clrMapOvr>
    <a:masterClrMapping/>
  </p:clrMapOvr>
  <p:transition>
    <p:fade/>
  </p:transition>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7_Divider - Deloitte Accessible Green">
    <p:bg bwMode="gray">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C68CDBD-2D93-7BE4-7FEA-BBD0C02C1BA0}"/>
              </a:ext>
            </a:extLst>
          </p:cNvPr>
          <p:cNvSpPr>
            <a:spLocks noGrp="1"/>
          </p:cNvSpPr>
          <p:nvPr>
            <p:ph type="title" hasCustomPrompt="1"/>
          </p:nvPr>
        </p:nvSpPr>
        <p:spPr>
          <a:xfrm>
            <a:off x="5358984" y="304800"/>
            <a:ext cx="6476262" cy="342900"/>
          </a:xfrm>
        </p:spPr>
        <p:txBody>
          <a:bodyPr/>
          <a:lstStyle>
            <a:lvl1pPr>
              <a:defRPr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This is a case study</a:t>
            </a:r>
            <a:endParaRPr lang="en-GB"/>
          </a:p>
        </p:txBody>
      </p:sp>
      <p:sp>
        <p:nvSpPr>
          <p:cNvPr id="8" name="Text Placeholder 8">
            <a:extLst>
              <a:ext uri="{FF2B5EF4-FFF2-40B4-BE49-F238E27FC236}">
                <a16:creationId xmlns:a16="http://schemas.microsoft.com/office/drawing/2014/main" id="{44656FF1-E990-ECCC-C277-FD5EBA28ED9A}"/>
              </a:ext>
            </a:extLst>
          </p:cNvPr>
          <p:cNvSpPr>
            <a:spLocks noGrp="1"/>
          </p:cNvSpPr>
          <p:nvPr>
            <p:ph type="body" sz="quarter" idx="13" hasCustomPrompt="1"/>
          </p:nvPr>
        </p:nvSpPr>
        <p:spPr>
          <a:xfrm>
            <a:off x="5358984" y="679881"/>
            <a:ext cx="6476261" cy="757255"/>
          </a:xfrm>
          <a:prstGeom prst="rect">
            <a:avLst/>
          </a:prstGeom>
        </p:spPr>
        <p:txBody>
          <a:bodyPr vert="horz" lIns="0" tIns="0" rIns="0" bIns="0" rtlCol="0">
            <a:noAutofit/>
          </a:bodyPr>
          <a:lstStyle>
            <a:lvl1pPr>
              <a:defRPr lang="en-US" dirty="0">
                <a:solidFill>
                  <a:schemeClr val="tx2"/>
                </a:solidFill>
              </a:defRPr>
            </a:lvl1pPr>
          </a:lstStyle>
          <a:p>
            <a:pPr lvl="0"/>
            <a:r>
              <a:rPr lang="en-US"/>
              <a:t>This is a case study subhead</a:t>
            </a:r>
          </a:p>
        </p:txBody>
      </p:sp>
      <p:sp>
        <p:nvSpPr>
          <p:cNvPr id="9" name="Text Placeholder 8">
            <a:extLst>
              <a:ext uri="{FF2B5EF4-FFF2-40B4-BE49-F238E27FC236}">
                <a16:creationId xmlns:a16="http://schemas.microsoft.com/office/drawing/2014/main" id="{B655FD1E-4DD0-729B-DA2B-F157D50325C9}"/>
              </a:ext>
            </a:extLst>
          </p:cNvPr>
          <p:cNvSpPr>
            <a:spLocks noGrp="1"/>
          </p:cNvSpPr>
          <p:nvPr>
            <p:ph type="body" sz="quarter" idx="17"/>
          </p:nvPr>
        </p:nvSpPr>
        <p:spPr>
          <a:xfrm>
            <a:off x="5358984" y="1496292"/>
            <a:ext cx="6476261" cy="4885458"/>
          </a:xfrm>
        </p:spPr>
        <p:txBody>
          <a:bodyPr>
            <a:noAutofit/>
          </a:bodyPr>
          <a:lstStyle>
            <a:lvl1pPr>
              <a:spcAft>
                <a:spcPts val="1000"/>
              </a:spcAft>
              <a:defRPr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vl2pPr>
              <a:spcAft>
                <a:spcPts val="1000"/>
              </a:spcAft>
              <a:defRPr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0" indent="0">
              <a:spcAft>
                <a:spcPts val="1000"/>
              </a:spcAft>
              <a:buNone/>
              <a:defRPr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76400" indent="-176400">
              <a:spcAft>
                <a:spcPts val="1000"/>
              </a:spcAft>
              <a:buFont typeface="Arial" panose="020B0604020202020204" pitchFamily="34" charset="0"/>
              <a:buChar char="•"/>
              <a:defRPr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56400" indent="-176400">
              <a:spcAft>
                <a:spcPts val="1000"/>
              </a:spcAft>
              <a:defRPr b="0" i="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01677716"/>
      </p:ext>
    </p:extLst>
  </p:cSld>
  <p:clrMapOvr>
    <a:masterClrMapping/>
  </p:clrMapOvr>
  <p:transition>
    <p:fade/>
  </p:transition>
  <p:hf hd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 name="Footer Placeholder 1"/>
          <p:cNvSpPr>
            <a:spLocks noGrp="1"/>
          </p:cNvSpPr>
          <p:nvPr>
            <p:ph type="ftr" sz="quarter" idx="14"/>
          </p:nvPr>
        </p:nvSpPr>
        <p:spPr/>
        <p:txBody>
          <a:bodyPr/>
          <a:lstStyle/>
          <a:p>
            <a:r>
              <a:rPr lang="en-GB"/>
              <a:t>DORA UK Sales Toolkit Internal Only</a:t>
            </a:r>
          </a:p>
        </p:txBody>
      </p:sp>
    </p:spTree>
    <p:extLst>
      <p:ext uri="{BB962C8B-B14F-4D97-AF65-F5344CB8AC3E}">
        <p14:creationId xmlns:p14="http://schemas.microsoft.com/office/powerpoint/2010/main" val="2584855091"/>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cSld name="End slide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bg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a:t>Insert sponsorship mark here</a:t>
            </a:r>
            <a:endParaRPr lang="en-GB"/>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bg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232005038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ags" Target="../tags/tag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oleObject" Target="../embeddings/oleObject1.bin"/><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34"/>
            </p:custDataLst>
            <p:extLst>
              <p:ext uri="{D42A27DB-BD31-4B8C-83A1-F6EECF244321}">
                <p14:modId xmlns:p14="http://schemas.microsoft.com/office/powerpoint/2010/main" val="2630452337"/>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5" imgW="270" imgH="270" progId="TCLayout.ActiveDocument.1">
                  <p:embed/>
                </p:oleObj>
              </mc:Choice>
              <mc:Fallback>
                <p:oleObj name="think-cell Slide" r:id="rId35" imgW="270" imgH="270" progId="TCLayout.ActiveDocument.1">
                  <p:embed/>
                  <p:pic>
                    <p:nvPicPr>
                      <p:cNvPr id="4" name="Object 3" hidden="1"/>
                      <p:cNvPicPr/>
                      <p:nvPr/>
                    </p:nvPicPr>
                    <p:blipFill>
                      <a:blip r:embed="rId36"/>
                      <a:stretch>
                        <a:fillRect/>
                      </a:stretch>
                    </p:blipFill>
                    <p:spPr>
                      <a:xfrm>
                        <a:off x="2119" y="1591"/>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50000" y="345664"/>
            <a:ext cx="11304000" cy="340136"/>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450000" y="1714500"/>
            <a:ext cx="11304000" cy="4648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Box 5">
            <a:extLst>
              <a:ext uri="{FF2B5EF4-FFF2-40B4-BE49-F238E27FC236}">
                <a16:creationId xmlns:a16="http://schemas.microsoft.com/office/drawing/2014/main" id="{DB0FB43B-1DFD-06E3-1D6C-EDB373CF2C39}"/>
              </a:ext>
            </a:extLst>
          </p:cNvPr>
          <p:cNvSpPr txBox="1"/>
          <p:nvPr userDrawn="1"/>
        </p:nvSpPr>
        <p:spPr>
          <a:xfrm>
            <a:off x="11382377" y="6534155"/>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tx1"/>
              </a:solidFill>
              <a:latin typeface="Calibri" panose="020F0502020204030204" pitchFamily="34" charset="0"/>
              <a:cs typeface="Calibri" panose="020F0502020204030204" pitchFamily="34" charset="0"/>
            </a:endParaRPr>
          </a:p>
        </p:txBody>
      </p:sp>
      <p:sp>
        <p:nvSpPr>
          <p:cNvPr id="7" name="CaseCode">
            <a:extLst>
              <a:ext uri="{FF2B5EF4-FFF2-40B4-BE49-F238E27FC236}">
                <a16:creationId xmlns:a16="http://schemas.microsoft.com/office/drawing/2014/main" id="{BB47D274-1453-A644-7274-AB8DF9AC2AB8}"/>
              </a:ext>
            </a:extLst>
          </p:cNvPr>
          <p:cNvSpPr txBox="1"/>
          <p:nvPr userDrawn="1"/>
        </p:nvSpPr>
        <p:spPr>
          <a:xfrm>
            <a:off x="6335184" y="6519673"/>
            <a:ext cx="4896560" cy="12311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b="0">
                <a:solidFill>
                  <a:schemeClr val="tx1"/>
                </a:solidFill>
                <a:latin typeface="Calibri Light"/>
                <a:ea typeface="Open Sans"/>
                <a:cs typeface="Calibri Light"/>
              </a:rPr>
              <a:t>Capstone 2024 – Student Response Template</a:t>
            </a:r>
          </a:p>
        </p:txBody>
      </p:sp>
      <p:sp>
        <p:nvSpPr>
          <p:cNvPr id="3" name="Copyright">
            <a:extLst>
              <a:ext uri="{FF2B5EF4-FFF2-40B4-BE49-F238E27FC236}">
                <a16:creationId xmlns:a16="http://schemas.microsoft.com/office/drawing/2014/main" id="{58AB1AAF-7221-F052-D55D-9BFD8604E41A}"/>
              </a:ext>
            </a:extLst>
          </p:cNvPr>
          <p:cNvSpPr txBox="1"/>
          <p:nvPr userDrawn="1"/>
        </p:nvSpPr>
        <p:spPr>
          <a:xfrm>
            <a:off x="442913" y="654621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tx1"/>
                </a:solidFill>
                <a:latin typeface="Calibri" panose="020F0502020204030204" pitchFamily="34" charset="0"/>
                <a:cs typeface="Calibri" panose="020F0502020204030204" pitchFamily="34" charset="0"/>
              </a:rPr>
              <a:t>Copyright © 2024 Deloitte Development LLC. All rights reserved.</a:t>
            </a:r>
          </a:p>
        </p:txBody>
      </p:sp>
    </p:spTree>
    <p:extLst>
      <p:ext uri="{BB962C8B-B14F-4D97-AF65-F5344CB8AC3E}">
        <p14:creationId xmlns:p14="http://schemas.microsoft.com/office/powerpoint/2010/main" val="26512843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transition>
    <p:fade/>
  </p:transition>
  <p:hf hdr="0" dt="0"/>
  <p:txStyles>
    <p:titleStyle>
      <a:lvl1pPr algn="l" defTabSz="6858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685800" rtl="0" eaLnBrk="1" latinLnBrk="0" hangingPunct="1">
        <a:lnSpc>
          <a:spcPct val="100000"/>
        </a:lnSpc>
        <a:spcBef>
          <a:spcPts val="200"/>
        </a:spcBef>
        <a:spcAft>
          <a:spcPts val="200"/>
        </a:spcAft>
        <a:buSzPct val="100000"/>
        <a:buFontTx/>
        <a:buNone/>
        <a:defRPr sz="1200" b="0" kern="1200">
          <a:solidFill>
            <a:schemeClr val="tx1"/>
          </a:solidFill>
          <a:latin typeface="+mn-lt"/>
          <a:ea typeface="+mn-ea"/>
          <a:cs typeface="Calibri Light" panose="020F03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mj-lt"/>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mn-lt"/>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dirty="0" smtClean="0">
          <a:solidFill>
            <a:schemeClr val="tx1"/>
          </a:solidFill>
          <a:latin typeface="+mn-lt"/>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45" orient="horz" pos="4008">
          <p15:clr>
            <a:srgbClr val="F26B43"/>
          </p15:clr>
        </p15:guide>
        <p15:guide id="49" orient="horz" pos="432">
          <p15:clr>
            <a:srgbClr val="F26B43"/>
          </p15:clr>
        </p15:guide>
        <p15:guide id="68" orient="horz" pos="4104">
          <p15:clr>
            <a:srgbClr val="F26B43"/>
          </p15:clr>
        </p15:guide>
        <p15:guide id="70" orient="horz" pos="1071">
          <p15:clr>
            <a:srgbClr val="F26B43"/>
          </p15:clr>
        </p15:guide>
        <p15:guide id="71" orient="horz" pos="216">
          <p15:clr>
            <a:srgbClr val="F26B43"/>
          </p15:clr>
        </p15:guide>
        <p15:guide id="72" pos="3840">
          <p15:clr>
            <a:srgbClr val="F26B43"/>
          </p15:clr>
        </p15:guide>
        <p15:guide id="73" pos="3931">
          <p15:clr>
            <a:srgbClr val="F26B43"/>
          </p15:clr>
        </p15:guide>
        <p15:guide id="74" pos="279">
          <p15:clr>
            <a:srgbClr val="F26B43"/>
          </p15:clr>
        </p15:guide>
        <p15:guide id="76" pos="3749">
          <p15:clr>
            <a:srgbClr val="F26B43"/>
          </p15:clr>
        </p15:guide>
        <p15:guide id="84" pos="740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hyperlink" Target="mailto:farhatsherani08@gmail.com" TargetMode="External"/><Relationship Id="rId2" Type="http://schemas.openxmlformats.org/officeDocument/2006/relationships/image" Target="../media/image5.emf"/><Relationship Id="rId1" Type="http://schemas.openxmlformats.org/officeDocument/2006/relationships/slideLayout" Target="../slideLayouts/slideLayout1.xml"/><Relationship Id="rId6" Type="http://schemas.openxmlformats.org/officeDocument/2006/relationships/hyperlink" Target="mailto:Suhailinamdar1002@gmail.com" TargetMode="External"/><Relationship Id="rId5" Type="http://schemas.openxmlformats.org/officeDocument/2006/relationships/hyperlink" Target="mailto:shalvi.khare2007@gmail.com" TargetMode="External"/><Relationship Id="rId4" Type="http://schemas.openxmlformats.org/officeDocument/2006/relationships/hyperlink" Target="mailto:sheranifarha4@gmil.com"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hyperlink" Target="http://www.deloitte.com/about" TargetMode="External"/><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32.xml"/><Relationship Id="rId6" Type="http://schemas.openxmlformats.org/officeDocument/2006/relationships/customXml" Target="../ink/ink2.xml"/><Relationship Id="rId5" Type="http://schemas.openxmlformats.org/officeDocument/2006/relationships/image" Target="../media/image6.png"/><Relationship Id="rId4" Type="http://schemas.openxmlformats.org/officeDocument/2006/relationships/customXml" Target="../ink/ink1.xml"/><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349D93CB-64DB-E058-A85B-1A5E1FCD8BCC}"/>
              </a:ext>
            </a:extLst>
          </p:cNvPr>
          <p:cNvSpPr txBox="1">
            <a:spLocks/>
          </p:cNvSpPr>
          <p:nvPr/>
        </p:nvSpPr>
        <p:spPr bwMode="gray">
          <a:xfrm>
            <a:off x="450484" y="5461001"/>
            <a:ext cx="4466956" cy="439286"/>
          </a:xfrm>
          <a:prstGeom prst="rect">
            <a:avLst/>
          </a:prstGeom>
        </p:spPr>
        <p:txBody>
          <a:bodyPr vert="horz" lIns="0" tIns="0" rIns="0" bIns="0" rtlCol="0" anchor="t" anchorCtr="0">
            <a:noAutofit/>
          </a:bodyPr>
          <a:lstStyle>
            <a:lvl1pPr algn="l" defTabSz="685800" rtl="0" eaLnBrk="1" latinLnBrk="0" hangingPunct="1">
              <a:lnSpc>
                <a:spcPts val="3200"/>
              </a:lnSpc>
              <a:spcBef>
                <a:spcPct val="0"/>
              </a:spcBef>
              <a:buNone/>
              <a:defRPr sz="3200" b="0" kern="120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pPr marL="0" marR="0" lvl="0" indent="0" algn="l" defTabSz="685800" rtl="0" eaLnBrk="1" fontAlgn="auto" latinLnBrk="0" hangingPunct="1">
              <a:lnSpc>
                <a:spcPts val="3400"/>
              </a:lnSpc>
              <a:spcBef>
                <a:spcPct val="0"/>
              </a:spcBef>
              <a:spcAft>
                <a:spcPts val="0"/>
              </a:spcAft>
              <a:buClrTx/>
              <a:buSzTx/>
              <a:buFontTx/>
              <a:buNone/>
              <a:tabLst/>
              <a:defRPr/>
            </a:pPr>
            <a:r>
              <a:rPr kumimoji="0" lang="en-US" sz="2400" b="0" i="0" u="none" strike="noStrike" kern="1200" cap="none" spc="0" normalizeH="0" baseline="0" noProof="0">
                <a:ln>
                  <a:noFill/>
                </a:ln>
                <a:solidFill>
                  <a:srgbClr val="92D050"/>
                </a:solidFill>
                <a:effectLst/>
                <a:uLnTx/>
                <a:uFillTx/>
                <a:latin typeface="Calibri"/>
                <a:ea typeface="Open Sans Semibold" panose="020B0706030804020204" pitchFamily="34" charset="0"/>
                <a:cs typeface="Open Sans Semibold" panose="020B0706030804020204" pitchFamily="34" charset="0"/>
              </a:rPr>
              <a:t>Capstone 2026 </a:t>
            </a:r>
            <a:r>
              <a:rPr kumimoji="0" lang="en-US" sz="2400" b="0" i="0" u="none" strike="noStrike" kern="1200" cap="none" spc="0" normalizeH="0" baseline="0" noProof="0">
                <a:ln>
                  <a:noFill/>
                </a:ln>
                <a:solidFill>
                  <a:srgbClr val="FFFFFF"/>
                </a:solidFill>
                <a:effectLst/>
                <a:uLnTx/>
                <a:uFillTx/>
                <a:latin typeface="Calibri"/>
                <a:ea typeface="Open Sans Semibold" panose="020B0706030804020204" pitchFamily="34" charset="0"/>
                <a:cs typeface="Open Sans Semibold" panose="020B0706030804020204" pitchFamily="34" charset="0"/>
              </a:rPr>
              <a:t>–</a:t>
            </a:r>
          </a:p>
        </p:txBody>
      </p:sp>
      <p:sp>
        <p:nvSpPr>
          <p:cNvPr id="9" name="Text Placeholder 1">
            <a:extLst>
              <a:ext uri="{FF2B5EF4-FFF2-40B4-BE49-F238E27FC236}">
                <a16:creationId xmlns:a16="http://schemas.microsoft.com/office/drawing/2014/main" id="{809167F9-051B-3E27-49C6-B773C3A69084}"/>
              </a:ext>
            </a:extLst>
          </p:cNvPr>
          <p:cNvSpPr txBox="1">
            <a:spLocks/>
          </p:cNvSpPr>
          <p:nvPr/>
        </p:nvSpPr>
        <p:spPr>
          <a:xfrm>
            <a:off x="450484" y="6226175"/>
            <a:ext cx="3898311" cy="273050"/>
          </a:xfrm>
          <a:prstGeom prst="rect">
            <a:avLst/>
          </a:prstGeom>
        </p:spPr>
        <p:txBody>
          <a:bodyPr vert="horz" lIns="0" tIns="0" rIns="0" bIns="0" rtlCol="0" anchor="b">
            <a:noAutofit/>
          </a:bodyPr>
          <a:lstStyle>
            <a:lvl1pPr marL="0" indent="0" algn="l" defTabSz="685800" rtl="0" eaLnBrk="1" latinLnBrk="0" hangingPunct="1">
              <a:spcBef>
                <a:spcPts val="0"/>
              </a:spcBef>
              <a:spcAft>
                <a:spcPts val="0"/>
              </a:spcAft>
              <a:buSzPct val="100000"/>
              <a:buFontTx/>
              <a:buNone/>
              <a:defRPr sz="1400" b="1" kern="1200">
                <a:solidFill>
                  <a:schemeClr val="bg1"/>
                </a:solidFill>
                <a:latin typeface="Calibri" panose="020F0502020204030204" pitchFamily="34" charset="0"/>
                <a:ea typeface="+mn-ea"/>
                <a:cs typeface="Calibri" panose="020F05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a:solidFill>
                  <a:schemeClr val="bg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a:solidFill>
                  <a:schemeClr val="bg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a:solidFill>
                  <a:schemeClr val="bg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a:solidFill>
                  <a:schemeClr val="bg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Pct val="100000"/>
              <a:buFontTx/>
              <a:buNone/>
              <a:tabLst/>
              <a:defRPr/>
            </a:pPr>
            <a:endParaRPr kumimoji="0" lang="en-US" sz="1200" b="1" i="0" u="none" strike="noStrike" kern="1200" cap="none" spc="0" normalizeH="0" baseline="0" noProof="0">
              <a:ln>
                <a:noFill/>
              </a:ln>
              <a:solidFill>
                <a:srgbClr val="FFFFFF"/>
              </a:solidFill>
              <a:effectLst/>
              <a:uLnTx/>
              <a:uFillTx/>
              <a:latin typeface="Calibri"/>
              <a:ea typeface="Open Sans" panose="020B0606030504020204" pitchFamily="34" charset="0"/>
              <a:cs typeface="Open Sans" panose="020B0606030504020204" pitchFamily="34" charset="0"/>
            </a:endParaRPr>
          </a:p>
          <a:p>
            <a:pPr marL="0" marR="0" lvl="0" indent="0" algn="l" defTabSz="685800" rtl="0" eaLnBrk="1" fontAlgn="auto" latinLnBrk="0" hangingPunct="1">
              <a:lnSpc>
                <a:spcPct val="100000"/>
              </a:lnSpc>
              <a:spcBef>
                <a:spcPts val="0"/>
              </a:spcBef>
              <a:spcAft>
                <a:spcPts val="0"/>
              </a:spcAft>
              <a:buClrTx/>
              <a:buSzPct val="100000"/>
              <a:buFontTx/>
              <a:buNone/>
              <a:tabLst/>
              <a:defRPr/>
            </a:pPr>
            <a:r>
              <a:rPr kumimoji="0" lang="en-US" sz="1200" b="1" i="0" u="none" strike="noStrike" kern="1200" cap="none" spc="0" normalizeH="0" baseline="0" noProof="0">
                <a:ln>
                  <a:noFill/>
                </a:ln>
                <a:solidFill>
                  <a:srgbClr val="FFFFFF"/>
                </a:solidFill>
                <a:effectLst/>
                <a:uLnTx/>
                <a:uFillTx/>
                <a:latin typeface="Calibri"/>
                <a:ea typeface="Open Sans" panose="020B0606030504020204" pitchFamily="34" charset="0"/>
                <a:cs typeface="Open Sans" panose="020B0606030504020204" pitchFamily="34" charset="0"/>
              </a:rPr>
              <a:t>June 30, 2026</a:t>
            </a:r>
          </a:p>
        </p:txBody>
      </p:sp>
      <p:pic>
        <p:nvPicPr>
          <p:cNvPr id="4" name="Picture 3" descr="A colorful circles on a black background&#10;&#10;Description automatically generated">
            <a:extLst>
              <a:ext uri="{FF2B5EF4-FFF2-40B4-BE49-F238E27FC236}">
                <a16:creationId xmlns:a16="http://schemas.microsoft.com/office/drawing/2014/main" id="{843375D2-B59A-1B82-E706-DC5A811FA463}"/>
              </a:ext>
            </a:extLst>
          </p:cNvPr>
          <p:cNvPicPr>
            <a:picLocks noChangeAspect="1"/>
          </p:cNvPicPr>
          <p:nvPr/>
        </p:nvPicPr>
        <p:blipFill>
          <a:blip r:embed="rId2"/>
          <a:stretch>
            <a:fillRect/>
          </a:stretch>
        </p:blipFill>
        <p:spPr>
          <a:xfrm>
            <a:off x="5900287" y="833661"/>
            <a:ext cx="5180019" cy="5190677"/>
          </a:xfrm>
          <a:prstGeom prst="rect">
            <a:avLst/>
          </a:prstGeom>
        </p:spPr>
      </p:pic>
      <p:sp>
        <p:nvSpPr>
          <p:cNvPr id="6" name="TextBox 5">
            <a:extLst>
              <a:ext uri="{FF2B5EF4-FFF2-40B4-BE49-F238E27FC236}">
                <a16:creationId xmlns:a16="http://schemas.microsoft.com/office/drawing/2014/main" id="{E70F84BE-5E21-2935-C52E-B20C0D91D60A}"/>
              </a:ext>
            </a:extLst>
          </p:cNvPr>
          <p:cNvSpPr txBox="1"/>
          <p:nvPr/>
        </p:nvSpPr>
        <p:spPr>
          <a:xfrm>
            <a:off x="363353" y="5784208"/>
            <a:ext cx="6097604" cy="480260"/>
          </a:xfrm>
          <a:prstGeom prst="rect">
            <a:avLst/>
          </a:prstGeom>
          <a:noFill/>
        </p:spPr>
        <p:txBody>
          <a:bodyPr wrap="square">
            <a:spAutoFit/>
          </a:bodyPr>
          <a:lstStyle/>
          <a:p>
            <a:pPr marL="0" marR="0" lvl="0" indent="0" algn="l" defTabSz="685800" rtl="0" eaLnBrk="1" fontAlgn="auto" latinLnBrk="0" hangingPunct="1">
              <a:lnSpc>
                <a:spcPts val="3400"/>
              </a:lnSpc>
              <a:spcBef>
                <a:spcPct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a:ea typeface="Open Sans Semibold" panose="020B0706030804020204" pitchFamily="34" charset="0"/>
                <a:cs typeface="Open Sans Semibold" panose="020B0706030804020204" pitchFamily="34" charset="0"/>
              </a:rPr>
              <a:t>Student Response Template</a:t>
            </a:r>
          </a:p>
        </p:txBody>
      </p:sp>
    </p:spTree>
    <p:extLst>
      <p:ext uri="{BB962C8B-B14F-4D97-AF65-F5344CB8AC3E}">
        <p14:creationId xmlns:p14="http://schemas.microsoft.com/office/powerpoint/2010/main" val="120871888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6F08FA5-1DFC-1357-B43F-D85E78541C37}"/>
              </a:ext>
            </a:extLst>
          </p:cNvPr>
          <p:cNvSpPr>
            <a:spLocks noGrp="1"/>
          </p:cNvSpPr>
          <p:nvPr>
            <p:ph type="body" sz="quarter" idx="10"/>
          </p:nvPr>
        </p:nvSpPr>
        <p:spPr>
          <a:xfrm>
            <a:off x="476141" y="6660850"/>
            <a:ext cx="4490721" cy="180000"/>
          </a:xfrm>
        </p:spPr>
        <p:txBody>
          <a:bodyPr/>
          <a:lstStyle/>
          <a:p>
            <a:r>
              <a:rPr lang="en-US" sz="800" b="0">
                <a:ea typeface="Calibri" panose="020F0502020204030204" pitchFamily="34" charset="0"/>
              </a:rPr>
              <a:t>Copyright © 2026 Deloitte Development LLC. All rights reserved.</a:t>
            </a:r>
          </a:p>
        </p:txBody>
      </p:sp>
      <p:graphicFrame>
        <p:nvGraphicFramePr>
          <p:cNvPr id="7" name="Table 6">
            <a:extLst>
              <a:ext uri="{FF2B5EF4-FFF2-40B4-BE49-F238E27FC236}">
                <a16:creationId xmlns:a16="http://schemas.microsoft.com/office/drawing/2014/main" id="{355B03F0-D0EC-7E63-4882-770D02685AEF}"/>
              </a:ext>
            </a:extLst>
          </p:cNvPr>
          <p:cNvGraphicFramePr>
            <a:graphicFrameLocks noGrp="1"/>
          </p:cNvGraphicFramePr>
          <p:nvPr>
            <p:extLst>
              <p:ext uri="{D42A27DB-BD31-4B8C-83A1-F6EECF244321}">
                <p14:modId xmlns:p14="http://schemas.microsoft.com/office/powerpoint/2010/main" val="3442000888"/>
              </p:ext>
            </p:extLst>
          </p:nvPr>
        </p:nvGraphicFramePr>
        <p:xfrm>
          <a:off x="239485" y="2307771"/>
          <a:ext cx="11741782" cy="4361396"/>
        </p:xfrm>
        <a:graphic>
          <a:graphicData uri="http://schemas.openxmlformats.org/drawingml/2006/table">
            <a:tbl>
              <a:tblPr>
                <a:tableStyleId>{0E3FDE45-AF77-4B5C-9715-49D594BDF05E}</a:tableStyleId>
              </a:tblPr>
              <a:tblGrid>
                <a:gridCol w="1653923">
                  <a:extLst>
                    <a:ext uri="{9D8B030D-6E8A-4147-A177-3AD203B41FA5}">
                      <a16:colId xmlns:a16="http://schemas.microsoft.com/office/drawing/2014/main" val="1557693294"/>
                    </a:ext>
                  </a:extLst>
                </a:gridCol>
                <a:gridCol w="40722">
                  <a:extLst>
                    <a:ext uri="{9D8B030D-6E8A-4147-A177-3AD203B41FA5}">
                      <a16:colId xmlns:a16="http://schemas.microsoft.com/office/drawing/2014/main" val="3779621513"/>
                    </a:ext>
                  </a:extLst>
                </a:gridCol>
                <a:gridCol w="5404239">
                  <a:extLst>
                    <a:ext uri="{9D8B030D-6E8A-4147-A177-3AD203B41FA5}">
                      <a16:colId xmlns:a16="http://schemas.microsoft.com/office/drawing/2014/main" val="927400850"/>
                    </a:ext>
                  </a:extLst>
                </a:gridCol>
                <a:gridCol w="3695801">
                  <a:extLst>
                    <a:ext uri="{9D8B030D-6E8A-4147-A177-3AD203B41FA5}">
                      <a16:colId xmlns:a16="http://schemas.microsoft.com/office/drawing/2014/main" val="3562290"/>
                    </a:ext>
                  </a:extLst>
                </a:gridCol>
                <a:gridCol w="947097">
                  <a:extLst>
                    <a:ext uri="{9D8B030D-6E8A-4147-A177-3AD203B41FA5}">
                      <a16:colId xmlns:a16="http://schemas.microsoft.com/office/drawing/2014/main" val="3063779762"/>
                    </a:ext>
                  </a:extLst>
                </a:gridCol>
              </a:tblGrid>
              <a:tr h="326571">
                <a:tc gridSpan="2">
                  <a:txBody>
                    <a:bodyPr/>
                    <a:lstStyle/>
                    <a:p>
                      <a:pPr marL="91440" algn="l" defTabSz="685800" rtl="0" eaLnBrk="1" fontAlgn="b" latinLnBrk="0" hangingPunct="1">
                        <a:lnSpc>
                          <a:spcPct val="100000"/>
                        </a:lnSpc>
                      </a:pPr>
                      <a:r>
                        <a:rPr lang="en-US" sz="1050" b="1" u="none" strike="noStrike" kern="1200">
                          <a:ln w="3175">
                            <a:noFill/>
                          </a:ln>
                          <a:solidFill>
                            <a:srgbClr val="FFFFFF"/>
                          </a:solidFill>
                          <a:effectLst/>
                          <a:latin typeface="+mn-lt"/>
                          <a:ea typeface="+mn-ea"/>
                          <a:cs typeface="+mn-cs"/>
                        </a:rPr>
                        <a:t>Response Parameters</a:t>
                      </a:r>
                    </a:p>
                  </a:txBody>
                  <a:tcPr marL="5075" marR="5075" marT="5075"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5"/>
                    </a:solidFill>
                  </a:tcPr>
                </a:tc>
                <a:tc hMerge="1">
                  <a:txBody>
                    <a:bodyPr/>
                    <a:lstStyle/>
                    <a:p>
                      <a:pPr marL="91440" algn="l" defTabSz="685800" rtl="0" eaLnBrk="1" fontAlgn="b" latinLnBrk="0" hangingPunct="1">
                        <a:lnSpc>
                          <a:spcPct val="100000"/>
                        </a:lnSpc>
                      </a:pPr>
                      <a:r>
                        <a:rPr lang="en-US" sz="1050" b="1" u="none" strike="noStrike">
                          <a:ln w="3175">
                            <a:noFill/>
                          </a:ln>
                          <a:solidFill>
                            <a:srgbClr val="FFFFFF"/>
                          </a:solidFill>
                          <a:effectLst/>
                        </a:rPr>
                        <a:t>Description</a:t>
                      </a:r>
                      <a:endParaRPr lang="en-US" sz="1050" b="1" u="none" strike="noStrike" kern="1200">
                        <a:ln w="3175">
                          <a:noFill/>
                        </a:ln>
                        <a:solidFill>
                          <a:srgbClr val="FFFFFF"/>
                        </a:solidFill>
                        <a:effectLst/>
                        <a:latin typeface="+mn-lt"/>
                        <a:ea typeface="+mn-ea"/>
                        <a:cs typeface="+mn-cs"/>
                      </a:endParaRPr>
                    </a:p>
                  </a:txBody>
                  <a:tcPr marL="5075" marR="5075" marT="9144"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marL="91440" algn="l" defTabSz="685800" rtl="0" eaLnBrk="1" fontAlgn="b" latinLnBrk="0" hangingPunct="1">
                        <a:lnSpc>
                          <a:spcPct val="100000"/>
                        </a:lnSpc>
                      </a:pPr>
                      <a:r>
                        <a:rPr lang="en-US" sz="1050" b="1" u="none" strike="noStrike">
                          <a:ln w="3175">
                            <a:noFill/>
                          </a:ln>
                          <a:solidFill>
                            <a:srgbClr val="FFFFFF"/>
                          </a:solidFill>
                          <a:effectLst/>
                        </a:rPr>
                        <a:t>Description</a:t>
                      </a:r>
                      <a:endParaRPr lang="en-US" sz="1050" b="1" u="none" strike="noStrike" kern="1200">
                        <a:ln w="3175">
                          <a:noFill/>
                        </a:ln>
                        <a:solidFill>
                          <a:srgbClr val="FFFFFF"/>
                        </a:solidFill>
                        <a:effectLst/>
                        <a:latin typeface="+mn-lt"/>
                        <a:ea typeface="+mn-ea"/>
                        <a:cs typeface="+mn-cs"/>
                      </a:endParaRPr>
                    </a:p>
                  </a:txBody>
                  <a:tcPr marL="5075" marR="5075" marT="9144"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marL="91440" algn="l" defTabSz="685800" rtl="0" eaLnBrk="1" fontAlgn="b" latinLnBrk="0" hangingPunct="1">
                        <a:lnSpc>
                          <a:spcPct val="100000"/>
                        </a:lnSpc>
                      </a:pPr>
                      <a:r>
                        <a:rPr lang="en-US" sz="1050" b="1" u="none" strike="noStrike" kern="1200">
                          <a:ln w="3175">
                            <a:noFill/>
                          </a:ln>
                          <a:solidFill>
                            <a:srgbClr val="FFFFFF"/>
                          </a:solidFill>
                          <a:effectLst/>
                          <a:latin typeface="+mn-lt"/>
                          <a:ea typeface="+mn-ea"/>
                          <a:cs typeface="+mn-cs"/>
                        </a:rPr>
                        <a:t>Participant(s) Response</a:t>
                      </a:r>
                    </a:p>
                  </a:txBody>
                  <a:tcPr marL="5075" marR="5075" marT="9144"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5"/>
                    </a:solidFill>
                  </a:tcPr>
                </a:tc>
                <a:tc>
                  <a:txBody>
                    <a:bodyPr/>
                    <a:lstStyle/>
                    <a:p>
                      <a:pPr algn="l" fontAlgn="b">
                        <a:lnSpc>
                          <a:spcPct val="100000"/>
                        </a:lnSpc>
                      </a:pPr>
                      <a:r>
                        <a:rPr lang="en-US" sz="1050" b="1" u="none" strike="noStrike">
                          <a:ln w="3175">
                            <a:noFill/>
                          </a:ln>
                          <a:solidFill>
                            <a:srgbClr val="FFFFFF"/>
                          </a:solidFill>
                          <a:effectLst/>
                        </a:rPr>
                        <a:t>Weightage</a:t>
                      </a:r>
                      <a:endParaRPr lang="en-US" sz="1050" b="1" i="0" u="none" strike="noStrike">
                        <a:ln w="3175">
                          <a:noFill/>
                        </a:ln>
                        <a:solidFill>
                          <a:srgbClr val="FFFFFF"/>
                        </a:solidFill>
                        <a:effectLst/>
                        <a:latin typeface="Verdana" panose="020B0604030504040204" pitchFamily="34" charset="0"/>
                      </a:endParaRPr>
                    </a:p>
                  </a:txBody>
                  <a:tcPr marL="5075" marR="5075" marT="9144" marB="0" anchor="ctr" anchorCtr="1">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163502627"/>
                  </a:ext>
                </a:extLst>
              </a:tr>
              <a:tr h="290285">
                <a:tc gridSpan="3">
                  <a:txBody>
                    <a:bodyPr/>
                    <a:lstStyle/>
                    <a:p>
                      <a:pPr marL="91440" algn="l" fontAlgn="b">
                        <a:lnSpc>
                          <a:spcPct val="100000"/>
                        </a:lnSpc>
                      </a:pPr>
                      <a:r>
                        <a:rPr lang="en-US" sz="1000" b="1" u="none" strike="noStrike">
                          <a:ln w="3175">
                            <a:noFill/>
                          </a:ln>
                          <a:solidFill>
                            <a:schemeClr val="bg1"/>
                          </a:solidFill>
                          <a:effectLst/>
                        </a:rPr>
                        <a:t>Proposed Use Case</a:t>
                      </a:r>
                      <a:endParaRPr lang="en-US" sz="1000" b="1" i="0" u="none" strike="noStrike">
                        <a:ln w="3175">
                          <a:noFill/>
                        </a:ln>
                        <a:solidFill>
                          <a:schemeClr val="bg1"/>
                        </a:solidFill>
                        <a:effectLst/>
                        <a:latin typeface="Calibri" panose="020F0502020204030204" pitchFamily="34" charset="0"/>
                        <a:cs typeface="Calibri" panose="020F0502020204030204" pitchFamily="34" charset="0"/>
                      </a:endParaRPr>
                    </a:p>
                  </a:txBody>
                  <a:tcPr marL="5075" marR="5075" marT="5075" marB="0" anchor="ctr">
                    <a:lnL>
                      <a:noFill/>
                    </a:lnL>
                    <a:lnR>
                      <a:noFill/>
                    </a:lnR>
                    <a:lnT>
                      <a:noFill/>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hMerge="1">
                  <a:txBody>
                    <a:bodyPr/>
                    <a:lstStyle/>
                    <a:p>
                      <a:endParaRPr lang="en-US"/>
                    </a:p>
                  </a:txBody>
                  <a:tcPr/>
                </a:tc>
                <a:tc hMerge="1">
                  <a:txBody>
                    <a:bodyPr/>
                    <a:lstStyle/>
                    <a:p>
                      <a:pPr marL="91440" algn="l" fontAlgn="b">
                        <a:lnSpc>
                          <a:spcPct val="100000"/>
                        </a:lnSpc>
                      </a:pPr>
                      <a:endParaRPr lang="en-US" sz="1000" b="1" i="0" u="none" strike="noStrike">
                        <a:ln w="3175">
                          <a:noFill/>
                        </a:ln>
                        <a:solidFill>
                          <a:schemeClr val="bg1"/>
                        </a:solidFill>
                        <a:effectLst/>
                        <a:latin typeface="Calibri" panose="020F0502020204030204" pitchFamily="34" charset="0"/>
                        <a:cs typeface="Calibri" panose="020F0502020204030204" pitchFamily="34" charset="0"/>
                      </a:endParaRPr>
                    </a:p>
                  </a:txBody>
                  <a:tcPr marL="5075" marR="5075" marT="5075" marB="0" anchor="ctr">
                    <a:lnL>
                      <a:noFill/>
                    </a:lnL>
                    <a:lnR>
                      <a:noFill/>
                    </a:lnR>
                    <a:lnT>
                      <a:noFill/>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l" fontAlgn="b">
                        <a:lnSpc>
                          <a:spcPct val="100000"/>
                        </a:lnSpc>
                      </a:pPr>
                      <a:endParaRPr lang="en-US" sz="1000" b="1" i="0" u="none" strike="noStrike">
                        <a:ln w="3175">
                          <a:noFill/>
                        </a:ln>
                        <a:solidFill>
                          <a:schemeClr val="bg1"/>
                        </a:solidFill>
                        <a:effectLst/>
                        <a:latin typeface="Calibri" panose="020F0502020204030204" pitchFamily="34" charset="0"/>
                        <a:cs typeface="Calibri" panose="020F0502020204030204" pitchFamily="34" charset="0"/>
                      </a:endParaRPr>
                    </a:p>
                  </a:txBody>
                  <a:tcPr marL="5075" marR="5075" marT="5075" marB="0" anchor="ctr">
                    <a:lnL>
                      <a:noFill/>
                    </a:lnL>
                    <a:lnR>
                      <a:noFill/>
                    </a:lnR>
                    <a:lnT>
                      <a:noFill/>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fontAlgn="b">
                        <a:lnSpc>
                          <a:spcPct val="100000"/>
                        </a:lnSpc>
                      </a:pPr>
                      <a:r>
                        <a:rPr lang="en-US" sz="1000" b="1" u="none" strike="noStrike">
                          <a:ln w="3175">
                            <a:noFill/>
                          </a:ln>
                          <a:solidFill>
                            <a:schemeClr val="bg1"/>
                          </a:solidFill>
                          <a:effectLst/>
                        </a:rPr>
                        <a:t>40%</a:t>
                      </a:r>
                      <a:endParaRPr lang="en-US" sz="1000" b="1" i="0" u="none" strike="noStrike">
                        <a:ln w="3175">
                          <a:noFill/>
                        </a:ln>
                        <a:solidFill>
                          <a:schemeClr val="bg1"/>
                        </a:solidFill>
                        <a:effectLst/>
                        <a:latin typeface="Calibri" panose="020F0502020204030204" pitchFamily="34" charset="0"/>
                        <a:cs typeface="Calibri" panose="020F0502020204030204" pitchFamily="34" charset="0"/>
                      </a:endParaRPr>
                    </a:p>
                  </a:txBody>
                  <a:tcPr marL="5075" marR="5075" marT="5075" marB="0" anchor="ctr">
                    <a:lnL>
                      <a:noFill/>
                    </a:lnL>
                    <a:lnR>
                      <a:noFill/>
                    </a:lnR>
                    <a:lnT>
                      <a:noFill/>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2893493508"/>
                  </a:ext>
                </a:extLst>
              </a:tr>
              <a:tr h="3744540">
                <a:tc>
                  <a:txBody>
                    <a:bodyPr/>
                    <a:lstStyle/>
                    <a:p>
                      <a:pPr marL="91440" algn="l" fontAlgn="b">
                        <a:lnSpc>
                          <a:spcPct val="100000"/>
                        </a:lnSpc>
                      </a:pPr>
                      <a:r>
                        <a:rPr lang="en-US" sz="1000" b="0" u="none" strike="noStrike">
                          <a:ln w="3175">
                            <a:noFill/>
                          </a:ln>
                          <a:solidFill>
                            <a:srgbClr val="000000"/>
                          </a:solidFill>
                          <a:effectLst/>
                        </a:rPr>
                        <a:t>Problem Understanding</a:t>
                      </a:r>
                      <a:endParaRPr lang="en-US" sz="1000" b="0" i="0" u="none" strike="noStrike">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3175"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gridSpan="2">
                  <a:txBody>
                    <a:bodyPr/>
                    <a:lstStyle/>
                    <a:p>
                      <a:pPr marL="91440" algn="l" fontAlgn="b">
                        <a:lnSpc>
                          <a:spcPct val="100000"/>
                        </a:lnSpc>
                      </a:pPr>
                      <a:r>
                        <a:rPr lang="en-US" sz="1000" b="0" u="none" strike="noStrike">
                          <a:ln w="3175">
                            <a:noFill/>
                          </a:ln>
                          <a:solidFill>
                            <a:srgbClr val="000000"/>
                          </a:solidFill>
                          <a:effectLst/>
                        </a:rPr>
                        <a:t>Explain the problem that the proposed use case is trying to address.</a:t>
                      </a:r>
                    </a:p>
                    <a:p>
                      <a:pPr marL="91440" algn="l" fontAlgn="b">
                        <a:lnSpc>
                          <a:spcPct val="100000"/>
                        </a:lnSpc>
                      </a:pPr>
                      <a:r>
                        <a:rPr lang="en-US" sz="1000" b="0" u="none" strike="noStrike">
                          <a:ln w="3175">
                            <a:noFill/>
                          </a:ln>
                          <a:solidFill>
                            <a:srgbClr val="000000"/>
                          </a:solidFill>
                          <a:effectLst/>
                        </a:rPr>
                        <a:t>What are the business implications of this problem?</a:t>
                      </a:r>
                    </a:p>
                    <a:p>
                      <a:pPr marL="91440" algn="l" fontAlgn="b">
                        <a:lnSpc>
                          <a:spcPct val="100000"/>
                        </a:lnSpc>
                      </a:pPr>
                      <a:r>
                        <a:rPr lang="en-US" sz="1000" b="0" u="none" strike="noStrike">
                          <a:ln w="3175">
                            <a:noFill/>
                          </a:ln>
                          <a:solidFill>
                            <a:srgbClr val="000000"/>
                          </a:solidFill>
                          <a:effectLst/>
                        </a:rPr>
                        <a:t>What happens if it remains unsolved?</a:t>
                      </a:r>
                      <a:endParaRPr lang="en-US" sz="1000" b="0" i="0" u="none" strike="noStrike">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3175"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hMerge="1">
                  <a:txBody>
                    <a:bodyPr/>
                    <a:lstStyle/>
                    <a:p>
                      <a:pPr marL="91440" algn="l" fontAlgn="b">
                        <a:lnSpc>
                          <a:spcPct val="100000"/>
                        </a:lnSpc>
                      </a:pPr>
                      <a:endParaRPr lang="en-US" sz="1000" b="0" i="0" u="none" strike="noStrike">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3175"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a:txBody>
                    <a:bodyPr/>
                    <a:lstStyle/>
                    <a:p>
                      <a:pPr lvl="0" algn="l">
                        <a:lnSpc>
                          <a:spcPct val="100000"/>
                        </a:lnSpc>
                        <a:spcBef>
                          <a:spcPts val="0"/>
                        </a:spcBef>
                        <a:spcAft>
                          <a:spcPts val="0"/>
                        </a:spcAft>
                        <a:buNone/>
                      </a:pPr>
                      <a:r>
                        <a:rPr lang="en-US" b="1"/>
                        <a:t>Problem</a:t>
                      </a:r>
                      <a:endParaRPr lang="en-US"/>
                    </a:p>
                    <a:p>
                      <a:pPr lvl="0" algn="l">
                        <a:lnSpc>
                          <a:spcPct val="100000"/>
                        </a:lnSpc>
                        <a:spcBef>
                          <a:spcPts val="0"/>
                        </a:spcBef>
                        <a:spcAft>
                          <a:spcPts val="0"/>
                        </a:spcAft>
                        <a:buNone/>
                      </a:pPr>
                      <a:r>
                        <a:rPr lang="en-US" sz="1000" b="0" i="0" u="none" strike="noStrike" noProof="0">
                          <a:ln w="3175">
                            <a:noFill/>
                          </a:ln>
                          <a:solidFill>
                            <a:srgbClr val="000000"/>
                          </a:solidFill>
                          <a:effectLst/>
                        </a:rPr>
                        <a:t>SaaS companies rely on recurring subscriptions, making customer retention essential for business growth. However, customers often reduce product usage before cancelling their subscriptions. Existing churn prediction tools can identify </a:t>
                      </a:r>
                      <a:r>
                        <a:rPr lang="en-US" sz="1000" b="1" i="0" u="none" strike="noStrike" noProof="0">
                          <a:ln w="3175">
                            <a:noFill/>
                          </a:ln>
                          <a:solidFill>
                            <a:srgbClr val="000000"/>
                          </a:solidFill>
                          <a:effectLst/>
                        </a:rPr>
                        <a:t>who is likely to leave</a:t>
                      </a:r>
                      <a:r>
                        <a:rPr lang="en-US" sz="1000" b="0" i="0" u="none" strike="noStrike" noProof="0">
                          <a:ln w="3175">
                            <a:noFill/>
                          </a:ln>
                          <a:solidFill>
                            <a:srgbClr val="000000"/>
                          </a:solidFill>
                          <a:effectLst/>
                        </a:rPr>
                        <a:t>, but they usually provide only a risk score without explaining </a:t>
                      </a:r>
                      <a:r>
                        <a:rPr lang="en-US" sz="1000" b="1" i="0" u="none" strike="noStrike" noProof="0">
                          <a:ln w="3175">
                            <a:noFill/>
                          </a:ln>
                          <a:solidFill>
                            <a:srgbClr val="000000"/>
                          </a:solidFill>
                          <a:effectLst/>
                        </a:rPr>
                        <a:t>why the customer is disengaging</a:t>
                      </a:r>
                      <a:r>
                        <a:rPr lang="en-US" sz="1000" b="0" i="0" u="none" strike="noStrike" noProof="0">
                          <a:ln w="3175">
                            <a:noFill/>
                          </a:ln>
                          <a:solidFill>
                            <a:srgbClr val="000000"/>
                          </a:solidFill>
                          <a:effectLst/>
                        </a:rPr>
                        <a:t> or </a:t>
                      </a:r>
                      <a:r>
                        <a:rPr lang="en-US" sz="1000" b="1" i="0" u="none" strike="noStrike" noProof="0">
                          <a:ln w="3175">
                            <a:noFill/>
                          </a:ln>
                          <a:solidFill>
                            <a:srgbClr val="000000"/>
                          </a:solidFill>
                          <a:effectLst/>
                        </a:rPr>
                        <a:t>what action should be taken</a:t>
                      </a:r>
                      <a:r>
                        <a:rPr lang="en-US" sz="1000" b="0" i="0" u="none" strike="noStrike" noProof="0">
                          <a:ln w="3175">
                            <a:noFill/>
                          </a:ln>
                          <a:solidFill>
                            <a:srgbClr val="000000"/>
                          </a:solidFill>
                          <a:effectLst/>
                        </a:rPr>
                        <a:t>. As a result, Customer Success teams react too late with generic retention efforts, leading to avoidable customer loss.</a:t>
                      </a:r>
                      <a:endParaRPr lang="en-US"/>
                    </a:p>
                    <a:p>
                      <a:pPr lvl="0" algn="l">
                        <a:lnSpc>
                          <a:spcPct val="100000"/>
                        </a:lnSpc>
                        <a:spcBef>
                          <a:spcPts val="0"/>
                        </a:spcBef>
                        <a:spcAft>
                          <a:spcPts val="0"/>
                        </a:spcAft>
                        <a:buNone/>
                      </a:pPr>
                      <a:r>
                        <a:rPr lang="en-US" b="1"/>
                        <a:t>Business Implications</a:t>
                      </a:r>
                      <a:endParaRPr lang="en-US"/>
                    </a:p>
                    <a:p>
                      <a:pPr marL="285750" lvl="0" indent="-285750" algn="l">
                        <a:lnSpc>
                          <a:spcPct val="100000"/>
                        </a:lnSpc>
                        <a:spcBef>
                          <a:spcPts val="0"/>
                        </a:spcBef>
                        <a:spcAft>
                          <a:spcPts val="0"/>
                        </a:spcAft>
                        <a:buFont typeface="Arial"/>
                        <a:buChar char="•"/>
                      </a:pPr>
                      <a:r>
                        <a:rPr lang="en-US" sz="1000" b="0" i="0" u="none" strike="noStrike" noProof="0">
                          <a:ln w="3175">
                            <a:noFill/>
                          </a:ln>
                          <a:solidFill>
                            <a:srgbClr val="000000"/>
                          </a:solidFill>
                          <a:effectLst/>
                        </a:rPr>
                        <a:t>Loss of recurring subscription revenue. </a:t>
                      </a:r>
                      <a:endParaRPr lang="en-US"/>
                    </a:p>
                    <a:p>
                      <a:pPr marL="285750" lvl="0" indent="-285750" algn="l">
                        <a:lnSpc>
                          <a:spcPct val="100000"/>
                        </a:lnSpc>
                        <a:spcBef>
                          <a:spcPts val="0"/>
                        </a:spcBef>
                        <a:spcAft>
                          <a:spcPts val="0"/>
                        </a:spcAft>
                        <a:buFont typeface="Arial"/>
                        <a:buChar char="•"/>
                      </a:pPr>
                      <a:r>
                        <a:rPr lang="en-US" sz="1000" b="0" i="0" u="none" strike="noStrike" noProof="0">
                          <a:ln w="3175">
                            <a:noFill/>
                          </a:ln>
                          <a:solidFill>
                            <a:srgbClr val="000000"/>
                          </a:solidFill>
                          <a:effectLst/>
                        </a:rPr>
                        <a:t>Higher costs to acquire new customers. </a:t>
                      </a:r>
                      <a:endParaRPr lang="en-US"/>
                    </a:p>
                    <a:p>
                      <a:pPr marL="285750" lvl="0" indent="-285750" algn="l">
                        <a:lnSpc>
                          <a:spcPct val="100000"/>
                        </a:lnSpc>
                        <a:spcBef>
                          <a:spcPts val="0"/>
                        </a:spcBef>
                        <a:spcAft>
                          <a:spcPts val="0"/>
                        </a:spcAft>
                        <a:buFont typeface="Arial"/>
                        <a:buChar char="•"/>
                      </a:pPr>
                      <a:r>
                        <a:rPr lang="en-US" sz="1000" b="0" i="0" u="none" strike="noStrike" noProof="0">
                          <a:ln w="3175">
                            <a:noFill/>
                          </a:ln>
                          <a:solidFill>
                            <a:srgbClr val="000000"/>
                          </a:solidFill>
                          <a:effectLst/>
                        </a:rPr>
                        <a:t>Lower Customer Lifetime Value (CLV). </a:t>
                      </a:r>
                      <a:endParaRPr lang="en-US"/>
                    </a:p>
                    <a:p>
                      <a:pPr marL="285750" lvl="0" indent="-285750" algn="l">
                        <a:lnSpc>
                          <a:spcPct val="100000"/>
                        </a:lnSpc>
                        <a:spcBef>
                          <a:spcPts val="0"/>
                        </a:spcBef>
                        <a:spcAft>
                          <a:spcPts val="0"/>
                        </a:spcAft>
                        <a:buFont typeface="Arial"/>
                        <a:buChar char="•"/>
                      </a:pPr>
                      <a:r>
                        <a:rPr lang="en-US" sz="1000" b="0" i="0" u="none" strike="noStrike" noProof="0">
                          <a:ln w="3175">
                            <a:noFill/>
                          </a:ln>
                          <a:solidFill>
                            <a:srgbClr val="000000"/>
                          </a:solidFill>
                          <a:effectLst/>
                        </a:rPr>
                        <a:t>Ineffective and delayed customer retention efforts. </a:t>
                      </a:r>
                      <a:endParaRPr lang="en-US"/>
                    </a:p>
                    <a:p>
                      <a:pPr lvl="0" indent="0" algn="l">
                        <a:lnSpc>
                          <a:spcPct val="100000"/>
                        </a:lnSpc>
                        <a:spcBef>
                          <a:spcPts val="0"/>
                        </a:spcBef>
                        <a:spcAft>
                          <a:spcPts val="0"/>
                        </a:spcAft>
                        <a:buNone/>
                      </a:pPr>
                      <a:r>
                        <a:rPr lang="en-US" b="1"/>
                        <a:t>If the Problem Remains Unsolved</a:t>
                      </a:r>
                      <a:endParaRPr lang="en-US"/>
                    </a:p>
                    <a:p>
                      <a:pPr marL="285750" lvl="0" indent="-285750" algn="l">
                        <a:lnSpc>
                          <a:spcPct val="100000"/>
                        </a:lnSpc>
                        <a:spcBef>
                          <a:spcPts val="0"/>
                        </a:spcBef>
                        <a:spcAft>
                          <a:spcPts val="0"/>
                        </a:spcAft>
                        <a:buFont typeface="Arial"/>
                        <a:buChar char="•"/>
                      </a:pPr>
                      <a:r>
                        <a:rPr lang="en-US" sz="1000" b="0" i="0" u="none" strike="noStrike" noProof="0">
                          <a:ln w="3175">
                            <a:noFill/>
                          </a:ln>
                          <a:solidFill>
                            <a:srgbClr val="000000"/>
                          </a:solidFill>
                          <a:effectLst/>
                        </a:rPr>
                        <a:t>Customer churn continues to increase. </a:t>
                      </a:r>
                      <a:endParaRPr lang="en-US"/>
                    </a:p>
                    <a:p>
                      <a:pPr marL="285750" lvl="0" indent="-285750" algn="l">
                        <a:lnSpc>
                          <a:spcPct val="100000"/>
                        </a:lnSpc>
                        <a:spcBef>
                          <a:spcPts val="0"/>
                        </a:spcBef>
                        <a:spcAft>
                          <a:spcPts val="0"/>
                        </a:spcAft>
                        <a:buFont typeface="Arial"/>
                        <a:buChar char="•"/>
                      </a:pPr>
                      <a:r>
                        <a:rPr lang="en-US" sz="1000" b="0" i="0" u="none" strike="noStrike" noProof="0">
                          <a:ln w="3175">
                            <a:noFill/>
                          </a:ln>
                          <a:solidFill>
                            <a:srgbClr val="000000"/>
                          </a:solidFill>
                          <a:effectLst/>
                        </a:rPr>
                        <a:t>Revenue and business growth decline. </a:t>
                      </a:r>
                      <a:endParaRPr lang="en-US"/>
                    </a:p>
                    <a:p>
                      <a:pPr marL="285750" lvl="0" indent="-285750" algn="l">
                        <a:lnSpc>
                          <a:spcPct val="100000"/>
                        </a:lnSpc>
                        <a:spcBef>
                          <a:spcPts val="0"/>
                        </a:spcBef>
                        <a:spcAft>
                          <a:spcPts val="0"/>
                        </a:spcAft>
                        <a:buFont typeface="Arial"/>
                        <a:buChar char="•"/>
                      </a:pPr>
                      <a:r>
                        <a:rPr lang="en-US" sz="1000" b="0" i="0" u="none" strike="noStrike" noProof="0">
                          <a:ln w="3175">
                            <a:noFill/>
                          </a:ln>
                          <a:solidFill>
                            <a:srgbClr val="000000"/>
                          </a:solidFill>
                          <a:effectLst/>
                        </a:rPr>
                        <a:t>Customer loyalty and satisfaction decrease. </a:t>
                      </a:r>
                      <a:endParaRPr lang="en-US"/>
                    </a:p>
                    <a:p>
                      <a:pPr marL="285750" lvl="0" indent="-285750" algn="l">
                        <a:lnSpc>
                          <a:spcPct val="100000"/>
                        </a:lnSpc>
                        <a:spcBef>
                          <a:spcPts val="0"/>
                        </a:spcBef>
                        <a:spcAft>
                          <a:spcPts val="0"/>
                        </a:spcAft>
                        <a:buFont typeface="Arial"/>
                        <a:buChar char="•"/>
                      </a:pPr>
                      <a:r>
                        <a:rPr lang="en-US" sz="1000" b="0" i="0" u="none" strike="noStrike" noProof="0">
                          <a:ln w="3175">
                            <a:noFill/>
                          </a:ln>
                          <a:solidFill>
                            <a:srgbClr val="000000"/>
                          </a:solidFill>
                          <a:effectLst/>
                        </a:rPr>
                        <a:t>Businesses lose valuable long-term customers and competitive advantage. </a:t>
                      </a:r>
                      <a:endParaRPr lang="en-US"/>
                    </a:p>
                    <a:p>
                      <a:pPr lvl="0" algn="l">
                        <a:lnSpc>
                          <a:spcPct val="100000"/>
                        </a:lnSpc>
                        <a:buNone/>
                      </a:pPr>
                      <a:endParaRPr lang="en-US" sz="1000" b="0" i="0" u="none" strike="noStrike">
                        <a:ln w="3175">
                          <a:noFill/>
                        </a:ln>
                        <a:solidFill>
                          <a:srgbClr val="000000"/>
                        </a:solidFill>
                        <a:effectLst/>
                        <a:latin typeface="Calibri"/>
                        <a:cs typeface="Calibri"/>
                      </a:endParaRPr>
                    </a:p>
                  </a:txBody>
                  <a:tcPr marL="5075" marR="5075" marT="5075" marB="0" anchor="ctr">
                    <a:lnL>
                      <a:noFill/>
                    </a:lnL>
                    <a:lnR>
                      <a:noFill/>
                    </a:lnR>
                    <a:lnT w="3175"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a:txBody>
                    <a:bodyPr/>
                    <a:lstStyle/>
                    <a:p>
                      <a:pPr algn="ctr" fontAlgn="b">
                        <a:lnSpc>
                          <a:spcPct val="100000"/>
                        </a:lnSpc>
                      </a:pPr>
                      <a:r>
                        <a:rPr lang="en-US" sz="1000" b="0" u="none" strike="noStrike">
                          <a:ln w="3175">
                            <a:noFill/>
                          </a:ln>
                          <a:solidFill>
                            <a:srgbClr val="000000"/>
                          </a:solidFill>
                          <a:effectLst/>
                        </a:rPr>
                        <a:t>15</a:t>
                      </a:r>
                      <a:endParaRPr lang="en-US" sz="1000" b="0" i="0" u="none" strike="noStrike">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3175"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extLst>
                  <a:ext uri="{0D108BD9-81ED-4DB2-BD59-A6C34878D82A}">
                    <a16:rowId xmlns:a16="http://schemas.microsoft.com/office/drawing/2014/main" val="644706813"/>
                  </a:ext>
                </a:extLst>
              </a:tr>
            </a:tbl>
          </a:graphicData>
        </a:graphic>
      </p:graphicFrame>
      <p:cxnSp>
        <p:nvCxnSpPr>
          <p:cNvPr id="8" name="Straight Arrow Connector 7">
            <a:extLst>
              <a:ext uri="{FF2B5EF4-FFF2-40B4-BE49-F238E27FC236}">
                <a16:creationId xmlns:a16="http://schemas.microsoft.com/office/drawing/2014/main" id="{9AAB4B68-00CB-67D8-A3F1-73A1DC7278A4}"/>
              </a:ext>
            </a:extLst>
          </p:cNvPr>
          <p:cNvCxnSpPr>
            <a:cxnSpLocks/>
          </p:cNvCxnSpPr>
          <p:nvPr/>
        </p:nvCxnSpPr>
        <p:spPr>
          <a:xfrm>
            <a:off x="2331260" y="1470850"/>
            <a:ext cx="3620278" cy="0"/>
          </a:xfrm>
          <a:prstGeom prst="straightConnector1">
            <a:avLst/>
          </a:prstGeom>
          <a:ln>
            <a:solidFill>
              <a:schemeClr val="tx2"/>
            </a:solidFill>
            <a:prstDash val="sysDash"/>
            <a:tailEnd type="ova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352BA51-2BB5-B808-A8C7-08C63B290785}"/>
              </a:ext>
            </a:extLst>
          </p:cNvPr>
          <p:cNvCxnSpPr>
            <a:cxnSpLocks/>
          </p:cNvCxnSpPr>
          <p:nvPr/>
        </p:nvCxnSpPr>
        <p:spPr>
          <a:xfrm>
            <a:off x="2331260" y="1883628"/>
            <a:ext cx="3620278" cy="0"/>
          </a:xfrm>
          <a:prstGeom prst="straightConnector1">
            <a:avLst/>
          </a:prstGeom>
          <a:ln>
            <a:solidFill>
              <a:schemeClr val="tx2"/>
            </a:solidFill>
            <a:prstDash val="sysDash"/>
            <a:tailEnd type="oval"/>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AD63F64-2123-4313-EDFB-B3CDAC273050}"/>
              </a:ext>
            </a:extLst>
          </p:cNvPr>
          <p:cNvCxnSpPr>
            <a:cxnSpLocks/>
          </p:cNvCxnSpPr>
          <p:nvPr/>
        </p:nvCxnSpPr>
        <p:spPr>
          <a:xfrm>
            <a:off x="2331260" y="1070913"/>
            <a:ext cx="3620278" cy="0"/>
          </a:xfrm>
          <a:prstGeom prst="straightConnector1">
            <a:avLst/>
          </a:prstGeom>
          <a:ln>
            <a:solidFill>
              <a:schemeClr val="tx2"/>
            </a:solidFill>
            <a:prstDash val="sysDash"/>
            <a:tailEnd type="ova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50A00E73-EC0F-79BA-47C8-742E6D0210CE}"/>
              </a:ext>
            </a:extLst>
          </p:cNvPr>
          <p:cNvGrpSpPr/>
          <p:nvPr/>
        </p:nvGrpSpPr>
        <p:grpSpPr>
          <a:xfrm>
            <a:off x="476142" y="757283"/>
            <a:ext cx="2060963" cy="375557"/>
            <a:chOff x="476143" y="740563"/>
            <a:chExt cx="2060963" cy="375557"/>
          </a:xfrm>
        </p:grpSpPr>
        <p:sp>
          <p:nvSpPr>
            <p:cNvPr id="12" name="Rectangle: Rounded Corners 11">
              <a:extLst>
                <a:ext uri="{FF2B5EF4-FFF2-40B4-BE49-F238E27FC236}">
                  <a16:creationId xmlns:a16="http://schemas.microsoft.com/office/drawing/2014/main" id="{E6D41E23-3A65-BBD3-8134-613E152E5687}"/>
                </a:ext>
              </a:extLst>
            </p:cNvPr>
            <p:cNvSpPr/>
            <p:nvPr/>
          </p:nvSpPr>
          <p:spPr bwMode="gray">
            <a:xfrm>
              <a:off x="541647" y="792709"/>
              <a:ext cx="1995459" cy="271264"/>
            </a:xfrm>
            <a:prstGeom prst="roundRect">
              <a:avLst>
                <a:gd name="adj" fmla="val 50000"/>
              </a:avLst>
            </a:prstGeom>
            <a:solidFill>
              <a:schemeClr val="accent1"/>
            </a:solidFill>
            <a:ln w="19050" algn="ctr">
              <a:noFill/>
              <a:miter lim="800000"/>
              <a:headEnd/>
              <a:tailEnd/>
            </a:ln>
          </p:spPr>
          <p:txBody>
            <a:bodyPr wrap="square" lIns="88900" tIns="88900" rIns="88900" bIns="88900" rtlCol="0" anchor="ctr"/>
            <a:lstStyle/>
            <a:p>
              <a:pPr>
                <a:lnSpc>
                  <a:spcPct val="106000"/>
                </a:lnSpc>
              </a:pPr>
              <a:r>
                <a:rPr lang="en-US" sz="1000" b="1">
                  <a:solidFill>
                    <a:schemeClr val="bg1"/>
                  </a:solidFill>
                </a:rPr>
                <a:t>Use Case Name/ Title</a:t>
              </a:r>
            </a:p>
          </p:txBody>
        </p:sp>
        <p:sp>
          <p:nvSpPr>
            <p:cNvPr id="13" name="Freeform: Shape 12">
              <a:extLst>
                <a:ext uri="{FF2B5EF4-FFF2-40B4-BE49-F238E27FC236}">
                  <a16:creationId xmlns:a16="http://schemas.microsoft.com/office/drawing/2014/main" id="{57E614FE-BDD7-27F1-B335-5B41A148A61D}"/>
                </a:ext>
              </a:extLst>
            </p:cNvPr>
            <p:cNvSpPr/>
            <p:nvPr/>
          </p:nvSpPr>
          <p:spPr>
            <a:xfrm rot="16200000">
              <a:off x="391484" y="825222"/>
              <a:ext cx="375557" cy="206239"/>
            </a:xfrm>
            <a:custGeom>
              <a:avLst/>
              <a:gdLst>
                <a:gd name="connsiteX0" fmla="*/ 2455649 w 2455649"/>
                <a:gd name="connsiteY0" fmla="*/ 1227825 h 1227824"/>
                <a:gd name="connsiteX1" fmla="*/ 2394254 w 2455649"/>
                <a:gd name="connsiteY1" fmla="*/ 1227825 h 1227824"/>
                <a:gd name="connsiteX2" fmla="*/ 1227825 w 2455649"/>
                <a:gd name="connsiteY2" fmla="*/ 61396 h 1227824"/>
                <a:gd name="connsiteX3" fmla="*/ 61396 w 2455649"/>
                <a:gd name="connsiteY3" fmla="*/ 1227825 h 1227824"/>
                <a:gd name="connsiteX4" fmla="*/ 0 w 2455649"/>
                <a:gd name="connsiteY4" fmla="*/ 1227825 h 1227824"/>
                <a:gd name="connsiteX5" fmla="*/ 1227825 w 2455649"/>
                <a:gd name="connsiteY5" fmla="*/ 0 h 1227824"/>
                <a:gd name="connsiteX6" fmla="*/ 2455649 w 2455649"/>
                <a:gd name="connsiteY6" fmla="*/ 1227825 h 1227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5649" h="1227824">
                  <a:moveTo>
                    <a:pt x="2455649" y="1227825"/>
                  </a:moveTo>
                  <a:lnTo>
                    <a:pt x="2394254" y="1227825"/>
                  </a:lnTo>
                  <a:cubicBezTo>
                    <a:pt x="2394254" y="584661"/>
                    <a:pt x="1870989" y="61396"/>
                    <a:pt x="1227825" y="61396"/>
                  </a:cubicBezTo>
                  <a:cubicBezTo>
                    <a:pt x="584661" y="61396"/>
                    <a:pt x="61396" y="584661"/>
                    <a:pt x="61396" y="1227825"/>
                  </a:cubicBezTo>
                  <a:lnTo>
                    <a:pt x="0" y="1227825"/>
                  </a:lnTo>
                  <a:cubicBezTo>
                    <a:pt x="0" y="550810"/>
                    <a:pt x="550810" y="0"/>
                    <a:pt x="1227825" y="0"/>
                  </a:cubicBezTo>
                  <a:cubicBezTo>
                    <a:pt x="1904839" y="0"/>
                    <a:pt x="2455649" y="550810"/>
                    <a:pt x="2455649" y="1227825"/>
                  </a:cubicBezTo>
                  <a:close/>
                </a:path>
              </a:pathLst>
            </a:custGeom>
            <a:solidFill>
              <a:schemeClr val="accent1">
                <a:lumMod val="75000"/>
              </a:schemeClr>
            </a:solidFill>
            <a:ln w="5165" cap="flat">
              <a:noFill/>
              <a:prstDash val="solid"/>
              <a:miter/>
            </a:ln>
          </p:spPr>
          <p:txBody>
            <a:bodyPr rtlCol="0" anchor="ctr"/>
            <a:lstStyle/>
            <a:p>
              <a:endParaRPr lang="en-US" sz="1200"/>
            </a:p>
          </p:txBody>
        </p:sp>
      </p:grpSp>
      <p:grpSp>
        <p:nvGrpSpPr>
          <p:cNvPr id="14" name="Group 13">
            <a:extLst>
              <a:ext uri="{FF2B5EF4-FFF2-40B4-BE49-F238E27FC236}">
                <a16:creationId xmlns:a16="http://schemas.microsoft.com/office/drawing/2014/main" id="{B3B8B6E6-4C27-DC62-FC4A-89C6D23D5C17}"/>
              </a:ext>
            </a:extLst>
          </p:cNvPr>
          <p:cNvGrpSpPr/>
          <p:nvPr/>
        </p:nvGrpSpPr>
        <p:grpSpPr>
          <a:xfrm>
            <a:off x="476142" y="1170724"/>
            <a:ext cx="2060963" cy="375557"/>
            <a:chOff x="476142" y="1154004"/>
            <a:chExt cx="2060963" cy="375557"/>
          </a:xfrm>
        </p:grpSpPr>
        <p:sp>
          <p:nvSpPr>
            <p:cNvPr id="15" name="Rectangle: Rounded Corners 14">
              <a:extLst>
                <a:ext uri="{FF2B5EF4-FFF2-40B4-BE49-F238E27FC236}">
                  <a16:creationId xmlns:a16="http://schemas.microsoft.com/office/drawing/2014/main" id="{798D3353-AE65-5CEB-7086-16C80F25F582}"/>
                </a:ext>
              </a:extLst>
            </p:cNvPr>
            <p:cNvSpPr/>
            <p:nvPr/>
          </p:nvSpPr>
          <p:spPr bwMode="gray">
            <a:xfrm>
              <a:off x="541646" y="1206150"/>
              <a:ext cx="1995459" cy="271264"/>
            </a:xfrm>
            <a:prstGeom prst="roundRect">
              <a:avLst>
                <a:gd name="adj" fmla="val 50000"/>
              </a:avLst>
            </a:prstGeom>
            <a:solidFill>
              <a:schemeClr val="accent2"/>
            </a:solidFill>
            <a:ln w="19050" algn="ctr">
              <a:noFill/>
              <a:miter lim="800000"/>
              <a:headEnd/>
              <a:tailEnd/>
            </a:ln>
          </p:spPr>
          <p:txBody>
            <a:bodyPr wrap="square" lIns="88900" tIns="88900" rIns="88900" bIns="88900" rtlCol="0" anchor="ctr"/>
            <a:lstStyle/>
            <a:p>
              <a:r>
                <a:rPr lang="en-US" sz="1000" b="1">
                  <a:solidFill>
                    <a:schemeClr val="bg1"/>
                  </a:solidFill>
                </a:rPr>
                <a:t>Institution/ College Name</a:t>
              </a:r>
            </a:p>
          </p:txBody>
        </p:sp>
        <p:sp>
          <p:nvSpPr>
            <p:cNvPr id="16" name="Freeform: Shape 15">
              <a:extLst>
                <a:ext uri="{FF2B5EF4-FFF2-40B4-BE49-F238E27FC236}">
                  <a16:creationId xmlns:a16="http://schemas.microsoft.com/office/drawing/2014/main" id="{C3253439-D234-4039-F3C2-C5563A5C39FA}"/>
                </a:ext>
              </a:extLst>
            </p:cNvPr>
            <p:cNvSpPr/>
            <p:nvPr/>
          </p:nvSpPr>
          <p:spPr>
            <a:xfrm rot="16200000">
              <a:off x="391483" y="1238663"/>
              <a:ext cx="375557" cy="206239"/>
            </a:xfrm>
            <a:custGeom>
              <a:avLst/>
              <a:gdLst>
                <a:gd name="connsiteX0" fmla="*/ 2455649 w 2455649"/>
                <a:gd name="connsiteY0" fmla="*/ 1227825 h 1227824"/>
                <a:gd name="connsiteX1" fmla="*/ 2394254 w 2455649"/>
                <a:gd name="connsiteY1" fmla="*/ 1227825 h 1227824"/>
                <a:gd name="connsiteX2" fmla="*/ 1227825 w 2455649"/>
                <a:gd name="connsiteY2" fmla="*/ 61396 h 1227824"/>
                <a:gd name="connsiteX3" fmla="*/ 61396 w 2455649"/>
                <a:gd name="connsiteY3" fmla="*/ 1227825 h 1227824"/>
                <a:gd name="connsiteX4" fmla="*/ 0 w 2455649"/>
                <a:gd name="connsiteY4" fmla="*/ 1227825 h 1227824"/>
                <a:gd name="connsiteX5" fmla="*/ 1227825 w 2455649"/>
                <a:gd name="connsiteY5" fmla="*/ 0 h 1227824"/>
                <a:gd name="connsiteX6" fmla="*/ 2455649 w 2455649"/>
                <a:gd name="connsiteY6" fmla="*/ 1227825 h 1227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5649" h="1227824">
                  <a:moveTo>
                    <a:pt x="2455649" y="1227825"/>
                  </a:moveTo>
                  <a:lnTo>
                    <a:pt x="2394254" y="1227825"/>
                  </a:lnTo>
                  <a:cubicBezTo>
                    <a:pt x="2394254" y="584661"/>
                    <a:pt x="1870989" y="61396"/>
                    <a:pt x="1227825" y="61396"/>
                  </a:cubicBezTo>
                  <a:cubicBezTo>
                    <a:pt x="584661" y="61396"/>
                    <a:pt x="61396" y="584661"/>
                    <a:pt x="61396" y="1227825"/>
                  </a:cubicBezTo>
                  <a:lnTo>
                    <a:pt x="0" y="1227825"/>
                  </a:lnTo>
                  <a:cubicBezTo>
                    <a:pt x="0" y="550810"/>
                    <a:pt x="550810" y="0"/>
                    <a:pt x="1227825" y="0"/>
                  </a:cubicBezTo>
                  <a:cubicBezTo>
                    <a:pt x="1904839" y="0"/>
                    <a:pt x="2455649" y="550810"/>
                    <a:pt x="2455649" y="1227825"/>
                  </a:cubicBezTo>
                  <a:close/>
                </a:path>
              </a:pathLst>
            </a:custGeom>
            <a:solidFill>
              <a:schemeClr val="accent1">
                <a:lumMod val="75000"/>
              </a:schemeClr>
            </a:solidFill>
            <a:ln w="5165" cap="flat">
              <a:noFill/>
              <a:prstDash val="solid"/>
              <a:miter/>
            </a:ln>
          </p:spPr>
          <p:txBody>
            <a:bodyPr rtlCol="0" anchor="ctr"/>
            <a:lstStyle/>
            <a:p>
              <a:endParaRPr lang="en-US" sz="1000"/>
            </a:p>
          </p:txBody>
        </p:sp>
      </p:grpSp>
      <p:grpSp>
        <p:nvGrpSpPr>
          <p:cNvPr id="17" name="Group 16">
            <a:extLst>
              <a:ext uri="{FF2B5EF4-FFF2-40B4-BE49-F238E27FC236}">
                <a16:creationId xmlns:a16="http://schemas.microsoft.com/office/drawing/2014/main" id="{49A6E7E2-0836-FF93-14C8-3CDE0805D093}"/>
              </a:ext>
            </a:extLst>
          </p:cNvPr>
          <p:cNvGrpSpPr/>
          <p:nvPr/>
        </p:nvGrpSpPr>
        <p:grpSpPr>
          <a:xfrm>
            <a:off x="476142" y="1569442"/>
            <a:ext cx="2060963" cy="375557"/>
            <a:chOff x="482174" y="1569656"/>
            <a:chExt cx="2060963" cy="375557"/>
          </a:xfrm>
        </p:grpSpPr>
        <p:sp>
          <p:nvSpPr>
            <p:cNvPr id="18" name="Rectangle: Rounded Corners 17">
              <a:extLst>
                <a:ext uri="{FF2B5EF4-FFF2-40B4-BE49-F238E27FC236}">
                  <a16:creationId xmlns:a16="http://schemas.microsoft.com/office/drawing/2014/main" id="{BABFF118-42F2-73F8-E725-FB07AB46344A}"/>
                </a:ext>
              </a:extLst>
            </p:cNvPr>
            <p:cNvSpPr/>
            <p:nvPr/>
          </p:nvSpPr>
          <p:spPr bwMode="gray">
            <a:xfrm>
              <a:off x="547678" y="1612578"/>
              <a:ext cx="1995459" cy="271264"/>
            </a:xfrm>
            <a:prstGeom prst="roundRect">
              <a:avLst>
                <a:gd name="adj" fmla="val 50000"/>
              </a:avLst>
            </a:prstGeom>
            <a:solidFill>
              <a:schemeClr val="accent3"/>
            </a:solidFill>
            <a:ln w="19050" algn="ctr">
              <a:noFill/>
              <a:miter lim="800000"/>
              <a:headEnd/>
              <a:tailEnd/>
            </a:ln>
          </p:spPr>
          <p:txBody>
            <a:bodyPr wrap="square" lIns="88900" tIns="88900" rIns="88900" bIns="88900" rtlCol="0" anchor="ctr"/>
            <a:lstStyle/>
            <a:p>
              <a:pPr>
                <a:lnSpc>
                  <a:spcPct val="106000"/>
                </a:lnSpc>
              </a:pPr>
              <a:r>
                <a:rPr lang="en-US" sz="1000" b="1">
                  <a:solidFill>
                    <a:schemeClr val="bg1"/>
                  </a:solidFill>
                </a:rPr>
                <a:t>Group/Team Name</a:t>
              </a:r>
            </a:p>
          </p:txBody>
        </p:sp>
        <p:sp>
          <p:nvSpPr>
            <p:cNvPr id="19" name="Freeform: Shape 18">
              <a:extLst>
                <a:ext uri="{FF2B5EF4-FFF2-40B4-BE49-F238E27FC236}">
                  <a16:creationId xmlns:a16="http://schemas.microsoft.com/office/drawing/2014/main" id="{0EF12568-6C5F-B563-3F91-5B4858535CA6}"/>
                </a:ext>
              </a:extLst>
            </p:cNvPr>
            <p:cNvSpPr/>
            <p:nvPr/>
          </p:nvSpPr>
          <p:spPr>
            <a:xfrm rot="16200000">
              <a:off x="397515" y="1654315"/>
              <a:ext cx="375557" cy="206239"/>
            </a:xfrm>
            <a:custGeom>
              <a:avLst/>
              <a:gdLst>
                <a:gd name="connsiteX0" fmla="*/ 2455649 w 2455649"/>
                <a:gd name="connsiteY0" fmla="*/ 1227825 h 1227824"/>
                <a:gd name="connsiteX1" fmla="*/ 2394254 w 2455649"/>
                <a:gd name="connsiteY1" fmla="*/ 1227825 h 1227824"/>
                <a:gd name="connsiteX2" fmla="*/ 1227825 w 2455649"/>
                <a:gd name="connsiteY2" fmla="*/ 61396 h 1227824"/>
                <a:gd name="connsiteX3" fmla="*/ 61396 w 2455649"/>
                <a:gd name="connsiteY3" fmla="*/ 1227825 h 1227824"/>
                <a:gd name="connsiteX4" fmla="*/ 0 w 2455649"/>
                <a:gd name="connsiteY4" fmla="*/ 1227825 h 1227824"/>
                <a:gd name="connsiteX5" fmla="*/ 1227825 w 2455649"/>
                <a:gd name="connsiteY5" fmla="*/ 0 h 1227824"/>
                <a:gd name="connsiteX6" fmla="*/ 2455649 w 2455649"/>
                <a:gd name="connsiteY6" fmla="*/ 1227825 h 1227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5649" h="1227824">
                  <a:moveTo>
                    <a:pt x="2455649" y="1227825"/>
                  </a:moveTo>
                  <a:lnTo>
                    <a:pt x="2394254" y="1227825"/>
                  </a:lnTo>
                  <a:cubicBezTo>
                    <a:pt x="2394254" y="584661"/>
                    <a:pt x="1870989" y="61396"/>
                    <a:pt x="1227825" y="61396"/>
                  </a:cubicBezTo>
                  <a:cubicBezTo>
                    <a:pt x="584661" y="61396"/>
                    <a:pt x="61396" y="584661"/>
                    <a:pt x="61396" y="1227825"/>
                  </a:cubicBezTo>
                  <a:lnTo>
                    <a:pt x="0" y="1227825"/>
                  </a:lnTo>
                  <a:cubicBezTo>
                    <a:pt x="0" y="550810"/>
                    <a:pt x="550810" y="0"/>
                    <a:pt x="1227825" y="0"/>
                  </a:cubicBezTo>
                  <a:cubicBezTo>
                    <a:pt x="1904839" y="0"/>
                    <a:pt x="2455649" y="550810"/>
                    <a:pt x="2455649" y="1227825"/>
                  </a:cubicBezTo>
                  <a:close/>
                </a:path>
              </a:pathLst>
            </a:custGeom>
            <a:solidFill>
              <a:schemeClr val="accent1">
                <a:lumMod val="75000"/>
              </a:schemeClr>
            </a:solidFill>
            <a:ln w="5165" cap="flat">
              <a:noFill/>
              <a:prstDash val="solid"/>
              <a:miter/>
            </a:ln>
          </p:spPr>
          <p:txBody>
            <a:bodyPr rtlCol="0" anchor="ctr"/>
            <a:lstStyle/>
            <a:p>
              <a:endParaRPr lang="en-US" sz="1000"/>
            </a:p>
          </p:txBody>
        </p:sp>
      </p:grpSp>
      <p:grpSp>
        <p:nvGrpSpPr>
          <p:cNvPr id="20" name="Group 19">
            <a:extLst>
              <a:ext uri="{FF2B5EF4-FFF2-40B4-BE49-F238E27FC236}">
                <a16:creationId xmlns:a16="http://schemas.microsoft.com/office/drawing/2014/main" id="{D7D4A6D8-EE13-CD41-9BB4-131B2C22E290}"/>
              </a:ext>
            </a:extLst>
          </p:cNvPr>
          <p:cNvGrpSpPr/>
          <p:nvPr/>
        </p:nvGrpSpPr>
        <p:grpSpPr>
          <a:xfrm>
            <a:off x="6342064" y="758456"/>
            <a:ext cx="5506449" cy="375555"/>
            <a:chOff x="6240464" y="1062245"/>
            <a:chExt cx="5506449" cy="375555"/>
          </a:xfrm>
        </p:grpSpPr>
        <p:cxnSp>
          <p:nvCxnSpPr>
            <p:cNvPr id="21" name="Straight Arrow Connector 20">
              <a:extLst>
                <a:ext uri="{FF2B5EF4-FFF2-40B4-BE49-F238E27FC236}">
                  <a16:creationId xmlns:a16="http://schemas.microsoft.com/office/drawing/2014/main" id="{444FCDDB-8B95-FF2B-9994-5D1E4B20EB35}"/>
                </a:ext>
              </a:extLst>
            </p:cNvPr>
            <p:cNvCxnSpPr>
              <a:cxnSpLocks/>
            </p:cNvCxnSpPr>
            <p:nvPr/>
          </p:nvCxnSpPr>
          <p:spPr>
            <a:xfrm>
              <a:off x="8126635" y="1364383"/>
              <a:ext cx="3620278" cy="0"/>
            </a:xfrm>
            <a:prstGeom prst="straightConnector1">
              <a:avLst/>
            </a:prstGeom>
            <a:ln>
              <a:solidFill>
                <a:schemeClr val="tx2"/>
              </a:solidFill>
              <a:prstDash val="sysDash"/>
              <a:tailEnd type="oval"/>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C8D9B879-BAD4-C2A6-2934-AD37C6179A39}"/>
                </a:ext>
              </a:extLst>
            </p:cNvPr>
            <p:cNvSpPr/>
            <p:nvPr/>
          </p:nvSpPr>
          <p:spPr bwMode="gray">
            <a:xfrm>
              <a:off x="6301518" y="1114390"/>
              <a:ext cx="1993741" cy="271264"/>
            </a:xfrm>
            <a:prstGeom prst="roundRect">
              <a:avLst>
                <a:gd name="adj" fmla="val 50000"/>
              </a:avLst>
            </a:prstGeom>
            <a:solidFill>
              <a:schemeClr val="accent5"/>
            </a:solidFill>
            <a:ln w="19050" algn="ctr">
              <a:noFill/>
              <a:miter lim="800000"/>
              <a:headEnd/>
              <a:tailEnd/>
            </a:ln>
          </p:spPr>
          <p:txBody>
            <a:bodyPr wrap="square" lIns="91440" tIns="88900" rIns="88900" bIns="88900" rtlCol="0" anchor="ctr"/>
            <a:lstStyle/>
            <a:p>
              <a:pPr>
                <a:lnSpc>
                  <a:spcPct val="106000"/>
                </a:lnSpc>
              </a:pPr>
              <a:r>
                <a:rPr lang="en-US" sz="1000" b="1">
                  <a:solidFill>
                    <a:schemeClr val="bg1"/>
                  </a:solidFill>
                </a:rPr>
                <a:t>Participant Name(s) &amp; Email Id</a:t>
              </a:r>
            </a:p>
          </p:txBody>
        </p:sp>
        <p:sp>
          <p:nvSpPr>
            <p:cNvPr id="23" name="Freeform: Shape 22">
              <a:extLst>
                <a:ext uri="{FF2B5EF4-FFF2-40B4-BE49-F238E27FC236}">
                  <a16:creationId xmlns:a16="http://schemas.microsoft.com/office/drawing/2014/main" id="{EA2BE304-16CE-A088-50E4-7F4CA6C572CD}"/>
                </a:ext>
              </a:extLst>
            </p:cNvPr>
            <p:cNvSpPr/>
            <p:nvPr/>
          </p:nvSpPr>
          <p:spPr>
            <a:xfrm rot="16200000">
              <a:off x="6155806" y="1146903"/>
              <a:ext cx="375555" cy="206239"/>
            </a:xfrm>
            <a:custGeom>
              <a:avLst/>
              <a:gdLst>
                <a:gd name="connsiteX0" fmla="*/ 2455649 w 2455649"/>
                <a:gd name="connsiteY0" fmla="*/ 1227825 h 1227824"/>
                <a:gd name="connsiteX1" fmla="*/ 2394254 w 2455649"/>
                <a:gd name="connsiteY1" fmla="*/ 1227825 h 1227824"/>
                <a:gd name="connsiteX2" fmla="*/ 1227825 w 2455649"/>
                <a:gd name="connsiteY2" fmla="*/ 61396 h 1227824"/>
                <a:gd name="connsiteX3" fmla="*/ 61396 w 2455649"/>
                <a:gd name="connsiteY3" fmla="*/ 1227825 h 1227824"/>
                <a:gd name="connsiteX4" fmla="*/ 0 w 2455649"/>
                <a:gd name="connsiteY4" fmla="*/ 1227825 h 1227824"/>
                <a:gd name="connsiteX5" fmla="*/ 1227825 w 2455649"/>
                <a:gd name="connsiteY5" fmla="*/ 0 h 1227824"/>
                <a:gd name="connsiteX6" fmla="*/ 2455649 w 2455649"/>
                <a:gd name="connsiteY6" fmla="*/ 1227825 h 1227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5649" h="1227824">
                  <a:moveTo>
                    <a:pt x="2455649" y="1227825"/>
                  </a:moveTo>
                  <a:lnTo>
                    <a:pt x="2394254" y="1227825"/>
                  </a:lnTo>
                  <a:cubicBezTo>
                    <a:pt x="2394254" y="584661"/>
                    <a:pt x="1870989" y="61396"/>
                    <a:pt x="1227825" y="61396"/>
                  </a:cubicBezTo>
                  <a:cubicBezTo>
                    <a:pt x="584661" y="61396"/>
                    <a:pt x="61396" y="584661"/>
                    <a:pt x="61396" y="1227825"/>
                  </a:cubicBezTo>
                  <a:lnTo>
                    <a:pt x="0" y="1227825"/>
                  </a:lnTo>
                  <a:cubicBezTo>
                    <a:pt x="0" y="550810"/>
                    <a:pt x="550810" y="0"/>
                    <a:pt x="1227825" y="0"/>
                  </a:cubicBezTo>
                  <a:cubicBezTo>
                    <a:pt x="1904839" y="0"/>
                    <a:pt x="2455649" y="550810"/>
                    <a:pt x="2455649" y="1227825"/>
                  </a:cubicBezTo>
                  <a:close/>
                </a:path>
              </a:pathLst>
            </a:custGeom>
            <a:solidFill>
              <a:schemeClr val="accent6">
                <a:lumMod val="75000"/>
              </a:schemeClr>
            </a:solidFill>
            <a:ln w="5165" cap="flat">
              <a:noFill/>
              <a:prstDash val="solid"/>
              <a:miter/>
            </a:ln>
          </p:spPr>
          <p:txBody>
            <a:bodyPr rtlCol="0" anchor="ctr"/>
            <a:lstStyle/>
            <a:p>
              <a:endParaRPr lang="en-US" sz="1000"/>
            </a:p>
          </p:txBody>
        </p:sp>
      </p:grpSp>
      <p:sp>
        <p:nvSpPr>
          <p:cNvPr id="26" name="Title 2">
            <a:extLst>
              <a:ext uri="{FF2B5EF4-FFF2-40B4-BE49-F238E27FC236}">
                <a16:creationId xmlns:a16="http://schemas.microsoft.com/office/drawing/2014/main" id="{F91B35AE-5CCB-2775-B14F-6BAF5D5E34CE}"/>
              </a:ext>
            </a:extLst>
          </p:cNvPr>
          <p:cNvSpPr txBox="1">
            <a:spLocks/>
          </p:cNvSpPr>
          <p:nvPr/>
        </p:nvSpPr>
        <p:spPr bwMode="gray">
          <a:xfrm>
            <a:off x="3702281" y="0"/>
            <a:ext cx="4787438" cy="342000"/>
          </a:xfrm>
          <a:prstGeom prst="rect">
            <a:avLst/>
          </a:prstGeom>
        </p:spPr>
        <p:txBody>
          <a:bodyPr vert="horz" lIns="0" tIns="0" rIns="0" bIns="0" rtlCol="0" anchor="b" anchorCtr="0">
            <a:noAutofit/>
          </a:bodyPr>
          <a:lstStyle>
            <a:lvl1pPr algn="l" defTabSz="685800" rtl="0" eaLnBrk="1" latinLnBrk="0" hangingPunct="1">
              <a:lnSpc>
                <a:spcPts val="3200"/>
              </a:lnSpc>
              <a:spcBef>
                <a:spcPct val="0"/>
              </a:spcBef>
              <a:buNone/>
              <a:defRPr sz="3200" b="0" kern="1200">
                <a:solidFill>
                  <a:schemeClr val="accent3"/>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sz="1800"/>
              <a:t>Capstone Use Case – Student Response Template</a:t>
            </a:r>
          </a:p>
        </p:txBody>
      </p:sp>
      <p:sp>
        <p:nvSpPr>
          <p:cNvPr id="27" name="Text Placeholder 2">
            <a:extLst>
              <a:ext uri="{FF2B5EF4-FFF2-40B4-BE49-F238E27FC236}">
                <a16:creationId xmlns:a16="http://schemas.microsoft.com/office/drawing/2014/main" id="{23CC80B3-99F1-EF7D-250A-EF580F8CA82F}"/>
              </a:ext>
            </a:extLst>
          </p:cNvPr>
          <p:cNvSpPr txBox="1">
            <a:spLocks/>
          </p:cNvSpPr>
          <p:nvPr/>
        </p:nvSpPr>
        <p:spPr>
          <a:xfrm>
            <a:off x="9519914" y="6679986"/>
            <a:ext cx="2327624" cy="135779"/>
          </a:xfrm>
          <a:prstGeom prst="rect">
            <a:avLst/>
          </a:prstGeom>
        </p:spPr>
        <p:txBody>
          <a:bodyPr vert="horz" lIns="0" tIns="0" rIns="0" bIns="0" rtlCol="0" anchor="ctr">
            <a:noAutofit/>
          </a:bodyPr>
          <a:lstStyle>
            <a:lvl1pPr marL="0" indent="0" algn="l" defTabSz="685800" rtl="0" eaLnBrk="1" latinLnBrk="0" hangingPunct="1">
              <a:lnSpc>
                <a:spcPct val="100000"/>
              </a:lnSpc>
              <a:spcBef>
                <a:spcPts val="200"/>
              </a:spcBef>
              <a:spcAft>
                <a:spcPts val="0"/>
              </a:spcAft>
              <a:buSzPct val="100000"/>
              <a:buFontTx/>
              <a:buNone/>
              <a:defRPr sz="1400" b="1" kern="1200">
                <a:solidFill>
                  <a:schemeClr val="tx1"/>
                </a:solidFill>
                <a:latin typeface="Calibri" panose="020F0502020204030204" pitchFamily="34" charset="0"/>
                <a:ea typeface="+mn-ea"/>
                <a:cs typeface="Calibri" panose="020F05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a:solidFill>
                  <a:schemeClr val="bg1"/>
                </a:solidFill>
                <a:latin typeface="+mj-lt"/>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a:solidFill>
                  <a:schemeClr val="bg1"/>
                </a:solidFill>
                <a:latin typeface="+mn-lt"/>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a:solidFill>
                  <a:schemeClr val="bg1"/>
                </a:solidFill>
                <a:latin typeface="+mn-lt"/>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a:solidFill>
                  <a:schemeClr val="bg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r>
              <a:rPr lang="en-US" sz="800" b="0">
                <a:ea typeface="Calibri" panose="020F0502020204030204" pitchFamily="34" charset="0"/>
              </a:rPr>
              <a:t>Capstone Program 2026 – Student Response Template</a:t>
            </a:r>
          </a:p>
        </p:txBody>
      </p:sp>
      <p:pic>
        <p:nvPicPr>
          <p:cNvPr id="25" name="Picture 24">
            <a:extLst>
              <a:ext uri="{FF2B5EF4-FFF2-40B4-BE49-F238E27FC236}">
                <a16:creationId xmlns:a16="http://schemas.microsoft.com/office/drawing/2014/main" id="{573E76BA-1EEB-D8DA-926A-69E95F413C7F}"/>
              </a:ext>
            </a:extLst>
          </p:cNvPr>
          <p:cNvPicPr>
            <a:picLocks noChangeAspect="1"/>
          </p:cNvPicPr>
          <p:nvPr/>
        </p:nvPicPr>
        <p:blipFill rotWithShape="1">
          <a:blip r:embed="rId2"/>
          <a:srcRect t="48665" r="49292" b="-415"/>
          <a:stretch/>
        </p:blipFill>
        <p:spPr>
          <a:xfrm>
            <a:off x="10683726" y="0"/>
            <a:ext cx="1496730" cy="1531979"/>
          </a:xfrm>
          <a:prstGeom prst="rect">
            <a:avLst/>
          </a:prstGeom>
        </p:spPr>
      </p:pic>
      <p:sp>
        <p:nvSpPr>
          <p:cNvPr id="2" name="TextBox 1">
            <a:extLst>
              <a:ext uri="{FF2B5EF4-FFF2-40B4-BE49-F238E27FC236}">
                <a16:creationId xmlns:a16="http://schemas.microsoft.com/office/drawing/2014/main" id="{18EB4150-B85D-104D-FC9B-EFD63DCDB3F0}"/>
              </a:ext>
            </a:extLst>
          </p:cNvPr>
          <p:cNvSpPr txBox="1"/>
          <p:nvPr/>
        </p:nvSpPr>
        <p:spPr>
          <a:xfrm>
            <a:off x="2616199" y="1193800"/>
            <a:ext cx="3283857"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spcBef>
                <a:spcPts val="600"/>
              </a:spcBef>
              <a:buSzPct val="100000"/>
            </a:pPr>
            <a:r>
              <a:rPr lang="en-US">
                <a:solidFill>
                  <a:srgbClr val="313131"/>
                </a:solidFill>
                <a:ea typeface="Calibri"/>
                <a:cs typeface="Calibri"/>
              </a:rPr>
              <a:t> Manipal University Jaipur</a:t>
            </a:r>
          </a:p>
        </p:txBody>
      </p:sp>
      <p:sp>
        <p:nvSpPr>
          <p:cNvPr id="4" name="TextBox 3">
            <a:extLst>
              <a:ext uri="{FF2B5EF4-FFF2-40B4-BE49-F238E27FC236}">
                <a16:creationId xmlns:a16="http://schemas.microsoft.com/office/drawing/2014/main" id="{BA680097-9073-8127-7331-0199CD840163}"/>
              </a:ext>
            </a:extLst>
          </p:cNvPr>
          <p:cNvSpPr txBox="1"/>
          <p:nvPr/>
        </p:nvSpPr>
        <p:spPr>
          <a:xfrm>
            <a:off x="2064656" y="1614713"/>
            <a:ext cx="2739571"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spcBef>
                <a:spcPts val="600"/>
              </a:spcBef>
              <a:buSzPct val="100000"/>
            </a:pPr>
            <a:r>
              <a:rPr lang="en-US">
                <a:solidFill>
                  <a:srgbClr val="313131"/>
                </a:solidFill>
                <a:ea typeface="Calibri"/>
                <a:cs typeface="Calibri"/>
              </a:rPr>
              <a:t>BIOS</a:t>
            </a:r>
          </a:p>
        </p:txBody>
      </p:sp>
      <p:sp>
        <p:nvSpPr>
          <p:cNvPr id="5" name="TextBox 4">
            <a:extLst>
              <a:ext uri="{FF2B5EF4-FFF2-40B4-BE49-F238E27FC236}">
                <a16:creationId xmlns:a16="http://schemas.microsoft.com/office/drawing/2014/main" id="{5E1BE5C6-2E9D-D593-C2F7-05BB6F98F11C}"/>
              </a:ext>
            </a:extLst>
          </p:cNvPr>
          <p:cNvSpPr txBox="1"/>
          <p:nvPr/>
        </p:nvSpPr>
        <p:spPr>
          <a:xfrm>
            <a:off x="3135086" y="540657"/>
            <a:ext cx="3345542" cy="49244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buSzPct val="100000"/>
            </a:pPr>
            <a:r>
              <a:rPr lang="en-US" sz="1600" dirty="0">
                <a:solidFill>
                  <a:srgbClr val="313131"/>
                </a:solidFill>
                <a:ea typeface="+mn-lt"/>
                <a:cs typeface="+mn-lt"/>
              </a:rPr>
              <a:t>ChurnGuard: AI-Powered Customer Retention Intelligence</a:t>
            </a:r>
            <a:endParaRPr lang="en-US" sz="1600" dirty="0">
              <a:solidFill>
                <a:srgbClr val="313131"/>
              </a:solidFill>
              <a:ea typeface="Calibri"/>
              <a:cs typeface="Calibri"/>
            </a:endParaRPr>
          </a:p>
        </p:txBody>
      </p:sp>
      <p:sp>
        <p:nvSpPr>
          <p:cNvPr id="6" name="TextBox 5">
            <a:extLst>
              <a:ext uri="{FF2B5EF4-FFF2-40B4-BE49-F238E27FC236}">
                <a16:creationId xmlns:a16="http://schemas.microsoft.com/office/drawing/2014/main" id="{D9DFE30B-2F32-09EA-3718-CC7F27DC2D83}"/>
              </a:ext>
            </a:extLst>
          </p:cNvPr>
          <p:cNvSpPr txBox="1"/>
          <p:nvPr/>
        </p:nvSpPr>
        <p:spPr>
          <a:xfrm>
            <a:off x="8490857" y="616857"/>
            <a:ext cx="2939142" cy="178510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03200" indent="-203200">
              <a:spcBef>
                <a:spcPts val="600"/>
              </a:spcBef>
              <a:buSzPct val="100000"/>
              <a:buFont typeface="Arial"/>
              <a:buChar char="•"/>
            </a:pPr>
            <a:r>
              <a:rPr lang="en-US" sz="1200">
                <a:solidFill>
                  <a:srgbClr val="313131"/>
                </a:solidFill>
                <a:ea typeface="Calibri"/>
                <a:cs typeface="Calibri"/>
              </a:rPr>
              <a:t>Farhat Khanam Sherani – </a:t>
            </a:r>
            <a:r>
              <a:rPr lang="en-US" sz="1200" dirty="0">
                <a:solidFill>
                  <a:srgbClr val="313131"/>
                </a:solidFill>
                <a:ea typeface="Calibri"/>
                <a:cs typeface="Calibri"/>
                <a:hlinkClick r:id="rId3"/>
              </a:rPr>
              <a:t>farhatsherani08@gmail.com</a:t>
            </a:r>
            <a:endParaRPr lang="en-US" sz="1200" dirty="0">
              <a:ea typeface="Calibri"/>
              <a:cs typeface="Calibri"/>
            </a:endParaRPr>
          </a:p>
          <a:p>
            <a:pPr marL="203200" indent="-203200">
              <a:spcBef>
                <a:spcPts val="600"/>
              </a:spcBef>
              <a:buSzPct val="100000"/>
              <a:buFont typeface="Arial"/>
              <a:buChar char="•"/>
            </a:pPr>
            <a:r>
              <a:rPr lang="en-US" sz="1200">
                <a:solidFill>
                  <a:srgbClr val="313131"/>
                </a:solidFill>
                <a:ea typeface="Calibri"/>
                <a:cs typeface="Calibri"/>
              </a:rPr>
              <a:t>Farha Khanam Sherani – </a:t>
            </a:r>
            <a:r>
              <a:rPr lang="en-US" sz="1200" dirty="0">
                <a:solidFill>
                  <a:srgbClr val="00B0F0"/>
                </a:solidFill>
                <a:ea typeface="Calibri"/>
                <a:cs typeface="Calibri"/>
                <a:hlinkClick r:id="rId4">
                  <a:extLst>
                    <a:ext uri="{A12FA001-AC4F-418D-AE19-62706E023703}">
                      <ahyp:hlinkClr xmlns:ahyp="http://schemas.microsoft.com/office/drawing/2018/hyperlinkcolor" val="tx"/>
                    </a:ext>
                  </a:extLst>
                </a:hlinkClick>
              </a:rPr>
              <a:t>sheranifarha4@gmail.com</a:t>
            </a:r>
            <a:endParaRPr lang="en-US" sz="1200">
              <a:solidFill>
                <a:srgbClr val="00B0F0"/>
              </a:solidFill>
              <a:ea typeface="Calibri"/>
              <a:cs typeface="Calibri"/>
            </a:endParaRPr>
          </a:p>
          <a:p>
            <a:pPr marL="203200" indent="-203200">
              <a:spcBef>
                <a:spcPts val="600"/>
              </a:spcBef>
              <a:buSzPct val="100000"/>
              <a:buFont typeface="Arial"/>
              <a:buChar char="•"/>
            </a:pPr>
            <a:r>
              <a:rPr lang="en-US" sz="1200">
                <a:solidFill>
                  <a:srgbClr val="313131"/>
                </a:solidFill>
                <a:ea typeface="Calibri"/>
                <a:cs typeface="Calibri"/>
              </a:rPr>
              <a:t>Shalvi Khare - </a:t>
            </a:r>
            <a:r>
              <a:rPr lang="en-US" sz="1200" dirty="0">
                <a:solidFill>
                  <a:srgbClr val="313131"/>
                </a:solidFill>
                <a:ea typeface="+mn-lt"/>
                <a:cs typeface="+mn-lt"/>
                <a:hlinkClick r:id="rId5"/>
              </a:rPr>
              <a:t>shalvi.khare2007@gmail.com</a:t>
            </a:r>
            <a:endParaRPr lang="en-US" sz="1200" dirty="0">
              <a:solidFill>
                <a:srgbClr val="313131"/>
              </a:solidFill>
              <a:ea typeface="+mn-lt"/>
              <a:cs typeface="+mn-lt"/>
            </a:endParaRPr>
          </a:p>
          <a:p>
            <a:pPr marL="203200" indent="-203200">
              <a:spcBef>
                <a:spcPts val="600"/>
              </a:spcBef>
              <a:buSzPct val="100000"/>
              <a:buFont typeface="Arial"/>
              <a:buChar char="•"/>
            </a:pPr>
            <a:r>
              <a:rPr lang="en-US" sz="1200">
                <a:solidFill>
                  <a:srgbClr val="313131"/>
                </a:solidFill>
                <a:ea typeface="Calibri"/>
                <a:cs typeface="Calibri"/>
              </a:rPr>
              <a:t>Suhail Inamdar - </a:t>
            </a:r>
            <a:r>
              <a:rPr lang="en-US" sz="1200" dirty="0">
                <a:solidFill>
                  <a:srgbClr val="313131"/>
                </a:solidFill>
                <a:ea typeface="Calibri"/>
                <a:cs typeface="Calibri"/>
                <a:hlinkClick r:id="rId6"/>
              </a:rPr>
              <a:t>Suhailinamdar1002@gmail.com</a:t>
            </a:r>
            <a:endParaRPr lang="en-US" sz="1200" dirty="0">
              <a:solidFill>
                <a:srgbClr val="313131"/>
              </a:solidFill>
              <a:ea typeface="Calibri"/>
              <a:cs typeface="Calibri"/>
            </a:endParaRPr>
          </a:p>
          <a:p>
            <a:pPr marL="203200" indent="-203200">
              <a:spcBef>
                <a:spcPts val="600"/>
              </a:spcBef>
              <a:buSzPct val="100000"/>
              <a:buFont typeface="Arial"/>
              <a:buChar char="•"/>
            </a:pPr>
            <a:endParaRPr lang="en-US" sz="1200">
              <a:solidFill>
                <a:srgbClr val="313131"/>
              </a:solidFill>
              <a:ea typeface="Calibri"/>
              <a:cs typeface="Calibri"/>
            </a:endParaRPr>
          </a:p>
        </p:txBody>
      </p:sp>
    </p:spTree>
    <p:extLst>
      <p:ext uri="{BB962C8B-B14F-4D97-AF65-F5344CB8AC3E}">
        <p14:creationId xmlns:p14="http://schemas.microsoft.com/office/powerpoint/2010/main" val="40740200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8C6D3-325B-8818-12BA-319F32C69443}"/>
            </a:ext>
          </a:extLst>
        </p:cNvPr>
        <p:cNvGrpSpPr/>
        <p:nvPr/>
      </p:nvGrpSpPr>
      <p:grpSpPr>
        <a:xfrm>
          <a:off x="0" y="0"/>
          <a:ext cx="0" cy="0"/>
          <a:chOff x="0" y="0"/>
          <a:chExt cx="0" cy="0"/>
        </a:xfrm>
      </p:grpSpPr>
      <p:pic>
        <p:nvPicPr>
          <p:cNvPr id="25" name="Picture 24">
            <a:extLst>
              <a:ext uri="{FF2B5EF4-FFF2-40B4-BE49-F238E27FC236}">
                <a16:creationId xmlns:a16="http://schemas.microsoft.com/office/drawing/2014/main" id="{BA660808-A98F-1090-684D-50CEE057D7BB}"/>
              </a:ext>
            </a:extLst>
          </p:cNvPr>
          <p:cNvPicPr>
            <a:picLocks noChangeAspect="1"/>
          </p:cNvPicPr>
          <p:nvPr/>
        </p:nvPicPr>
        <p:blipFill rotWithShape="1">
          <a:blip r:embed="rId2"/>
          <a:srcRect t="48665" r="49292" b="-415"/>
          <a:stretch/>
        </p:blipFill>
        <p:spPr>
          <a:xfrm>
            <a:off x="10698240" y="0"/>
            <a:ext cx="1496730" cy="1531979"/>
          </a:xfrm>
          <a:prstGeom prst="rect">
            <a:avLst/>
          </a:prstGeom>
        </p:spPr>
      </p:pic>
      <p:sp>
        <p:nvSpPr>
          <p:cNvPr id="3" name="Text Placeholder 2">
            <a:extLst>
              <a:ext uri="{FF2B5EF4-FFF2-40B4-BE49-F238E27FC236}">
                <a16:creationId xmlns:a16="http://schemas.microsoft.com/office/drawing/2014/main" id="{BF4E5129-3BCD-0544-FFF1-6A45F14416EA}"/>
              </a:ext>
            </a:extLst>
          </p:cNvPr>
          <p:cNvSpPr>
            <a:spLocks noGrp="1"/>
          </p:cNvSpPr>
          <p:nvPr>
            <p:ph type="body" sz="quarter" idx="10"/>
          </p:nvPr>
        </p:nvSpPr>
        <p:spPr>
          <a:xfrm>
            <a:off x="476141" y="6660850"/>
            <a:ext cx="4490721" cy="180000"/>
          </a:xfrm>
        </p:spPr>
        <p:txBody>
          <a:bodyPr/>
          <a:lstStyle/>
          <a:p>
            <a:r>
              <a:rPr lang="en-US" sz="800" b="0">
                <a:ea typeface="Calibri" panose="020F0502020204030204" pitchFamily="34" charset="0"/>
              </a:rPr>
              <a:t>Copyright © 2026 Deloitte Development LLC. All rights reserved.</a:t>
            </a:r>
          </a:p>
        </p:txBody>
      </p:sp>
      <p:graphicFrame>
        <p:nvGraphicFramePr>
          <p:cNvPr id="7" name="Table 6">
            <a:extLst>
              <a:ext uri="{FF2B5EF4-FFF2-40B4-BE49-F238E27FC236}">
                <a16:creationId xmlns:a16="http://schemas.microsoft.com/office/drawing/2014/main" id="{928C6799-80BE-03B8-CFB8-1F9234F54BCB}"/>
              </a:ext>
            </a:extLst>
          </p:cNvPr>
          <p:cNvGraphicFramePr>
            <a:graphicFrameLocks noGrp="1"/>
          </p:cNvGraphicFramePr>
          <p:nvPr>
            <p:extLst>
              <p:ext uri="{D42A27DB-BD31-4B8C-83A1-F6EECF244321}">
                <p14:modId xmlns:p14="http://schemas.microsoft.com/office/powerpoint/2010/main" val="758733045"/>
              </p:ext>
            </p:extLst>
          </p:nvPr>
        </p:nvGraphicFramePr>
        <p:xfrm>
          <a:off x="203200" y="776514"/>
          <a:ext cx="11786009" cy="6145468"/>
        </p:xfrm>
        <a:graphic>
          <a:graphicData uri="http://schemas.openxmlformats.org/drawingml/2006/table">
            <a:tbl>
              <a:tblPr>
                <a:tableStyleId>{0E3FDE45-AF77-4B5C-9715-49D594BDF05E}</a:tableStyleId>
              </a:tblPr>
              <a:tblGrid>
                <a:gridCol w="1669304">
                  <a:extLst>
                    <a:ext uri="{9D8B030D-6E8A-4147-A177-3AD203B41FA5}">
                      <a16:colId xmlns:a16="http://schemas.microsoft.com/office/drawing/2014/main" val="1557693294"/>
                    </a:ext>
                  </a:extLst>
                </a:gridCol>
                <a:gridCol w="31722">
                  <a:extLst>
                    <a:ext uri="{9D8B030D-6E8A-4147-A177-3AD203B41FA5}">
                      <a16:colId xmlns:a16="http://schemas.microsoft.com/office/drawing/2014/main" val="3779621513"/>
                    </a:ext>
                  </a:extLst>
                </a:gridCol>
                <a:gridCol w="4426857">
                  <a:extLst>
                    <a:ext uri="{9D8B030D-6E8A-4147-A177-3AD203B41FA5}">
                      <a16:colId xmlns:a16="http://schemas.microsoft.com/office/drawing/2014/main" val="927400850"/>
                    </a:ext>
                  </a:extLst>
                </a:gridCol>
                <a:gridCol w="4933259">
                  <a:extLst>
                    <a:ext uri="{9D8B030D-6E8A-4147-A177-3AD203B41FA5}">
                      <a16:colId xmlns:a16="http://schemas.microsoft.com/office/drawing/2014/main" val="3562290"/>
                    </a:ext>
                  </a:extLst>
                </a:gridCol>
                <a:gridCol w="724867">
                  <a:extLst>
                    <a:ext uri="{9D8B030D-6E8A-4147-A177-3AD203B41FA5}">
                      <a16:colId xmlns:a16="http://schemas.microsoft.com/office/drawing/2014/main" val="3063779762"/>
                    </a:ext>
                  </a:extLst>
                </a:gridCol>
              </a:tblGrid>
              <a:tr h="176493">
                <a:tc gridSpan="2">
                  <a:txBody>
                    <a:bodyPr/>
                    <a:lstStyle/>
                    <a:p>
                      <a:pPr marL="91440" algn="l" defTabSz="685800" rtl="0" eaLnBrk="1" fontAlgn="b" latinLnBrk="0" hangingPunct="1">
                        <a:lnSpc>
                          <a:spcPct val="100000"/>
                        </a:lnSpc>
                      </a:pPr>
                      <a:r>
                        <a:rPr lang="en-US" sz="1050" b="1" u="none" strike="noStrike" kern="1200">
                          <a:ln w="3175">
                            <a:noFill/>
                          </a:ln>
                          <a:solidFill>
                            <a:srgbClr val="FFFFFF"/>
                          </a:solidFill>
                          <a:effectLst/>
                          <a:latin typeface="+mn-lt"/>
                          <a:ea typeface="+mn-ea"/>
                          <a:cs typeface="+mn-cs"/>
                        </a:rPr>
                        <a:t>Response Parameters</a:t>
                      </a:r>
                    </a:p>
                  </a:txBody>
                  <a:tcPr marL="5075" marR="5075" marT="5075"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5"/>
                    </a:solidFill>
                  </a:tcPr>
                </a:tc>
                <a:tc hMerge="1">
                  <a:txBody>
                    <a:bodyPr/>
                    <a:lstStyle/>
                    <a:p>
                      <a:pPr marL="91440" algn="l" defTabSz="685800" rtl="0" eaLnBrk="1" fontAlgn="b" latinLnBrk="0" hangingPunct="1">
                        <a:lnSpc>
                          <a:spcPct val="100000"/>
                        </a:lnSpc>
                      </a:pPr>
                      <a:r>
                        <a:rPr lang="en-US" sz="1050" b="1" u="none" strike="noStrike">
                          <a:ln w="3175">
                            <a:noFill/>
                          </a:ln>
                          <a:solidFill>
                            <a:srgbClr val="FFFFFF"/>
                          </a:solidFill>
                          <a:effectLst/>
                        </a:rPr>
                        <a:t>Description</a:t>
                      </a:r>
                      <a:endParaRPr lang="en-US" sz="1050" b="1" u="none" strike="noStrike" kern="1200">
                        <a:ln w="3175">
                          <a:noFill/>
                        </a:ln>
                        <a:solidFill>
                          <a:srgbClr val="FFFFFF"/>
                        </a:solidFill>
                        <a:effectLst/>
                        <a:latin typeface="+mn-lt"/>
                        <a:ea typeface="+mn-ea"/>
                        <a:cs typeface="+mn-cs"/>
                      </a:endParaRPr>
                    </a:p>
                  </a:txBody>
                  <a:tcPr marL="5075" marR="5075" marT="9144"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marL="91440" algn="l" defTabSz="685800" rtl="0" eaLnBrk="1" fontAlgn="b" latinLnBrk="0" hangingPunct="1">
                        <a:lnSpc>
                          <a:spcPct val="100000"/>
                        </a:lnSpc>
                      </a:pPr>
                      <a:r>
                        <a:rPr lang="en-US" sz="1050" b="1" u="none" strike="noStrike">
                          <a:ln w="3175">
                            <a:noFill/>
                          </a:ln>
                          <a:solidFill>
                            <a:srgbClr val="FFFFFF"/>
                          </a:solidFill>
                          <a:effectLst/>
                        </a:rPr>
                        <a:t>Description</a:t>
                      </a:r>
                      <a:endParaRPr lang="en-US" sz="1050" b="1" u="none" strike="noStrike" kern="1200">
                        <a:ln w="3175">
                          <a:noFill/>
                        </a:ln>
                        <a:solidFill>
                          <a:srgbClr val="FFFFFF"/>
                        </a:solidFill>
                        <a:effectLst/>
                        <a:latin typeface="+mn-lt"/>
                        <a:ea typeface="+mn-ea"/>
                        <a:cs typeface="+mn-cs"/>
                      </a:endParaRPr>
                    </a:p>
                  </a:txBody>
                  <a:tcPr marL="5075" marR="5075" marT="9144"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marL="91440" algn="l" defTabSz="685800" rtl="0" eaLnBrk="1" fontAlgn="b" latinLnBrk="0" hangingPunct="1">
                        <a:lnSpc>
                          <a:spcPct val="100000"/>
                        </a:lnSpc>
                      </a:pPr>
                      <a:r>
                        <a:rPr lang="en-US" sz="1050" b="1" u="none" strike="noStrike" kern="1200">
                          <a:ln w="3175">
                            <a:noFill/>
                          </a:ln>
                          <a:solidFill>
                            <a:srgbClr val="FFFFFF"/>
                          </a:solidFill>
                          <a:effectLst/>
                          <a:latin typeface="+mn-lt"/>
                          <a:ea typeface="+mn-ea"/>
                          <a:cs typeface="+mn-cs"/>
                        </a:rPr>
                        <a:t>Participant(s) Response</a:t>
                      </a:r>
                    </a:p>
                  </a:txBody>
                  <a:tcPr marL="5075" marR="5075" marT="9144"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5"/>
                    </a:solidFill>
                  </a:tcPr>
                </a:tc>
                <a:tc>
                  <a:txBody>
                    <a:bodyPr/>
                    <a:lstStyle/>
                    <a:p>
                      <a:pPr algn="l" fontAlgn="b">
                        <a:lnSpc>
                          <a:spcPct val="100000"/>
                        </a:lnSpc>
                      </a:pPr>
                      <a:r>
                        <a:rPr lang="en-US" sz="1050" b="1" u="none" strike="noStrike">
                          <a:ln w="3175">
                            <a:noFill/>
                          </a:ln>
                          <a:solidFill>
                            <a:srgbClr val="FFFFFF"/>
                          </a:solidFill>
                          <a:effectLst/>
                        </a:rPr>
                        <a:t>Weightage</a:t>
                      </a:r>
                      <a:endParaRPr lang="en-US" sz="1050" b="1" i="0" u="none" strike="noStrike">
                        <a:ln w="3175">
                          <a:noFill/>
                        </a:ln>
                        <a:solidFill>
                          <a:srgbClr val="FFFFFF"/>
                        </a:solidFill>
                        <a:effectLst/>
                        <a:latin typeface="Verdana" panose="020B0604030504040204" pitchFamily="34" charset="0"/>
                      </a:endParaRPr>
                    </a:p>
                  </a:txBody>
                  <a:tcPr marL="5075" marR="5075" marT="9144" marB="0" anchor="ctr" anchorCtr="1">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163502627"/>
                  </a:ext>
                </a:extLst>
              </a:tr>
              <a:tr h="1270756">
                <a:tc>
                  <a:txBody>
                    <a:bodyPr/>
                    <a:lstStyle/>
                    <a:p>
                      <a:pPr marL="91440" algn="l" fontAlgn="b">
                        <a:lnSpc>
                          <a:spcPct val="100000"/>
                        </a:lnSpc>
                      </a:pPr>
                      <a:r>
                        <a:rPr lang="en-US" sz="1000" b="0" u="none" strike="noStrike">
                          <a:ln w="3175">
                            <a:noFill/>
                          </a:ln>
                          <a:solidFill>
                            <a:srgbClr val="000000"/>
                          </a:solidFill>
                          <a:effectLst/>
                        </a:rPr>
                        <a:t>Goals and Objectives</a:t>
                      </a:r>
                      <a:endParaRPr lang="en-US" sz="1000" b="0" i="0" u="none" strike="noStrike">
                        <a:ln w="3175">
                          <a:noFill/>
                        </a:ln>
                        <a:solidFill>
                          <a:srgbClr val="000000"/>
                        </a:solidFill>
                        <a:effectLst/>
                        <a:latin typeface="Calibri"/>
                        <a:cs typeface="Calibri"/>
                      </a:endParaRPr>
                    </a:p>
                  </a:txBody>
                  <a:tcPr marL="5075" marR="5075" marT="5075" marB="0"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gridSpan="2">
                  <a:txBody>
                    <a:bodyPr/>
                    <a:lstStyle/>
                    <a:p>
                      <a:pPr marL="91440" algn="l" fontAlgn="b">
                        <a:lnSpc>
                          <a:spcPct val="100000"/>
                        </a:lnSpc>
                      </a:pPr>
                      <a:r>
                        <a:rPr lang="en-US" sz="1000" b="0" u="none" strike="noStrike">
                          <a:ln w="3175">
                            <a:noFill/>
                          </a:ln>
                          <a:solidFill>
                            <a:srgbClr val="000000"/>
                          </a:solidFill>
                          <a:effectLst/>
                        </a:rPr>
                        <a:t>List the specific goals and objectives of the use case.</a:t>
                      </a:r>
                      <a:endParaRPr lang="en-US" sz="1000"/>
                    </a:p>
                    <a:p>
                      <a:pPr marL="91440" lvl="0" algn="l">
                        <a:lnSpc>
                          <a:spcPct val="100000"/>
                        </a:lnSpc>
                        <a:buNone/>
                      </a:pPr>
                      <a:r>
                        <a:rPr lang="en-US" sz="1000" b="0" u="none" strike="noStrike">
                          <a:ln w="3175">
                            <a:noFill/>
                          </a:ln>
                          <a:solidFill>
                            <a:srgbClr val="000000"/>
                          </a:solidFill>
                          <a:effectLst/>
                        </a:rPr>
                        <a:t>What do you hope to achieve by implementing the solution?</a:t>
                      </a:r>
                      <a:endParaRPr lang="en-US"/>
                    </a:p>
                    <a:p>
                      <a:pPr marL="91440" lvl="0" algn="l">
                        <a:lnSpc>
                          <a:spcPct val="100000"/>
                        </a:lnSpc>
                        <a:buNone/>
                      </a:pPr>
                      <a:r>
                        <a:rPr lang="en-US" sz="1000" b="0" u="none" strike="noStrike">
                          <a:ln w="3175">
                            <a:noFill/>
                          </a:ln>
                          <a:solidFill>
                            <a:srgbClr val="000000"/>
                          </a:solidFill>
                          <a:effectLst/>
                        </a:rPr>
                        <a:t>What are the key performance indicators (KPIs)?</a:t>
                      </a:r>
                      <a:endParaRPr lang="en-US" sz="1000" b="0" i="0" u="none" strike="noStrike">
                        <a:ln w="3175">
                          <a:noFill/>
                        </a:ln>
                        <a:solidFill>
                          <a:srgbClr val="000000"/>
                        </a:solidFill>
                        <a:effectLst/>
                        <a:latin typeface="Calibri"/>
                        <a:cs typeface="Calibri"/>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marL="91440" algn="l" fontAlgn="b">
                        <a:lnSpc>
                          <a:spcPct val="100000"/>
                        </a:lnSpc>
                      </a:pPr>
                      <a:endParaRPr lang="en-US" sz="1000" b="0" i="0" u="none" strike="noStrike">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lvl="0" algn="l">
                        <a:lnSpc>
                          <a:spcPct val="100000"/>
                        </a:lnSpc>
                        <a:buNone/>
                      </a:pPr>
                      <a:r>
                        <a:rPr lang="en-US" sz="1000" b="0" i="0" u="none" strike="noStrike" noProof="0" dirty="0">
                          <a:ln w="3175">
                            <a:noFill/>
                          </a:ln>
                          <a:solidFill>
                            <a:srgbClr val="000000"/>
                          </a:solidFill>
                          <a:effectLst/>
                        </a:rPr>
                        <a:t> </a:t>
                      </a:r>
                      <a:endParaRPr lang="en-US" dirty="0"/>
                    </a:p>
                    <a:p>
                      <a:pPr lvl="0" algn="l">
                        <a:lnSpc>
                          <a:spcPct val="100000"/>
                        </a:lnSpc>
                        <a:buNone/>
                      </a:pPr>
                      <a:r>
                        <a:rPr lang="en-US" sz="1000" b="0" i="0" u="none" strike="noStrike" noProof="0" dirty="0">
                          <a:ln w="3175">
                            <a:noFill/>
                          </a:ln>
                          <a:solidFill>
                            <a:srgbClr val="000000"/>
                          </a:solidFill>
                          <a:effectLst/>
                        </a:rPr>
                        <a:t>The goal of </a:t>
                      </a:r>
                      <a:r>
                        <a:rPr lang="en-US" sz="1000" b="0" i="0" u="none" strike="noStrike" noProof="0" dirty="0" err="1">
                          <a:ln w="3175">
                            <a:noFill/>
                          </a:ln>
                          <a:solidFill>
                            <a:srgbClr val="000000"/>
                          </a:solidFill>
                          <a:effectLst/>
                        </a:rPr>
                        <a:t>ChurnGuard</a:t>
                      </a:r>
                      <a:r>
                        <a:rPr lang="en-US" sz="1000" b="0" i="0" u="none" strike="noStrike" noProof="0" dirty="0">
                          <a:ln w="3175">
                            <a:noFill/>
                          </a:ln>
                          <a:solidFill>
                            <a:srgbClr val="000000"/>
                          </a:solidFill>
                          <a:effectLst/>
                        </a:rPr>
                        <a:t> is to help SaaS companies identify customers who are likely to churn before they cancel, understand the reasons behind their disengagement, and enable timely, personalized retention actions. By implementing this solution, businesses can reduce customer churn, improve retention, increase recurring revenue, and support Customer Success teams with AI-driven insights. Key performance indicators (KPIs) include Customer Churn Rate, Customer Retention Rate, Monthly Recurring Revenue (MRR), Customer Lifetime Value (CLV), and Churn Prediction Accuracy.</a:t>
                      </a:r>
                    </a:p>
                    <a:p>
                      <a:pPr lvl="0" algn="l">
                        <a:lnSpc>
                          <a:spcPct val="100000"/>
                        </a:lnSpc>
                        <a:buNone/>
                      </a:pPr>
                      <a:endParaRPr lang="en-US" sz="1000" b="0" i="0" u="none" strike="noStrike" noProof="0" dirty="0">
                        <a:ln w="3175">
                          <a:noFill/>
                        </a:ln>
                        <a:solidFill>
                          <a:srgbClr val="000000"/>
                        </a:solidFill>
                        <a:effectLst/>
                      </a:endParaRPr>
                    </a:p>
                  </a:txBody>
                  <a:tcPr marL="5075" marR="5075" marT="5075" marB="0">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fontAlgn="b">
                        <a:lnSpc>
                          <a:spcPct val="100000"/>
                        </a:lnSpc>
                      </a:pPr>
                      <a:r>
                        <a:rPr lang="en-US" sz="1000" b="0" u="none" strike="noStrike">
                          <a:ln w="3175">
                            <a:noFill/>
                          </a:ln>
                          <a:solidFill>
                            <a:srgbClr val="000000"/>
                          </a:solidFill>
                          <a:effectLst/>
                        </a:rPr>
                        <a:t>10</a:t>
                      </a:r>
                      <a:endParaRPr lang="en-US" sz="1000" b="0" i="0" u="none" strike="noStrike">
                        <a:ln w="3175">
                          <a:noFill/>
                        </a:ln>
                        <a:solidFill>
                          <a:srgbClr val="000000"/>
                        </a:solidFill>
                        <a:effectLst/>
                        <a:latin typeface="Calibri"/>
                        <a:cs typeface="Calibri"/>
                      </a:endParaRPr>
                    </a:p>
                  </a:txBody>
                  <a:tcPr marL="5075" marR="5075" marT="5075" marB="0"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550427465"/>
                  </a:ext>
                </a:extLst>
              </a:tr>
              <a:tr h="1323704">
                <a:tc>
                  <a:txBody>
                    <a:bodyPr/>
                    <a:lstStyle/>
                    <a:p>
                      <a:pPr marL="91440" algn="l" fontAlgn="b">
                        <a:lnSpc>
                          <a:spcPct val="100000"/>
                        </a:lnSpc>
                      </a:pPr>
                      <a:r>
                        <a:rPr lang="en-US" sz="1000" b="0" u="none" strike="noStrike">
                          <a:ln w="3175">
                            <a:noFill/>
                          </a:ln>
                          <a:solidFill>
                            <a:srgbClr val="000000"/>
                          </a:solidFill>
                          <a:effectLst/>
                        </a:rPr>
                        <a:t>Level Of Complexity</a:t>
                      </a:r>
                      <a:endParaRPr lang="en-US" sz="1000" b="0" i="0" u="none" strike="noStrike">
                        <a:ln w="3175">
                          <a:noFill/>
                        </a:ln>
                        <a:solidFill>
                          <a:srgbClr val="000000"/>
                        </a:solidFill>
                        <a:effectLst/>
                        <a:latin typeface="Calibri"/>
                        <a:cs typeface="Calibri"/>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gridSpan="2">
                  <a:txBody>
                    <a:bodyPr/>
                    <a:lstStyle/>
                    <a:p>
                      <a:pPr marL="91440" algn="l" fontAlgn="b">
                        <a:lnSpc>
                          <a:spcPct val="100000"/>
                        </a:lnSpc>
                      </a:pPr>
                      <a:r>
                        <a:rPr lang="en-US" sz="1000" b="0" u="none" strike="noStrike">
                          <a:ln w="3175">
                            <a:noFill/>
                          </a:ln>
                          <a:solidFill>
                            <a:srgbClr val="000000"/>
                          </a:solidFill>
                          <a:effectLst/>
                        </a:rPr>
                        <a:t>What is inferred to be the level of complexity of this use case: High/Moderate/Low. Please substantiate with data points.</a:t>
                      </a:r>
                      <a:endParaRPr lang="en-US" sz="1000" b="0" i="0" u="none" strike="noStrike">
                        <a:ln w="3175">
                          <a:noFill/>
                        </a:ln>
                        <a:solidFill>
                          <a:srgbClr val="000000"/>
                        </a:solidFill>
                        <a:effectLst/>
                        <a:latin typeface="Calibri"/>
                        <a:cs typeface="Calibri"/>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hMerge="1">
                  <a:txBody>
                    <a:bodyPr/>
                    <a:lstStyle/>
                    <a:p>
                      <a:pPr marL="91440" algn="l" fontAlgn="b">
                        <a:lnSpc>
                          <a:spcPct val="100000"/>
                        </a:lnSpc>
                      </a:pPr>
                      <a:endParaRPr lang="en-US" sz="1000" b="0" i="0" u="none" strike="noStrike">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a:txBody>
                    <a:bodyPr/>
                    <a:lstStyle/>
                    <a:p>
                      <a:pPr lvl="0" algn="l">
                        <a:lnSpc>
                          <a:spcPct val="100000"/>
                        </a:lnSpc>
                        <a:buNone/>
                      </a:pPr>
                      <a:endParaRPr lang="en-US" sz="1000" b="0" i="0" u="none" strike="noStrike" noProof="0">
                        <a:ln w="3175">
                          <a:noFill/>
                        </a:ln>
                        <a:solidFill>
                          <a:srgbClr val="000000"/>
                        </a:solidFill>
                        <a:effectLst/>
                      </a:endParaRPr>
                    </a:p>
                    <a:p>
                      <a:pPr lvl="0" algn="l">
                        <a:lnSpc>
                          <a:spcPct val="100000"/>
                        </a:lnSpc>
                        <a:buNone/>
                      </a:pPr>
                      <a:r>
                        <a:rPr lang="en-US" sz="1000" b="0" i="0" u="none" strike="noStrike" noProof="0">
                          <a:ln w="3175">
                            <a:noFill/>
                          </a:ln>
                          <a:solidFill>
                            <a:srgbClr val="000000"/>
                          </a:solidFill>
                          <a:effectLst/>
                        </a:rPr>
                        <a:t>Level of Complexity: Moderate-High</a:t>
                      </a:r>
                    </a:p>
                    <a:p>
                      <a:pPr marL="285750" lvl="0" indent="-285750" algn="l">
                        <a:lnSpc>
                          <a:spcPct val="100000"/>
                        </a:lnSpc>
                        <a:spcBef>
                          <a:spcPts val="0"/>
                        </a:spcBef>
                        <a:spcAft>
                          <a:spcPts val="0"/>
                        </a:spcAft>
                        <a:buFont typeface="Arial"/>
                        <a:buChar char="•"/>
                      </a:pPr>
                      <a:r>
                        <a:rPr lang="en-US" sz="1000" b="1" i="0" u="none" strike="noStrike" noProof="0">
                          <a:ln w="3175">
                            <a:noFill/>
                          </a:ln>
                          <a:solidFill>
                            <a:srgbClr val="000000"/>
                          </a:solidFill>
                          <a:effectLst/>
                          <a:latin typeface="Calibri"/>
                          <a:ea typeface="Calibri"/>
                          <a:cs typeface="Calibri"/>
                        </a:rPr>
                        <a:t>3 AI components:</a:t>
                      </a:r>
                      <a:r>
                        <a:rPr lang="en-US" sz="1000" b="0" i="0" u="none" strike="noStrike" noProof="0">
                          <a:ln w="3175">
                            <a:noFill/>
                          </a:ln>
                          <a:solidFill>
                            <a:srgbClr val="000000"/>
                          </a:solidFill>
                          <a:effectLst/>
                          <a:latin typeface="Calibri"/>
                          <a:ea typeface="Calibri"/>
                          <a:cs typeface="Calibri"/>
                        </a:rPr>
                        <a:t> ML + SHAP + LLM </a:t>
                      </a:r>
                      <a:endParaRPr lang="en-US"/>
                    </a:p>
                    <a:p>
                      <a:pPr marL="285750" lvl="0" indent="-285750" algn="l">
                        <a:lnSpc>
                          <a:spcPct val="100000"/>
                        </a:lnSpc>
                        <a:spcBef>
                          <a:spcPts val="0"/>
                        </a:spcBef>
                        <a:spcAft>
                          <a:spcPts val="0"/>
                        </a:spcAft>
                        <a:buFont typeface="Arial"/>
                        <a:buChar char="•"/>
                      </a:pPr>
                      <a:r>
                        <a:rPr lang="en-US" sz="1000" b="1" i="0" u="none" strike="noStrike" noProof="0">
                          <a:ln w="3175">
                            <a:noFill/>
                          </a:ln>
                          <a:solidFill>
                            <a:srgbClr val="000000"/>
                          </a:solidFill>
                          <a:effectLst/>
                          <a:latin typeface="Calibri"/>
                          <a:ea typeface="Calibri"/>
                          <a:cs typeface="Calibri"/>
                        </a:rPr>
                        <a:t>5 core modules:</a:t>
                      </a:r>
                      <a:r>
                        <a:rPr lang="en-US" sz="1000" b="0" i="0" u="none" strike="noStrike" noProof="0">
                          <a:ln w="3175">
                            <a:noFill/>
                          </a:ln>
                          <a:solidFill>
                            <a:srgbClr val="000000"/>
                          </a:solidFill>
                          <a:effectLst/>
                          <a:latin typeface="Calibri"/>
                          <a:ea typeface="Calibri"/>
                          <a:cs typeface="Calibri"/>
                        </a:rPr>
                        <a:t> Data Processing, Churn Prediction, Root Cause Analysis, AI Outreach, Dashboard </a:t>
                      </a:r>
                      <a:endParaRPr lang="en-US"/>
                    </a:p>
                    <a:p>
                      <a:pPr marL="285750" lvl="0" indent="-285750" algn="l">
                        <a:lnSpc>
                          <a:spcPct val="100000"/>
                        </a:lnSpc>
                        <a:spcBef>
                          <a:spcPts val="0"/>
                        </a:spcBef>
                        <a:spcAft>
                          <a:spcPts val="0"/>
                        </a:spcAft>
                        <a:buFont typeface="Arial"/>
                        <a:buChar char="•"/>
                      </a:pPr>
                      <a:r>
                        <a:rPr lang="en-US" sz="1000" b="1" i="0" u="none" strike="noStrike" noProof="0">
                          <a:ln w="3175">
                            <a:noFill/>
                          </a:ln>
                          <a:solidFill>
                            <a:srgbClr val="000000"/>
                          </a:solidFill>
                          <a:effectLst/>
                          <a:latin typeface="Calibri"/>
                          <a:ea typeface="Calibri"/>
                          <a:cs typeface="Calibri"/>
                        </a:rPr>
                        <a:t>1 end-to-end workflow:</a:t>
                      </a:r>
                      <a:r>
                        <a:rPr lang="en-US" sz="1000" b="0" i="0" u="none" strike="noStrike" noProof="0">
                          <a:ln w="3175">
                            <a:noFill/>
                          </a:ln>
                          <a:solidFill>
                            <a:srgbClr val="000000"/>
                          </a:solidFill>
                          <a:effectLst/>
                          <a:latin typeface="Calibri"/>
                          <a:ea typeface="Calibri"/>
                          <a:cs typeface="Calibri"/>
                        </a:rPr>
                        <a:t> Predict → Explain → Act</a:t>
                      </a:r>
                    </a:p>
                    <a:p>
                      <a:pPr marL="0" lvl="0" indent="0" algn="l">
                        <a:lnSpc>
                          <a:spcPct val="100000"/>
                        </a:lnSpc>
                        <a:spcBef>
                          <a:spcPts val="0"/>
                        </a:spcBef>
                        <a:spcAft>
                          <a:spcPts val="0"/>
                        </a:spcAft>
                        <a:buNone/>
                      </a:pPr>
                      <a:r>
                        <a:rPr lang="en-US" sz="1000" b="0" i="0" u="none" strike="noStrike" noProof="0">
                          <a:ln w="3175">
                            <a:noFill/>
                          </a:ln>
                          <a:solidFill>
                            <a:srgbClr val="000000"/>
                          </a:solidFill>
                          <a:effectLst/>
                        </a:rPr>
                        <a:t>Each part uses proven tools — complexity comes from integration, </a:t>
                      </a:r>
                      <a:r>
                        <a:rPr lang="en-US" sz="1000" b="0" i="0" u="none" strike="noStrike" noProof="0" dirty="0">
                          <a:ln w="3175">
                            <a:noFill/>
                          </a:ln>
                          <a:solidFill>
                            <a:srgbClr val="000000"/>
                          </a:solidFill>
                          <a:effectLst/>
                        </a:rPr>
                        <a:t>not unproven tech, keeping it buildable in the timeline.</a:t>
                      </a:r>
                      <a:endParaRPr lang="en-US" dirty="0"/>
                    </a:p>
                    <a:p>
                      <a:pPr marL="285750" lvl="0" indent="-285750" algn="l">
                        <a:lnSpc>
                          <a:spcPct val="100000"/>
                        </a:lnSpc>
                        <a:spcBef>
                          <a:spcPts val="0"/>
                        </a:spcBef>
                        <a:spcAft>
                          <a:spcPts val="0"/>
                        </a:spcAft>
                        <a:buFont typeface="Arial"/>
                        <a:buChar char="•"/>
                      </a:pPr>
                      <a:endParaRPr lang="en-US" sz="1000" b="0" i="0" u="none" strike="noStrike" noProof="0">
                        <a:ln w="3175">
                          <a:noFill/>
                        </a:ln>
                        <a:solidFill>
                          <a:srgbClr val="000000"/>
                        </a:solidFill>
                        <a:effectLst/>
                        <a:latin typeface="Calibri"/>
                        <a:ea typeface="Calibri"/>
                        <a:cs typeface="Calibri"/>
                      </a:endParaRPr>
                    </a:p>
                  </a:txBody>
                  <a:tcPr marL="5075" marR="5075" marT="5075" marB="0">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rowSpan="2">
                  <a:txBody>
                    <a:bodyPr/>
                    <a:lstStyle/>
                    <a:p>
                      <a:pPr algn="ctr" fontAlgn="b">
                        <a:lnSpc>
                          <a:spcPct val="100000"/>
                        </a:lnSpc>
                      </a:pPr>
                      <a:r>
                        <a:rPr lang="en-US" sz="1000" b="0" u="none" strike="noStrike">
                          <a:ln w="3175">
                            <a:noFill/>
                          </a:ln>
                          <a:solidFill>
                            <a:srgbClr val="000000"/>
                          </a:solidFill>
                          <a:effectLst/>
                        </a:rPr>
                        <a:t>10</a:t>
                      </a:r>
                      <a:endParaRPr lang="en-US" sz="1000" b="0" i="0" u="none" strike="noStrike">
                        <a:ln w="3175">
                          <a:noFill/>
                        </a:ln>
                        <a:solidFill>
                          <a:srgbClr val="000000"/>
                        </a:solidFill>
                        <a:effectLst/>
                        <a:latin typeface="Calibri"/>
                        <a:cs typeface="Calibri"/>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extLst>
                  <a:ext uri="{0D108BD9-81ED-4DB2-BD59-A6C34878D82A}">
                    <a16:rowId xmlns:a16="http://schemas.microsoft.com/office/drawing/2014/main" val="1013873657"/>
                  </a:ext>
                </a:extLst>
              </a:tr>
              <a:tr h="1323704">
                <a:tc>
                  <a:txBody>
                    <a:bodyPr/>
                    <a:lstStyle/>
                    <a:p>
                      <a:pPr marL="91440" algn="l" fontAlgn="b">
                        <a:lnSpc>
                          <a:spcPct val="100000"/>
                        </a:lnSpc>
                      </a:pPr>
                      <a:r>
                        <a:rPr lang="en-US" sz="1000" b="0" u="none" strike="noStrike">
                          <a:ln w="3175">
                            <a:noFill/>
                          </a:ln>
                          <a:solidFill>
                            <a:srgbClr val="000000"/>
                          </a:solidFill>
                          <a:effectLst/>
                        </a:rPr>
                        <a:t>Requirements</a:t>
                      </a:r>
                      <a:endParaRPr lang="en-US" sz="1000" b="0" i="0" u="none" strike="noStrike">
                        <a:ln w="3175">
                          <a:noFill/>
                        </a:ln>
                        <a:solidFill>
                          <a:srgbClr val="000000"/>
                        </a:solidFill>
                        <a:effectLst/>
                        <a:latin typeface="Calibri"/>
                        <a:cs typeface="Calibri"/>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gridSpan="2">
                  <a:txBody>
                    <a:bodyPr/>
                    <a:lstStyle/>
                    <a:p>
                      <a:pPr marL="91440" algn="l" fontAlgn="b">
                        <a:lnSpc>
                          <a:spcPct val="100000"/>
                        </a:lnSpc>
                      </a:pPr>
                      <a:r>
                        <a:rPr lang="en-US" sz="1000" b="0" u="none" strike="noStrike">
                          <a:ln w="3175">
                            <a:noFill/>
                          </a:ln>
                          <a:solidFill>
                            <a:srgbClr val="000000"/>
                          </a:solidFill>
                          <a:effectLst/>
                        </a:rPr>
                        <a:t>Elaborate in detail on the system or business requirements that are fulfilled by this use case?</a:t>
                      </a:r>
                      <a:endParaRPr lang="en-US" sz="1000" b="0" i="0" u="none" strike="noStrike">
                        <a:ln w="3175">
                          <a:noFill/>
                        </a:ln>
                        <a:solidFill>
                          <a:srgbClr val="000000"/>
                        </a:solidFill>
                        <a:effectLst/>
                        <a:latin typeface="Calibri"/>
                        <a:cs typeface="Calibri"/>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hMerge="1">
                  <a:txBody>
                    <a:bodyPr/>
                    <a:lstStyle/>
                    <a:p>
                      <a:pPr marL="91440" algn="l" fontAlgn="b">
                        <a:lnSpc>
                          <a:spcPct val="100000"/>
                        </a:lnSpc>
                      </a:pPr>
                      <a:endParaRPr lang="en-US" sz="1000" b="0" i="0" u="none" strike="noStrike">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a:txBody>
                    <a:bodyPr/>
                    <a:lstStyle/>
                    <a:p>
                      <a:pPr lvl="0" algn="l">
                        <a:lnSpc>
                          <a:spcPct val="100000"/>
                        </a:lnSpc>
                        <a:buNone/>
                      </a:pPr>
                      <a:endParaRPr lang="en-US" sz="1000" b="0" i="0" u="none" strike="noStrike" noProof="0">
                        <a:ln w="3175">
                          <a:noFill/>
                        </a:ln>
                        <a:solidFill>
                          <a:srgbClr val="000000"/>
                        </a:solidFill>
                        <a:effectLst/>
                      </a:endParaRPr>
                    </a:p>
                    <a:p>
                      <a:pPr lvl="0" algn="l">
                        <a:lnSpc>
                          <a:spcPct val="100000"/>
                        </a:lnSpc>
                        <a:buNone/>
                      </a:pPr>
                      <a:r>
                        <a:rPr lang="en-US" sz="1000" b="0" i="0" u="none" strike="noStrike" noProof="0" dirty="0" err="1">
                          <a:ln w="3175">
                            <a:noFill/>
                          </a:ln>
                          <a:solidFill>
                            <a:srgbClr val="000000"/>
                          </a:solidFill>
                          <a:effectLst/>
                        </a:rPr>
                        <a:t>ChurnGuard</a:t>
                      </a:r>
                      <a:r>
                        <a:rPr lang="en-US" sz="1000" b="0" i="0" u="none" strike="noStrike" noProof="0" dirty="0">
                          <a:ln w="3175">
                            <a:noFill/>
                          </a:ln>
                          <a:solidFill>
                            <a:srgbClr val="000000"/>
                          </a:solidFill>
                          <a:effectLst/>
                        </a:rPr>
                        <a:t> requires access to customer usage data, login activity, feature usage, and support interactions to accurately predict churn. The system should identify at-risk customers, explain the reasons behind churn using Explainable AI, generate personalized retention recommendations and outreach messages, and prioritize customers based on business value. It should provide a secure, scalable, and user-friendly dashboard with real-time insights, while seamlessly integrating with existing CRM and SaaS platforms to support Customer Success teams in making faster, data-driven decisions.</a:t>
                      </a:r>
                    </a:p>
                    <a:p>
                      <a:pPr lvl="0" algn="l">
                        <a:lnSpc>
                          <a:spcPct val="100000"/>
                        </a:lnSpc>
                        <a:buNone/>
                      </a:pPr>
                      <a:endParaRPr lang="en-US" sz="1000" b="0" i="0" u="none" strike="noStrike" noProof="0">
                        <a:ln w="3175">
                          <a:noFill/>
                        </a:ln>
                        <a:solidFill>
                          <a:srgbClr val="000000"/>
                        </a:solidFill>
                        <a:effectLst/>
                      </a:endParaRPr>
                    </a:p>
                  </a:txBody>
                  <a:tcPr marL="5075" marR="5075" marT="5075" marB="0">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vMerge="1">
                  <a:txBody>
                    <a:bodyPr/>
                    <a:lstStyle/>
                    <a:p>
                      <a:pPr algn="l" fontAlgn="b"/>
                      <a:endParaRPr lang="en-US" sz="1000" b="0" i="0" u="none" strike="noStrike">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34179708"/>
                  </a:ext>
                </a:extLst>
              </a:tr>
              <a:tr h="723624">
                <a:tc>
                  <a:txBody>
                    <a:bodyPr/>
                    <a:lstStyle/>
                    <a:p>
                      <a:pPr marL="91440" algn="l" fontAlgn="b">
                        <a:lnSpc>
                          <a:spcPct val="100000"/>
                        </a:lnSpc>
                      </a:pPr>
                      <a:r>
                        <a:rPr lang="en-US" sz="1000" b="0" u="none" strike="noStrike">
                          <a:solidFill>
                            <a:srgbClr val="000000"/>
                          </a:solidFill>
                          <a:effectLst/>
                        </a:rPr>
                        <a:t>Industry Versatility</a:t>
                      </a:r>
                      <a:endParaRPr lang="en-US" sz="1000" b="0" i="0" u="none" strike="noStrike">
                        <a:solidFill>
                          <a:srgbClr val="000000"/>
                        </a:solidFill>
                        <a:effectLst/>
                        <a:latin typeface="Calibri"/>
                        <a:cs typeface="Calibri"/>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gridSpan="2">
                  <a:txBody>
                    <a:bodyPr/>
                    <a:lstStyle/>
                    <a:p>
                      <a:pPr marL="91440" algn="l" fontAlgn="b">
                        <a:lnSpc>
                          <a:spcPct val="100000"/>
                        </a:lnSpc>
                      </a:pPr>
                      <a:r>
                        <a:rPr lang="en-US" sz="1000" b="0" u="none" strike="noStrike">
                          <a:ln w="3175">
                            <a:noFill/>
                          </a:ln>
                          <a:solidFill>
                            <a:srgbClr val="000000"/>
                          </a:solidFill>
                          <a:effectLst/>
                        </a:rPr>
                        <a:t>Can this use case find applicability across industries? Illustrate with some examples</a:t>
                      </a:r>
                      <a:endParaRPr lang="en-US" sz="1000" b="0" i="0" u="none" strike="noStrike">
                        <a:solidFill>
                          <a:srgbClr val="000000"/>
                        </a:solidFill>
                        <a:effectLst/>
                        <a:latin typeface="Calibri"/>
                        <a:cs typeface="Calibri"/>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marL="91440" algn="l" fontAlgn="b">
                        <a:lnSpc>
                          <a:spcPct val="100000"/>
                        </a:lnSpc>
                      </a:pPr>
                      <a:endParaRPr lang="en-US" sz="1000" b="0" i="0" u="none" strike="noStrike">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lvl="0" algn="l">
                        <a:lnSpc>
                          <a:spcPct val="100000"/>
                        </a:lnSpc>
                        <a:buNone/>
                      </a:pPr>
                      <a:r>
                        <a:rPr lang="en-US" sz="1000" b="1" i="0" u="none" strike="noStrike" noProof="0" dirty="0" err="1">
                          <a:ln w="3175">
                            <a:noFill/>
                          </a:ln>
                          <a:solidFill>
                            <a:srgbClr val="000000"/>
                          </a:solidFill>
                          <a:effectLst/>
                        </a:rPr>
                        <a:t>ChurnGuard</a:t>
                      </a:r>
                      <a:r>
                        <a:rPr lang="en-US" sz="1000" b="0" i="0" u="none" strike="noStrike" noProof="0" dirty="0">
                          <a:ln w="3175">
                            <a:noFill/>
                          </a:ln>
                          <a:solidFill>
                            <a:srgbClr val="000000"/>
                          </a:solidFill>
                          <a:effectLst/>
                        </a:rPr>
                        <a:t> can be adopted across industries that rely on customer retention and recurring revenue. For example, </a:t>
                      </a:r>
                      <a:r>
                        <a:rPr lang="en-US" sz="1000" b="1" i="0" u="none" strike="noStrike" noProof="0" dirty="0">
                          <a:ln w="3175">
                            <a:noFill/>
                          </a:ln>
                          <a:solidFill>
                            <a:srgbClr val="000000"/>
                          </a:solidFill>
                          <a:effectLst/>
                        </a:rPr>
                        <a:t>Slack</a:t>
                      </a:r>
                      <a:r>
                        <a:rPr lang="en-US" sz="1000" b="0" i="0" u="none" strike="noStrike" noProof="0" dirty="0">
                          <a:ln w="3175">
                            <a:noFill/>
                          </a:ln>
                          <a:solidFill>
                            <a:srgbClr val="000000"/>
                          </a:solidFill>
                          <a:effectLst/>
                        </a:rPr>
                        <a:t> and </a:t>
                      </a:r>
                      <a:r>
                        <a:rPr lang="en-US" sz="1000" b="1" i="0" u="none" strike="noStrike" noProof="0" dirty="0">
                          <a:ln w="3175">
                            <a:noFill/>
                          </a:ln>
                          <a:solidFill>
                            <a:srgbClr val="000000"/>
                          </a:solidFill>
                          <a:effectLst/>
                        </a:rPr>
                        <a:t>Salesforce</a:t>
                      </a:r>
                      <a:r>
                        <a:rPr lang="en-US" sz="1000" b="0" i="0" u="none" strike="noStrike" noProof="0" dirty="0">
                          <a:ln w="3175">
                            <a:noFill/>
                          </a:ln>
                          <a:solidFill>
                            <a:srgbClr val="000000"/>
                          </a:solidFill>
                          <a:effectLst/>
                        </a:rPr>
                        <a:t> can reduce SaaS churn, </a:t>
                      </a:r>
                      <a:r>
                        <a:rPr lang="en-US" sz="1000" b="1" i="0" u="none" strike="noStrike" noProof="0" dirty="0">
                          <a:ln w="3175">
                            <a:noFill/>
                          </a:ln>
                          <a:solidFill>
                            <a:srgbClr val="000000"/>
                          </a:solidFill>
                          <a:effectLst/>
                        </a:rPr>
                        <a:t>Paytm</a:t>
                      </a:r>
                      <a:r>
                        <a:rPr lang="en-US" sz="1000" b="0" i="0" u="none" strike="noStrike" noProof="0" dirty="0">
                          <a:ln w="3175">
                            <a:noFill/>
                          </a:ln>
                          <a:solidFill>
                            <a:srgbClr val="000000"/>
                          </a:solidFill>
                          <a:effectLst/>
                        </a:rPr>
                        <a:t> can improve user engagement, </a:t>
                      </a:r>
                      <a:r>
                        <a:rPr lang="en-US" sz="1000" b="1" i="0" u="none" strike="noStrike" noProof="0" dirty="0">
                          <a:ln w="3175">
                            <a:noFill/>
                          </a:ln>
                          <a:solidFill>
                            <a:srgbClr val="000000"/>
                          </a:solidFill>
                          <a:effectLst/>
                        </a:rPr>
                        <a:t>Jio</a:t>
                      </a:r>
                      <a:r>
                        <a:rPr lang="en-US" sz="1000" b="0" i="0" u="none" strike="noStrike" noProof="0" dirty="0">
                          <a:ln w="3175">
                            <a:noFill/>
                          </a:ln>
                          <a:solidFill>
                            <a:srgbClr val="000000"/>
                          </a:solidFill>
                          <a:effectLst/>
                        </a:rPr>
                        <a:t> can retain telecom subscribers, </a:t>
                      </a:r>
                      <a:r>
                        <a:rPr lang="en-US" sz="1000" b="1" i="0" u="none" strike="noStrike" noProof="0" dirty="0">
                          <a:ln w="3175">
                            <a:noFill/>
                          </a:ln>
                          <a:solidFill>
                            <a:srgbClr val="000000"/>
                          </a:solidFill>
                          <a:effectLst/>
                        </a:rPr>
                        <a:t>Netflix</a:t>
                      </a:r>
                      <a:r>
                        <a:rPr lang="en-US" sz="1000" b="0" i="0" u="none" strike="noStrike" noProof="0" dirty="0">
                          <a:ln w="3175">
                            <a:noFill/>
                          </a:ln>
                          <a:solidFill>
                            <a:srgbClr val="000000"/>
                          </a:solidFill>
                          <a:effectLst/>
                        </a:rPr>
                        <a:t> can reduce subscription cancellations, </a:t>
                      </a:r>
                      <a:r>
                        <a:rPr lang="en-US" sz="1000" b="1" i="0" u="none" strike="noStrike" noProof="0" dirty="0">
                          <a:ln w="3175">
                            <a:noFill/>
                          </a:ln>
                          <a:solidFill>
                            <a:srgbClr val="000000"/>
                          </a:solidFill>
                          <a:effectLst/>
                        </a:rPr>
                        <a:t>Coursera</a:t>
                      </a:r>
                      <a:r>
                        <a:rPr lang="en-US" sz="1000" b="0" i="0" u="none" strike="noStrike" noProof="0" dirty="0">
                          <a:ln w="3175">
                            <a:noFill/>
                          </a:ln>
                          <a:solidFill>
                            <a:srgbClr val="000000"/>
                          </a:solidFill>
                          <a:effectLst/>
                        </a:rPr>
                        <a:t> can prevent learner dropouts, and </a:t>
                      </a:r>
                      <a:r>
                        <a:rPr lang="en-US" sz="1000" b="1" i="0" u="none" strike="noStrike" noProof="0" dirty="0" err="1">
                          <a:ln w="3175">
                            <a:noFill/>
                          </a:ln>
                          <a:solidFill>
                            <a:srgbClr val="000000"/>
                          </a:solidFill>
                          <a:effectLst/>
                        </a:rPr>
                        <a:t>Policybazaar</a:t>
                      </a:r>
                      <a:r>
                        <a:rPr lang="en-US" sz="1000" b="0" i="0" u="none" strike="noStrike" noProof="0" dirty="0">
                          <a:ln w="3175">
                            <a:noFill/>
                          </a:ln>
                          <a:solidFill>
                            <a:srgbClr val="000000"/>
                          </a:solidFill>
                          <a:effectLst/>
                        </a:rPr>
                        <a:t> can improve policy renewal rates through AI-driven retention strategies.</a:t>
                      </a:r>
                      <a:endParaRPr lang="en-US" dirty="0"/>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rowSpan="2">
                  <a:txBody>
                    <a:bodyPr/>
                    <a:lstStyle/>
                    <a:p>
                      <a:pPr algn="ctr" fontAlgn="b">
                        <a:lnSpc>
                          <a:spcPct val="100000"/>
                        </a:lnSpc>
                      </a:pPr>
                      <a:endParaRPr lang="en-US" sz="1000" b="0" u="none" strike="noStrike" dirty="0">
                        <a:ln w="3175">
                          <a:noFill/>
                        </a:ln>
                        <a:solidFill>
                          <a:srgbClr val="000000"/>
                        </a:solidFill>
                        <a:effectLst/>
                      </a:endParaRPr>
                    </a:p>
                    <a:p>
                      <a:pPr lvl="0" algn="ctr">
                        <a:lnSpc>
                          <a:spcPct val="100000"/>
                        </a:lnSpc>
                        <a:buNone/>
                      </a:pPr>
                      <a:r>
                        <a:rPr lang="en-US" sz="1000" b="0" u="none" strike="noStrike">
                          <a:ln w="3175">
                            <a:noFill/>
                          </a:ln>
                          <a:solidFill>
                            <a:srgbClr val="000000"/>
                          </a:solidFill>
                          <a:effectLst/>
                        </a:rPr>
                        <a:t>5</a:t>
                      </a:r>
                      <a:endParaRPr lang="en-US" sz="1000" b="0" i="0" u="none" strike="noStrike">
                        <a:ln w="3175">
                          <a:noFill/>
                        </a:ln>
                        <a:solidFill>
                          <a:srgbClr val="000000"/>
                        </a:solidFill>
                        <a:effectLst/>
                        <a:latin typeface="Calibri"/>
                        <a:cs typeface="Calibri"/>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197082307"/>
                  </a:ext>
                </a:extLst>
              </a:tr>
              <a:tr h="1006015">
                <a:tc>
                  <a:txBody>
                    <a:bodyPr/>
                    <a:lstStyle/>
                    <a:p>
                      <a:pPr marL="91440" algn="l" fontAlgn="b">
                        <a:lnSpc>
                          <a:spcPct val="100000"/>
                        </a:lnSpc>
                      </a:pPr>
                      <a:r>
                        <a:rPr lang="en-US" sz="1000" b="0" u="none" strike="noStrike">
                          <a:solidFill>
                            <a:srgbClr val="000000"/>
                          </a:solidFill>
                          <a:effectLst/>
                        </a:rPr>
                        <a:t>Assumptions</a:t>
                      </a:r>
                      <a:endParaRPr lang="en-US" sz="1000" b="0" i="0" u="none" strike="noStrike">
                        <a:solidFill>
                          <a:srgbClr val="000000"/>
                        </a:solidFill>
                        <a:effectLst/>
                        <a:latin typeface="Calibri"/>
                        <a:cs typeface="Calibri"/>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gridSpan="2">
                  <a:txBody>
                    <a:bodyPr/>
                    <a:lstStyle/>
                    <a:p>
                      <a:pPr marL="91440" algn="l" fontAlgn="b">
                        <a:lnSpc>
                          <a:spcPct val="100000"/>
                        </a:lnSpc>
                      </a:pPr>
                      <a:r>
                        <a:rPr lang="en-US" sz="1000" b="0" u="none" strike="noStrike">
                          <a:ln w="3175">
                            <a:noFill/>
                          </a:ln>
                          <a:solidFill>
                            <a:srgbClr val="000000"/>
                          </a:solidFill>
                          <a:effectLst/>
                        </a:rPr>
                        <a:t>Note any assumptions made in the use case (If applicable). These could be related to the environment, the users, or the system itself.</a:t>
                      </a:r>
                      <a:endParaRPr lang="en-US" sz="1000" b="0" i="0" u="none" strike="noStrike">
                        <a:solidFill>
                          <a:srgbClr val="000000"/>
                        </a:solidFill>
                        <a:effectLst/>
                        <a:latin typeface="Calibri"/>
                        <a:cs typeface="Calibri"/>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marL="91440" algn="l" fontAlgn="b">
                        <a:lnSpc>
                          <a:spcPct val="100000"/>
                        </a:lnSpc>
                      </a:pPr>
                      <a:endParaRPr lang="en-US" sz="1000" b="0" i="0" u="none" strike="noStrike">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lvl="0" algn="l">
                        <a:lnSpc>
                          <a:spcPct val="100000"/>
                        </a:lnSpc>
                        <a:spcBef>
                          <a:spcPts val="0"/>
                        </a:spcBef>
                        <a:spcAft>
                          <a:spcPts val="0"/>
                        </a:spcAft>
                        <a:buNone/>
                      </a:pPr>
                      <a:r>
                        <a:rPr lang="en-US" sz="1000" b="1" i="0" u="none" strike="noStrike" noProof="0">
                          <a:ln w="3175">
                            <a:noFill/>
                          </a:ln>
                          <a:solidFill>
                            <a:srgbClr val="000000"/>
                          </a:solidFill>
                          <a:effectLst/>
                        </a:rPr>
                        <a:t>Assumptions</a:t>
                      </a:r>
                      <a:endParaRPr lang="en-US"/>
                    </a:p>
                    <a:p>
                      <a:pPr marL="285750" lvl="0" indent="-285750" algn="l">
                        <a:lnSpc>
                          <a:spcPct val="100000"/>
                        </a:lnSpc>
                        <a:spcBef>
                          <a:spcPts val="0"/>
                        </a:spcBef>
                        <a:spcAft>
                          <a:spcPts val="0"/>
                        </a:spcAft>
                        <a:buFont typeface="Arial"/>
                        <a:buChar char="•"/>
                      </a:pPr>
                      <a:r>
                        <a:rPr lang="en-US" sz="1000" b="0" i="0" u="none" strike="noStrike" noProof="0">
                          <a:ln w="3175">
                            <a:noFill/>
                          </a:ln>
                          <a:solidFill>
                            <a:srgbClr val="000000"/>
                          </a:solidFill>
                          <a:effectLst/>
                        </a:rPr>
                        <a:t>Customer usage data is available and accurate. </a:t>
                      </a:r>
                      <a:endParaRPr lang="en-US"/>
                    </a:p>
                    <a:p>
                      <a:pPr marL="285750" lvl="0" indent="-285750" algn="l">
                        <a:lnSpc>
                          <a:spcPct val="100000"/>
                        </a:lnSpc>
                        <a:spcBef>
                          <a:spcPts val="0"/>
                        </a:spcBef>
                        <a:spcAft>
                          <a:spcPts val="0"/>
                        </a:spcAft>
                        <a:buFont typeface="Arial"/>
                        <a:buChar char="•"/>
                      </a:pPr>
                      <a:r>
                        <a:rPr lang="en-US" sz="1000" b="0" i="0" u="none" strike="noStrike" noProof="0">
                          <a:ln w="3175">
                            <a:noFill/>
                          </a:ln>
                          <a:solidFill>
                            <a:srgbClr val="000000"/>
                          </a:solidFill>
                          <a:effectLst/>
                        </a:rPr>
                        <a:t>The SaaS platform supports API/database integration. </a:t>
                      </a:r>
                      <a:endParaRPr lang="en-US"/>
                    </a:p>
                    <a:p>
                      <a:pPr marL="285750" lvl="0" indent="-285750" algn="l">
                        <a:lnSpc>
                          <a:spcPct val="100000"/>
                        </a:lnSpc>
                        <a:spcBef>
                          <a:spcPts val="0"/>
                        </a:spcBef>
                        <a:spcAft>
                          <a:spcPts val="0"/>
                        </a:spcAft>
                        <a:buFont typeface="Arial"/>
                        <a:buChar char="•"/>
                      </a:pPr>
                      <a:r>
                        <a:rPr lang="en-US" sz="1000" b="0" i="0" u="none" strike="noStrike" noProof="0">
                          <a:ln w="3175">
                            <a:noFill/>
                          </a:ln>
                          <a:solidFill>
                            <a:srgbClr val="000000"/>
                          </a:solidFill>
                          <a:effectLst/>
                        </a:rPr>
                        <a:t>Customer Success teams act on AI recommendations. </a:t>
                      </a:r>
                      <a:endParaRPr lang="en-US"/>
                    </a:p>
                    <a:p>
                      <a:pPr marL="285750" lvl="0" indent="-285750" algn="l">
                        <a:lnSpc>
                          <a:spcPct val="100000"/>
                        </a:lnSpc>
                        <a:spcBef>
                          <a:spcPts val="0"/>
                        </a:spcBef>
                        <a:spcAft>
                          <a:spcPts val="0"/>
                        </a:spcAft>
                        <a:buFont typeface="Arial"/>
                        <a:buChar char="•"/>
                      </a:pPr>
                      <a:r>
                        <a:rPr lang="en-US" sz="1000" b="0" i="0" u="none" strike="noStrike" noProof="0">
                          <a:ln w="3175">
                            <a:noFill/>
                          </a:ln>
                          <a:solidFill>
                            <a:srgbClr val="000000"/>
                          </a:solidFill>
                          <a:effectLst/>
                        </a:rPr>
                        <a:t>Data usage complies with privacy and security regulations. </a:t>
                      </a:r>
                      <a:endParaRPr lang="en-US"/>
                    </a:p>
                    <a:p>
                      <a:pPr marL="285750" lvl="0" indent="-285750" algn="l">
                        <a:lnSpc>
                          <a:spcPct val="100000"/>
                        </a:lnSpc>
                        <a:spcBef>
                          <a:spcPts val="0"/>
                        </a:spcBef>
                        <a:spcAft>
                          <a:spcPts val="0"/>
                        </a:spcAft>
                        <a:buFont typeface="Arial"/>
                        <a:buChar char="•"/>
                      </a:pPr>
                      <a:r>
                        <a:rPr lang="en-US" sz="1000" b="0" i="0" u="none" strike="noStrike" noProof="0">
                          <a:ln w="3175">
                            <a:noFill/>
                          </a:ln>
                          <a:solidFill>
                            <a:srgbClr val="000000"/>
                          </a:solidFill>
                          <a:effectLst/>
                        </a:rPr>
                        <a:t>Historical data is sufficient to train the prediction model.</a:t>
                      </a:r>
                      <a:endParaRPr lang="en-US"/>
                    </a:p>
                    <a:p>
                      <a:pPr lvl="0" algn="l">
                        <a:lnSpc>
                          <a:spcPct val="100000"/>
                        </a:lnSpc>
                        <a:buNone/>
                      </a:pPr>
                      <a:endParaRPr lang="en-US" sz="1000" b="0" i="0" u="none" strike="noStrike">
                        <a:ln w="3175">
                          <a:noFill/>
                        </a:ln>
                        <a:solidFill>
                          <a:srgbClr val="000000"/>
                        </a:solidFill>
                        <a:effectLst/>
                        <a:latin typeface="Calibri"/>
                        <a:cs typeface="Calibri"/>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vMerge="1">
                  <a:txBody>
                    <a:bodyPr/>
                    <a:lstStyle/>
                    <a:p>
                      <a:endParaRPr lang="en-US"/>
                    </a:p>
                  </a:txBody>
                  <a:tcPr/>
                </a:tc>
                <a:extLst>
                  <a:ext uri="{0D108BD9-81ED-4DB2-BD59-A6C34878D82A}">
                    <a16:rowId xmlns:a16="http://schemas.microsoft.com/office/drawing/2014/main" val="189256722"/>
                  </a:ext>
                </a:extLst>
              </a:tr>
            </a:tbl>
          </a:graphicData>
        </a:graphic>
      </p:graphicFrame>
      <p:sp>
        <p:nvSpPr>
          <p:cNvPr id="26" name="Title 2">
            <a:extLst>
              <a:ext uri="{FF2B5EF4-FFF2-40B4-BE49-F238E27FC236}">
                <a16:creationId xmlns:a16="http://schemas.microsoft.com/office/drawing/2014/main" id="{55CFC399-A91F-20F2-48BB-2C33E248090F}"/>
              </a:ext>
            </a:extLst>
          </p:cNvPr>
          <p:cNvSpPr txBox="1">
            <a:spLocks/>
          </p:cNvSpPr>
          <p:nvPr/>
        </p:nvSpPr>
        <p:spPr bwMode="gray">
          <a:xfrm>
            <a:off x="3702281" y="0"/>
            <a:ext cx="4787438" cy="342000"/>
          </a:xfrm>
          <a:prstGeom prst="rect">
            <a:avLst/>
          </a:prstGeom>
        </p:spPr>
        <p:txBody>
          <a:bodyPr vert="horz" lIns="0" tIns="0" rIns="0" bIns="0" rtlCol="0" anchor="b" anchorCtr="0">
            <a:noAutofit/>
          </a:bodyPr>
          <a:lstStyle>
            <a:lvl1pPr algn="l" defTabSz="685800" rtl="0" eaLnBrk="1" latinLnBrk="0" hangingPunct="1">
              <a:lnSpc>
                <a:spcPts val="3200"/>
              </a:lnSpc>
              <a:spcBef>
                <a:spcPct val="0"/>
              </a:spcBef>
              <a:buNone/>
              <a:defRPr sz="3200" b="0" kern="1200">
                <a:solidFill>
                  <a:schemeClr val="accent3"/>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sz="1800"/>
              <a:t>Capstone Use Case – Student Response Template</a:t>
            </a:r>
          </a:p>
        </p:txBody>
      </p:sp>
      <p:sp>
        <p:nvSpPr>
          <p:cNvPr id="27" name="Text Placeholder 2">
            <a:extLst>
              <a:ext uri="{FF2B5EF4-FFF2-40B4-BE49-F238E27FC236}">
                <a16:creationId xmlns:a16="http://schemas.microsoft.com/office/drawing/2014/main" id="{A660DFDB-E7F2-EA11-723E-CCD7897F3EEF}"/>
              </a:ext>
            </a:extLst>
          </p:cNvPr>
          <p:cNvSpPr txBox="1">
            <a:spLocks/>
          </p:cNvSpPr>
          <p:nvPr/>
        </p:nvSpPr>
        <p:spPr>
          <a:xfrm>
            <a:off x="9519914" y="6679986"/>
            <a:ext cx="2327624" cy="135779"/>
          </a:xfrm>
          <a:prstGeom prst="rect">
            <a:avLst/>
          </a:prstGeom>
        </p:spPr>
        <p:txBody>
          <a:bodyPr vert="horz" lIns="0" tIns="0" rIns="0" bIns="0" rtlCol="0" anchor="ctr">
            <a:noAutofit/>
          </a:bodyPr>
          <a:lstStyle>
            <a:lvl1pPr marL="0" indent="0" algn="l" defTabSz="685800" rtl="0" eaLnBrk="1" latinLnBrk="0" hangingPunct="1">
              <a:lnSpc>
                <a:spcPct val="100000"/>
              </a:lnSpc>
              <a:spcBef>
                <a:spcPts val="200"/>
              </a:spcBef>
              <a:spcAft>
                <a:spcPts val="0"/>
              </a:spcAft>
              <a:buSzPct val="100000"/>
              <a:buFontTx/>
              <a:buNone/>
              <a:defRPr sz="1400" b="1" kern="1200">
                <a:solidFill>
                  <a:schemeClr val="tx1"/>
                </a:solidFill>
                <a:latin typeface="Calibri" panose="020F0502020204030204" pitchFamily="34" charset="0"/>
                <a:ea typeface="+mn-ea"/>
                <a:cs typeface="Calibri" panose="020F05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a:solidFill>
                  <a:schemeClr val="bg1"/>
                </a:solidFill>
                <a:latin typeface="+mj-lt"/>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a:solidFill>
                  <a:schemeClr val="bg1"/>
                </a:solidFill>
                <a:latin typeface="+mn-lt"/>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a:solidFill>
                  <a:schemeClr val="bg1"/>
                </a:solidFill>
                <a:latin typeface="+mn-lt"/>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a:solidFill>
                  <a:schemeClr val="bg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r>
              <a:rPr lang="en-US" sz="800" b="0">
                <a:ea typeface="Calibri" panose="020F0502020204030204" pitchFamily="34" charset="0"/>
              </a:rPr>
              <a:t>Capstone Program 2026 – Student Response Template</a:t>
            </a:r>
          </a:p>
        </p:txBody>
      </p:sp>
    </p:spTree>
    <p:extLst>
      <p:ext uri="{BB962C8B-B14F-4D97-AF65-F5344CB8AC3E}">
        <p14:creationId xmlns:p14="http://schemas.microsoft.com/office/powerpoint/2010/main" val="308963409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2D059-2DE8-EC52-4F0D-EBF5B92D40DE}"/>
            </a:ext>
          </a:extLst>
        </p:cNvPr>
        <p:cNvGrpSpPr/>
        <p:nvPr/>
      </p:nvGrpSpPr>
      <p:grpSpPr>
        <a:xfrm>
          <a:off x="0" y="0"/>
          <a:ext cx="0" cy="0"/>
          <a:chOff x="0" y="0"/>
          <a:chExt cx="0" cy="0"/>
        </a:xfrm>
      </p:grpSpPr>
      <p:pic>
        <p:nvPicPr>
          <p:cNvPr id="25" name="Picture 24">
            <a:extLst>
              <a:ext uri="{FF2B5EF4-FFF2-40B4-BE49-F238E27FC236}">
                <a16:creationId xmlns:a16="http://schemas.microsoft.com/office/drawing/2014/main" id="{5A525954-4439-CDFB-5021-55579C1D96AE}"/>
              </a:ext>
            </a:extLst>
          </p:cNvPr>
          <p:cNvPicPr>
            <a:picLocks noChangeAspect="1"/>
          </p:cNvPicPr>
          <p:nvPr/>
        </p:nvPicPr>
        <p:blipFill rotWithShape="1">
          <a:blip r:embed="rId2"/>
          <a:srcRect t="48665" r="49292" b="-415"/>
          <a:stretch/>
        </p:blipFill>
        <p:spPr>
          <a:xfrm>
            <a:off x="10698240" y="0"/>
            <a:ext cx="1496730" cy="1531979"/>
          </a:xfrm>
          <a:prstGeom prst="rect">
            <a:avLst/>
          </a:prstGeom>
        </p:spPr>
      </p:pic>
      <p:sp>
        <p:nvSpPr>
          <p:cNvPr id="3" name="Text Placeholder 2">
            <a:extLst>
              <a:ext uri="{FF2B5EF4-FFF2-40B4-BE49-F238E27FC236}">
                <a16:creationId xmlns:a16="http://schemas.microsoft.com/office/drawing/2014/main" id="{CC289F82-8C3E-6EC0-6A8A-CBAFC5CAD577}"/>
              </a:ext>
            </a:extLst>
          </p:cNvPr>
          <p:cNvSpPr>
            <a:spLocks noGrp="1"/>
          </p:cNvSpPr>
          <p:nvPr>
            <p:ph type="body" sz="quarter" idx="10"/>
          </p:nvPr>
        </p:nvSpPr>
        <p:spPr>
          <a:xfrm>
            <a:off x="476141" y="6660850"/>
            <a:ext cx="4490721" cy="180000"/>
          </a:xfrm>
        </p:spPr>
        <p:txBody>
          <a:bodyPr/>
          <a:lstStyle/>
          <a:p>
            <a:r>
              <a:rPr lang="en-US" sz="800" b="0">
                <a:ea typeface="Calibri" panose="020F0502020204030204" pitchFamily="34" charset="0"/>
              </a:rPr>
              <a:t>Copyright © 2026 Deloitte Development LLC. All rights reserved.</a:t>
            </a:r>
          </a:p>
        </p:txBody>
      </p:sp>
      <p:graphicFrame>
        <p:nvGraphicFramePr>
          <p:cNvPr id="7" name="Table 6">
            <a:extLst>
              <a:ext uri="{FF2B5EF4-FFF2-40B4-BE49-F238E27FC236}">
                <a16:creationId xmlns:a16="http://schemas.microsoft.com/office/drawing/2014/main" id="{7C988397-6865-75F1-E962-B31C6EC42E40}"/>
              </a:ext>
            </a:extLst>
          </p:cNvPr>
          <p:cNvGraphicFramePr>
            <a:graphicFrameLocks noGrp="1"/>
          </p:cNvGraphicFramePr>
          <p:nvPr>
            <p:extLst>
              <p:ext uri="{D42A27DB-BD31-4B8C-83A1-F6EECF244321}">
                <p14:modId xmlns:p14="http://schemas.microsoft.com/office/powerpoint/2010/main" val="2245601067"/>
              </p:ext>
            </p:extLst>
          </p:nvPr>
        </p:nvGraphicFramePr>
        <p:xfrm>
          <a:off x="246742" y="747485"/>
          <a:ext cx="11709148" cy="5904941"/>
        </p:xfrm>
        <a:graphic>
          <a:graphicData uri="http://schemas.openxmlformats.org/drawingml/2006/table">
            <a:tbl>
              <a:tblPr>
                <a:tableStyleId>{0E3FDE45-AF77-4B5C-9715-49D594BDF05E}</a:tableStyleId>
              </a:tblPr>
              <a:tblGrid>
                <a:gridCol w="1511300">
                  <a:extLst>
                    <a:ext uri="{9D8B030D-6E8A-4147-A177-3AD203B41FA5}">
                      <a16:colId xmlns:a16="http://schemas.microsoft.com/office/drawing/2014/main" val="1557693294"/>
                    </a:ext>
                  </a:extLst>
                </a:gridCol>
                <a:gridCol w="30475">
                  <a:extLst>
                    <a:ext uri="{9D8B030D-6E8A-4147-A177-3AD203B41FA5}">
                      <a16:colId xmlns:a16="http://schemas.microsoft.com/office/drawing/2014/main" val="3779621513"/>
                    </a:ext>
                  </a:extLst>
                </a:gridCol>
                <a:gridCol w="1866900">
                  <a:extLst>
                    <a:ext uri="{9D8B030D-6E8A-4147-A177-3AD203B41FA5}">
                      <a16:colId xmlns:a16="http://schemas.microsoft.com/office/drawing/2014/main" val="927400850"/>
                    </a:ext>
                  </a:extLst>
                </a:gridCol>
                <a:gridCol w="7658091">
                  <a:extLst>
                    <a:ext uri="{9D8B030D-6E8A-4147-A177-3AD203B41FA5}">
                      <a16:colId xmlns:a16="http://schemas.microsoft.com/office/drawing/2014/main" val="3562290"/>
                    </a:ext>
                  </a:extLst>
                </a:gridCol>
                <a:gridCol w="642382">
                  <a:extLst>
                    <a:ext uri="{9D8B030D-6E8A-4147-A177-3AD203B41FA5}">
                      <a16:colId xmlns:a16="http://schemas.microsoft.com/office/drawing/2014/main" val="3063779762"/>
                    </a:ext>
                  </a:extLst>
                </a:gridCol>
              </a:tblGrid>
              <a:tr h="239992">
                <a:tc gridSpan="2">
                  <a:txBody>
                    <a:bodyPr/>
                    <a:lstStyle/>
                    <a:p>
                      <a:pPr marL="91440" algn="l" defTabSz="685800" rtl="0" eaLnBrk="1" fontAlgn="b" latinLnBrk="0" hangingPunct="1">
                        <a:lnSpc>
                          <a:spcPct val="100000"/>
                        </a:lnSpc>
                      </a:pPr>
                      <a:r>
                        <a:rPr lang="en-US" sz="1050" b="1" u="none" strike="noStrike" kern="1200">
                          <a:ln w="3175">
                            <a:noFill/>
                          </a:ln>
                          <a:solidFill>
                            <a:srgbClr val="FFFFFF"/>
                          </a:solidFill>
                          <a:effectLst/>
                          <a:latin typeface="+mn-lt"/>
                          <a:ea typeface="+mn-ea"/>
                          <a:cs typeface="+mn-cs"/>
                        </a:rPr>
                        <a:t>Response Parameters</a:t>
                      </a:r>
                    </a:p>
                  </a:txBody>
                  <a:tcPr marL="5075" marR="5075" marT="5075"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5"/>
                    </a:solidFill>
                  </a:tcPr>
                </a:tc>
                <a:tc hMerge="1">
                  <a:txBody>
                    <a:bodyPr/>
                    <a:lstStyle/>
                    <a:p>
                      <a:pPr marL="91440" algn="l" defTabSz="685800" rtl="0" eaLnBrk="1" fontAlgn="b" latinLnBrk="0" hangingPunct="1">
                        <a:lnSpc>
                          <a:spcPct val="100000"/>
                        </a:lnSpc>
                      </a:pPr>
                      <a:r>
                        <a:rPr lang="en-US" sz="1050" b="1" u="none" strike="noStrike">
                          <a:ln w="3175">
                            <a:noFill/>
                          </a:ln>
                          <a:solidFill>
                            <a:srgbClr val="FFFFFF"/>
                          </a:solidFill>
                          <a:effectLst/>
                        </a:rPr>
                        <a:t>Description</a:t>
                      </a:r>
                      <a:endParaRPr lang="en-US" sz="1050" b="1" u="none" strike="noStrike" kern="1200">
                        <a:ln w="3175">
                          <a:noFill/>
                        </a:ln>
                        <a:solidFill>
                          <a:srgbClr val="FFFFFF"/>
                        </a:solidFill>
                        <a:effectLst/>
                        <a:latin typeface="+mn-lt"/>
                        <a:ea typeface="+mn-ea"/>
                        <a:cs typeface="+mn-cs"/>
                      </a:endParaRPr>
                    </a:p>
                  </a:txBody>
                  <a:tcPr marL="5075" marR="5075" marT="9144"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marL="91440" algn="l" defTabSz="685800" rtl="0" eaLnBrk="1" fontAlgn="b" latinLnBrk="0" hangingPunct="1">
                        <a:lnSpc>
                          <a:spcPct val="100000"/>
                        </a:lnSpc>
                      </a:pPr>
                      <a:r>
                        <a:rPr lang="en-US" sz="1050" b="1" u="none" strike="noStrike">
                          <a:ln w="3175">
                            <a:noFill/>
                          </a:ln>
                          <a:solidFill>
                            <a:srgbClr val="FFFFFF"/>
                          </a:solidFill>
                          <a:effectLst/>
                        </a:rPr>
                        <a:t>Description</a:t>
                      </a:r>
                      <a:endParaRPr lang="en-US" sz="1050" b="1" u="none" strike="noStrike" kern="1200">
                        <a:ln w="3175">
                          <a:noFill/>
                        </a:ln>
                        <a:solidFill>
                          <a:srgbClr val="FFFFFF"/>
                        </a:solidFill>
                        <a:effectLst/>
                        <a:latin typeface="+mn-lt"/>
                        <a:ea typeface="+mn-ea"/>
                        <a:cs typeface="+mn-cs"/>
                      </a:endParaRPr>
                    </a:p>
                  </a:txBody>
                  <a:tcPr marL="5075" marR="5075" marT="9144"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marL="91440" algn="l" defTabSz="685800" rtl="0" eaLnBrk="1" fontAlgn="b" latinLnBrk="0" hangingPunct="1">
                        <a:lnSpc>
                          <a:spcPct val="100000"/>
                        </a:lnSpc>
                      </a:pPr>
                      <a:r>
                        <a:rPr lang="en-US" sz="1050" b="1" u="none" strike="noStrike" kern="1200">
                          <a:ln w="3175">
                            <a:noFill/>
                          </a:ln>
                          <a:solidFill>
                            <a:srgbClr val="FFFFFF"/>
                          </a:solidFill>
                          <a:effectLst/>
                          <a:latin typeface="+mn-lt"/>
                          <a:ea typeface="+mn-ea"/>
                          <a:cs typeface="+mn-cs"/>
                        </a:rPr>
                        <a:t>Participant(s) Response</a:t>
                      </a:r>
                    </a:p>
                  </a:txBody>
                  <a:tcPr marL="5075" marR="5075" marT="9144"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5"/>
                    </a:solidFill>
                  </a:tcPr>
                </a:tc>
                <a:tc>
                  <a:txBody>
                    <a:bodyPr/>
                    <a:lstStyle/>
                    <a:p>
                      <a:pPr algn="l" fontAlgn="b">
                        <a:lnSpc>
                          <a:spcPct val="100000"/>
                        </a:lnSpc>
                      </a:pPr>
                      <a:r>
                        <a:rPr lang="en-US" sz="1050" b="1" u="none" strike="noStrike">
                          <a:ln w="3175">
                            <a:noFill/>
                          </a:ln>
                          <a:solidFill>
                            <a:srgbClr val="FFFFFF"/>
                          </a:solidFill>
                          <a:effectLst/>
                        </a:rPr>
                        <a:t>Weightage</a:t>
                      </a:r>
                      <a:endParaRPr lang="en-US" sz="1050" b="1" i="0" u="none" strike="noStrike">
                        <a:ln w="3175">
                          <a:noFill/>
                        </a:ln>
                        <a:solidFill>
                          <a:srgbClr val="FFFFFF"/>
                        </a:solidFill>
                        <a:effectLst/>
                        <a:latin typeface="Verdana" panose="020B0604030504040204" pitchFamily="34" charset="0"/>
                      </a:endParaRPr>
                    </a:p>
                  </a:txBody>
                  <a:tcPr marL="5075" marR="5075" marT="9144" marB="0" anchor="ctr" anchorCtr="1">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163502627"/>
                  </a:ext>
                </a:extLst>
              </a:tr>
              <a:tr h="203993">
                <a:tc gridSpan="3">
                  <a:txBody>
                    <a:bodyPr/>
                    <a:lstStyle/>
                    <a:p>
                      <a:pPr marL="91440" algn="l" fontAlgn="b">
                        <a:lnSpc>
                          <a:spcPct val="100000"/>
                        </a:lnSpc>
                      </a:pPr>
                      <a:r>
                        <a:rPr lang="en-US" sz="1000" b="1" u="none" strike="noStrike" kern="1200">
                          <a:solidFill>
                            <a:schemeClr val="bg1"/>
                          </a:solidFill>
                          <a:effectLst/>
                        </a:rPr>
                        <a:t>Solution Design, Architecture &amp; Implementation</a:t>
                      </a:r>
                      <a:endParaRPr lang="en-US" sz="1000" b="1" i="0" u="none" strike="noStrike">
                        <a:ln w="3175">
                          <a:noFill/>
                        </a:ln>
                        <a:solidFill>
                          <a:schemeClr val="bg1"/>
                        </a:solidFill>
                        <a:effectLst/>
                        <a:latin typeface="Calibri"/>
                        <a:cs typeface="Calibri"/>
                      </a:endParaRPr>
                    </a:p>
                  </a:txBody>
                  <a:tcPr marL="5075" marR="5075" marT="9144" marB="9144"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hMerge="1">
                  <a:txBody>
                    <a:bodyPr/>
                    <a:lstStyle/>
                    <a:p>
                      <a:endParaRPr lang="en-US"/>
                    </a:p>
                  </a:txBody>
                  <a:tcPr/>
                </a:tc>
                <a:tc hMerge="1">
                  <a:txBody>
                    <a:bodyPr/>
                    <a:lstStyle/>
                    <a:p>
                      <a:pPr marL="91440" algn="l" fontAlgn="b">
                        <a:lnSpc>
                          <a:spcPct val="100000"/>
                        </a:lnSpc>
                      </a:pPr>
                      <a:endParaRPr lang="en-US" sz="1000" b="1" i="0" u="none" strike="noStrike">
                        <a:ln w="3175">
                          <a:noFill/>
                        </a:ln>
                        <a:solidFill>
                          <a:schemeClr val="bg1"/>
                        </a:solidFill>
                        <a:effectLst/>
                        <a:latin typeface="Calibri" panose="020F0502020204030204" pitchFamily="34" charset="0"/>
                        <a:cs typeface="Calibri" panose="020F0502020204030204" pitchFamily="34" charset="0"/>
                      </a:endParaRPr>
                    </a:p>
                  </a:txBody>
                  <a:tcPr marL="5075" marR="5075" marT="9144" marB="9144"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l" fontAlgn="b">
                        <a:lnSpc>
                          <a:spcPct val="100000"/>
                        </a:lnSpc>
                      </a:pPr>
                      <a:endParaRPr lang="en-US" sz="1000" b="1" i="0" u="none" strike="noStrike">
                        <a:ln w="3175">
                          <a:noFill/>
                        </a:ln>
                        <a:solidFill>
                          <a:schemeClr val="bg1"/>
                        </a:solidFill>
                        <a:effectLst/>
                        <a:latin typeface="Calibri" panose="020F0502020204030204" pitchFamily="34" charset="0"/>
                        <a:cs typeface="Calibri" panose="020F0502020204030204" pitchFamily="34" charset="0"/>
                      </a:endParaRPr>
                    </a:p>
                  </a:txBody>
                  <a:tcPr marL="5075" marR="5075" marT="9144" marB="9144"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fontAlgn="b">
                        <a:lnSpc>
                          <a:spcPct val="100000"/>
                        </a:lnSpc>
                      </a:pPr>
                      <a:r>
                        <a:rPr lang="en-US" sz="1000" b="1" u="none" strike="noStrike">
                          <a:ln w="3175">
                            <a:noFill/>
                          </a:ln>
                          <a:solidFill>
                            <a:schemeClr val="bg1"/>
                          </a:solidFill>
                          <a:effectLst/>
                        </a:rPr>
                        <a:t>35%</a:t>
                      </a:r>
                      <a:endParaRPr lang="en-US" sz="1000" b="1" i="0" u="none" strike="noStrike">
                        <a:ln w="3175">
                          <a:noFill/>
                        </a:ln>
                        <a:solidFill>
                          <a:schemeClr val="bg1"/>
                        </a:solidFill>
                        <a:effectLst/>
                        <a:latin typeface="Calibri"/>
                        <a:cs typeface="Calibri"/>
                      </a:endParaRPr>
                    </a:p>
                  </a:txBody>
                  <a:tcPr marL="5075" marR="5075" marT="9144" marB="9144"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2988859878"/>
                  </a:ext>
                </a:extLst>
              </a:tr>
              <a:tr h="2293055">
                <a:tc>
                  <a:txBody>
                    <a:bodyPr/>
                    <a:lstStyle/>
                    <a:p>
                      <a:pPr marL="91440" algn="l" fontAlgn="b">
                        <a:lnSpc>
                          <a:spcPct val="100000"/>
                        </a:lnSpc>
                      </a:pPr>
                      <a:r>
                        <a:rPr lang="en-US" sz="1000" b="0" u="none" strike="noStrike">
                          <a:ln w="3175">
                            <a:noFill/>
                          </a:ln>
                          <a:solidFill>
                            <a:srgbClr val="000000"/>
                          </a:solidFill>
                          <a:effectLst/>
                        </a:rPr>
                        <a:t>Solution Design/ Approach/ Roadmap</a:t>
                      </a:r>
                      <a:br>
                        <a:rPr lang="en-US" sz="1000" b="0" u="none" strike="noStrike" dirty="0">
                          <a:ln w="3175">
                            <a:noFill/>
                          </a:ln>
                          <a:solidFill>
                            <a:srgbClr val="000000"/>
                          </a:solidFill>
                          <a:effectLst/>
                        </a:rPr>
                      </a:br>
                      <a:endParaRPr lang="en-US" sz="1000" b="0" i="0" u="none" strike="noStrike" dirty="0">
                        <a:ln w="3175">
                          <a:noFill/>
                        </a:ln>
                        <a:solidFill>
                          <a:srgbClr val="000000"/>
                        </a:solidFill>
                        <a:effectLst/>
                        <a:latin typeface="Calibri"/>
                        <a:cs typeface="Calibri"/>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gridSpan="2">
                  <a:txBody>
                    <a:bodyPr/>
                    <a:lstStyle/>
                    <a:p>
                      <a:pPr marL="91440" algn="l" fontAlgn="b">
                        <a:lnSpc>
                          <a:spcPct val="100000"/>
                        </a:lnSpc>
                      </a:pPr>
                      <a:r>
                        <a:rPr lang="en-US" sz="1000" b="0" u="none" strike="noStrike">
                          <a:ln w="3175">
                            <a:noFill/>
                          </a:ln>
                          <a:solidFill>
                            <a:srgbClr val="000000"/>
                          </a:solidFill>
                          <a:effectLst/>
                        </a:rPr>
                        <a:t>Detail the proposed solution that has been designed to address the use case. Outline the steps, methodologies, data flow and resources that will be utilized to tackle the use case and achieve desired outcome</a:t>
                      </a:r>
                      <a:endParaRPr lang="en-US" sz="1000" b="0" i="0" u="none" strike="noStrike">
                        <a:ln w="3175">
                          <a:noFill/>
                        </a:ln>
                        <a:solidFill>
                          <a:srgbClr val="000000"/>
                        </a:solidFill>
                        <a:effectLst/>
                        <a:latin typeface="Calibri"/>
                        <a:cs typeface="Calibri"/>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hMerge="1">
                  <a:txBody>
                    <a:bodyPr/>
                    <a:lstStyle/>
                    <a:p>
                      <a:pPr marL="91440" algn="l" fontAlgn="b">
                        <a:lnSpc>
                          <a:spcPct val="100000"/>
                        </a:lnSpc>
                      </a:pPr>
                      <a:endParaRPr lang="en-US" sz="1000" b="0" i="0" u="none" strike="noStrike">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a:txBody>
                    <a:bodyPr/>
                    <a:lstStyle/>
                    <a:p>
                      <a:pPr lvl="0" algn="l">
                        <a:lnSpc>
                          <a:spcPct val="100000"/>
                        </a:lnSpc>
                        <a:buNone/>
                      </a:pPr>
                      <a:r>
                        <a:rPr lang="en-US" sz="1000" b="1" i="0" u="none" strike="noStrike" noProof="0" dirty="0">
                          <a:ln w="3175">
                            <a:noFill/>
                          </a:ln>
                          <a:solidFill>
                            <a:srgbClr val="000000"/>
                          </a:solidFill>
                          <a:effectLst/>
                        </a:rPr>
                        <a:t>   </a:t>
                      </a:r>
                      <a:endParaRPr lang="en-US"/>
                    </a:p>
                    <a:p>
                      <a:pPr lvl="0" algn="l">
                        <a:lnSpc>
                          <a:spcPct val="100000"/>
                        </a:lnSpc>
                        <a:buNone/>
                      </a:pPr>
                      <a:r>
                        <a:rPr lang="en-US" sz="1000" b="1" i="0" u="none" strike="noStrike" noProof="0" dirty="0">
                          <a:ln w="3175">
                            <a:noFill/>
                          </a:ln>
                          <a:solidFill>
                            <a:srgbClr val="000000"/>
                          </a:solidFill>
                          <a:effectLst/>
                        </a:rPr>
                        <a:t>Approach:</a:t>
                      </a:r>
                      <a:r>
                        <a:rPr lang="en-US" sz="1000" b="0" i="0" u="none" strike="noStrike" noProof="0" dirty="0">
                          <a:ln w="3175">
                            <a:noFill/>
                          </a:ln>
                          <a:solidFill>
                            <a:srgbClr val="000000"/>
                          </a:solidFill>
                          <a:effectLst/>
                        </a:rPr>
                        <a:t> </a:t>
                      </a:r>
                      <a:r>
                        <a:rPr lang="en-US" sz="1000" b="0" i="0" u="none" strike="noStrike" noProof="0" err="1">
                          <a:ln w="3175">
                            <a:noFill/>
                          </a:ln>
                          <a:solidFill>
                            <a:srgbClr val="000000"/>
                          </a:solidFill>
                          <a:effectLst/>
                        </a:rPr>
                        <a:t>ChurnGuard</a:t>
                      </a:r>
                      <a:r>
                        <a:rPr lang="en-US" sz="1000" b="0" i="0" u="none" strike="noStrike" noProof="0" dirty="0">
                          <a:ln w="3175">
                            <a:noFill/>
                          </a:ln>
                          <a:solidFill>
                            <a:srgbClr val="000000"/>
                          </a:solidFill>
                          <a:effectLst/>
                        </a:rPr>
                        <a:t> runs a </a:t>
                      </a:r>
                      <a:r>
                        <a:rPr lang="en-US" sz="1000" b="1" i="0" u="none" strike="noStrike" noProof="0" dirty="0">
                          <a:ln w="3175">
                            <a:noFill/>
                          </a:ln>
                          <a:solidFill>
                            <a:srgbClr val="000000"/>
                          </a:solidFill>
                          <a:effectLst/>
                        </a:rPr>
                        <a:t>Predict → Explain → Act</a:t>
                      </a:r>
                      <a:r>
                        <a:rPr lang="en-US" sz="1000" b="0" i="0" u="none" strike="noStrike" noProof="0" dirty="0">
                          <a:ln w="3175">
                            <a:noFill/>
                          </a:ln>
                          <a:solidFill>
                            <a:srgbClr val="000000"/>
                          </a:solidFill>
                          <a:effectLst/>
                        </a:rPr>
                        <a:t> pipeline, built as a </a:t>
                      </a:r>
                      <a:r>
                        <a:rPr lang="en-US" sz="1000" b="1" i="0" u="none" strike="noStrike" noProof="0" dirty="0">
                          <a:ln w="3175">
                            <a:noFill/>
                          </a:ln>
                          <a:solidFill>
                            <a:srgbClr val="000000"/>
                          </a:solidFill>
                          <a:effectLst/>
                        </a:rPr>
                        <a:t>multi-agent </a:t>
                      </a:r>
                      <a:r>
                        <a:rPr lang="en-US" sz="1000" b="1" i="0" u="none" strike="noStrike" noProof="0" err="1">
                          <a:ln w="3175">
                            <a:noFill/>
                          </a:ln>
                          <a:solidFill>
                            <a:srgbClr val="000000"/>
                          </a:solidFill>
                          <a:effectLst/>
                        </a:rPr>
                        <a:t>LangGraph</a:t>
                      </a:r>
                      <a:r>
                        <a:rPr lang="en-US" sz="1000" b="1" i="0" u="none" strike="noStrike" noProof="0" dirty="0">
                          <a:ln w="3175">
                            <a:noFill/>
                          </a:ln>
                          <a:solidFill>
                            <a:srgbClr val="000000"/>
                          </a:solidFill>
                          <a:effectLst/>
                        </a:rPr>
                        <a:t> workflow</a:t>
                      </a:r>
                      <a:r>
                        <a:rPr lang="en-US" sz="1000" b="0" i="0" u="none" strike="noStrike" noProof="0" dirty="0">
                          <a:ln w="3175">
                            <a:noFill/>
                          </a:ln>
                          <a:solidFill>
                            <a:srgbClr val="000000"/>
                          </a:solidFill>
                          <a:effectLst/>
                        </a:rPr>
                        <a:t> — each stage is an </a:t>
                      </a:r>
                      <a:r>
                        <a:rPr lang="en-US" sz="1000" b="0" i="0" u="none" strike="noStrike" noProof="0">
                          <a:ln w="3175">
                            <a:noFill/>
                          </a:ln>
                          <a:solidFill>
                            <a:srgbClr val="000000"/>
                          </a:solidFill>
                          <a:effectLst/>
                        </a:rPr>
                        <a:t>independent agent, so they can be tested, swapped, or scaled separately.</a:t>
                      </a:r>
                    </a:p>
                    <a:p>
                      <a:pPr lvl="0" algn="l">
                        <a:lnSpc>
                          <a:spcPct val="100000"/>
                        </a:lnSpc>
                        <a:spcBef>
                          <a:spcPts val="0"/>
                        </a:spcBef>
                        <a:spcAft>
                          <a:spcPts val="0"/>
                        </a:spcAft>
                        <a:buNone/>
                      </a:pPr>
                      <a:r>
                        <a:rPr lang="en-US" sz="1000" b="1" i="0" u="none" strike="noStrike" noProof="0">
                          <a:ln w="3175">
                            <a:noFill/>
                          </a:ln>
                          <a:solidFill>
                            <a:srgbClr val="000000"/>
                          </a:solidFill>
                          <a:effectLst/>
                          <a:latin typeface="Calibri"/>
                          <a:ea typeface="Calibri"/>
                          <a:cs typeface="Calibri"/>
                        </a:rPr>
                        <a:t>    Data Flow:</a:t>
                      </a:r>
                      <a:endParaRPr lang="en-US"/>
                    </a:p>
                    <a:p>
                      <a:pPr marL="0" lvl="0" indent="0" algn="l">
                        <a:lnSpc>
                          <a:spcPct val="100000"/>
                        </a:lnSpc>
                        <a:spcBef>
                          <a:spcPts val="0"/>
                        </a:spcBef>
                        <a:spcAft>
                          <a:spcPts val="0"/>
                        </a:spcAft>
                        <a:buNone/>
                      </a:pPr>
                      <a:r>
                        <a:rPr lang="en-US" sz="1000" b="1" i="0" u="none" strike="noStrike" noProof="0">
                          <a:ln w="3175">
                            <a:noFill/>
                          </a:ln>
                          <a:solidFill>
                            <a:srgbClr val="000000"/>
                          </a:solidFill>
                          <a:effectLst/>
                          <a:latin typeface="Calibri"/>
                          <a:ea typeface="Calibri"/>
                          <a:cs typeface="Calibri"/>
                        </a:rPr>
                        <a:t>         Ingestion Agent</a:t>
                      </a:r>
                      <a:r>
                        <a:rPr lang="en-US" sz="1000" b="0" i="0" u="none" strike="noStrike" noProof="0">
                          <a:ln w="3175">
                            <a:noFill/>
                          </a:ln>
                          <a:solidFill>
                            <a:srgbClr val="000000"/>
                          </a:solidFill>
                          <a:effectLst/>
                          <a:latin typeface="Calibri"/>
                          <a:ea typeface="Calibri"/>
                          <a:cs typeface="Calibri"/>
                        </a:rPr>
                        <a:t> — pulls usage, login, and support-ticket data via REST API</a:t>
                      </a:r>
                      <a:endParaRPr lang="en-US"/>
                    </a:p>
                    <a:p>
                      <a:pPr marL="0" lvl="0" indent="0" algn="l">
                        <a:lnSpc>
                          <a:spcPct val="100000"/>
                        </a:lnSpc>
                        <a:spcBef>
                          <a:spcPts val="0"/>
                        </a:spcBef>
                        <a:spcAft>
                          <a:spcPts val="0"/>
                        </a:spcAft>
                        <a:buNone/>
                      </a:pPr>
                      <a:r>
                        <a:rPr lang="en-US" sz="1000" b="1" i="0" u="none" strike="noStrike" noProof="0" dirty="0">
                          <a:ln w="3175">
                            <a:noFill/>
                          </a:ln>
                          <a:solidFill>
                            <a:srgbClr val="000000"/>
                          </a:solidFill>
                          <a:effectLst/>
                          <a:latin typeface="Calibri"/>
                          <a:ea typeface="Calibri"/>
                          <a:cs typeface="Calibri"/>
                        </a:rPr>
                        <a:t>         Prediction Agent</a:t>
                      </a:r>
                      <a:r>
                        <a:rPr lang="en-US" sz="1000" b="0" i="0" u="none" strike="noStrike" noProof="0" dirty="0">
                          <a:ln w="3175">
                            <a:noFill/>
                          </a:ln>
                          <a:solidFill>
                            <a:srgbClr val="000000"/>
                          </a:solidFill>
                          <a:effectLst/>
                          <a:latin typeface="Calibri"/>
                          <a:ea typeface="Calibri"/>
                          <a:cs typeface="Calibri"/>
                        </a:rPr>
                        <a:t> — </a:t>
                      </a:r>
                      <a:r>
                        <a:rPr lang="en-US" sz="1000" b="1" i="0" u="none" strike="noStrike" noProof="0" dirty="0">
                          <a:ln w="3175">
                            <a:noFill/>
                          </a:ln>
                          <a:solidFill>
                            <a:srgbClr val="000000"/>
                          </a:solidFill>
                          <a:effectLst/>
                          <a:latin typeface="Calibri"/>
                          <a:ea typeface="Calibri"/>
                          <a:cs typeface="Calibri"/>
                        </a:rPr>
                        <a:t>Ensemble Stacking ( </a:t>
                      </a:r>
                      <a:r>
                        <a:rPr lang="en-US" sz="1000" b="1" i="0" u="none" strike="noStrike" noProof="0" dirty="0" err="1">
                          <a:ln w="3175">
                            <a:noFill/>
                          </a:ln>
                          <a:solidFill>
                            <a:srgbClr val="000000"/>
                          </a:solidFill>
                          <a:effectLst/>
                          <a:latin typeface="Calibri"/>
                          <a:ea typeface="Calibri"/>
                          <a:cs typeface="Calibri"/>
                        </a:rPr>
                        <a:t>lightGBM</a:t>
                      </a:r>
                      <a:r>
                        <a:rPr lang="en-US" sz="1000" b="1" i="0" u="none" strike="noStrike" noProof="0" dirty="0">
                          <a:ln w="3175">
                            <a:noFill/>
                          </a:ln>
                          <a:solidFill>
                            <a:srgbClr val="000000"/>
                          </a:solidFill>
                          <a:effectLst/>
                          <a:latin typeface="Calibri"/>
                          <a:ea typeface="Calibri"/>
                          <a:cs typeface="Calibri"/>
                        </a:rPr>
                        <a:t>, </a:t>
                      </a:r>
                      <a:r>
                        <a:rPr lang="en-US" sz="1000" b="1" i="0" u="none" strike="noStrike" noProof="0" dirty="0" err="1">
                          <a:ln w="3175">
                            <a:noFill/>
                          </a:ln>
                          <a:solidFill>
                            <a:srgbClr val="000000"/>
                          </a:solidFill>
                          <a:effectLst/>
                          <a:latin typeface="Calibri"/>
                          <a:ea typeface="Calibri"/>
                          <a:cs typeface="Calibri"/>
                        </a:rPr>
                        <a:t>Catboost</a:t>
                      </a:r>
                      <a:r>
                        <a:rPr lang="en-US" sz="1000" b="1" i="0" u="none" strike="noStrike" noProof="0" dirty="0">
                          <a:ln w="3175">
                            <a:noFill/>
                          </a:ln>
                          <a:solidFill>
                            <a:srgbClr val="000000"/>
                          </a:solidFill>
                          <a:effectLst/>
                          <a:latin typeface="Calibri"/>
                          <a:ea typeface="Calibri"/>
                          <a:cs typeface="Calibri"/>
                        </a:rPr>
                        <a:t>, </a:t>
                      </a:r>
                      <a:r>
                        <a:rPr lang="en-US" sz="1000" b="1" i="0" u="none" strike="noStrike" noProof="0" dirty="0" err="1">
                          <a:ln w="3175">
                            <a:noFill/>
                          </a:ln>
                          <a:solidFill>
                            <a:srgbClr val="000000"/>
                          </a:solidFill>
                          <a:effectLst/>
                          <a:latin typeface="Calibri"/>
                          <a:ea typeface="Calibri"/>
                          <a:cs typeface="Calibri"/>
                        </a:rPr>
                        <a:t>TabNet</a:t>
                      </a:r>
                      <a:r>
                        <a:rPr lang="en-US" sz="1000" b="1" i="0" u="none" strike="noStrike" noProof="0" dirty="0">
                          <a:ln w="3175">
                            <a:noFill/>
                          </a:ln>
                          <a:solidFill>
                            <a:srgbClr val="000000"/>
                          </a:solidFill>
                          <a:effectLst/>
                          <a:latin typeface="Calibri"/>
                          <a:ea typeface="Calibri"/>
                          <a:cs typeface="Calibri"/>
                        </a:rPr>
                        <a:t>) </a:t>
                      </a:r>
                      <a:r>
                        <a:rPr lang="en-US" sz="1000" b="0" i="0" u="none" strike="noStrike" noProof="0" dirty="0">
                          <a:ln w="3175">
                            <a:noFill/>
                          </a:ln>
                          <a:solidFill>
                            <a:srgbClr val="000000"/>
                          </a:solidFill>
                          <a:effectLst/>
                          <a:latin typeface="Calibri"/>
                          <a:ea typeface="Calibri"/>
                          <a:cs typeface="Calibri"/>
                        </a:rPr>
                        <a:t>models outputs a churn-risk score per customer</a:t>
                      </a:r>
                      <a:endParaRPr lang="en-US" dirty="0"/>
                    </a:p>
                    <a:p>
                      <a:pPr marL="0" lvl="0" indent="0" algn="l">
                        <a:lnSpc>
                          <a:spcPct val="100000"/>
                        </a:lnSpc>
                        <a:spcBef>
                          <a:spcPts val="0"/>
                        </a:spcBef>
                        <a:spcAft>
                          <a:spcPts val="0"/>
                        </a:spcAft>
                        <a:buNone/>
                      </a:pPr>
                      <a:r>
                        <a:rPr lang="en-US" sz="1000" b="1" i="0" u="none" strike="noStrike" noProof="0">
                          <a:ln w="3175">
                            <a:noFill/>
                          </a:ln>
                          <a:solidFill>
                            <a:srgbClr val="000000"/>
                          </a:solidFill>
                          <a:effectLst/>
                          <a:latin typeface="Calibri"/>
                          <a:ea typeface="Calibri"/>
                          <a:cs typeface="Calibri"/>
                        </a:rPr>
                        <a:t>         Explainability Agent</a:t>
                      </a:r>
                      <a:r>
                        <a:rPr lang="en-US" sz="1000" b="0" i="0" u="none" strike="noStrike" noProof="0">
                          <a:ln w="3175">
                            <a:noFill/>
                          </a:ln>
                          <a:solidFill>
                            <a:srgbClr val="000000"/>
                          </a:solidFill>
                          <a:effectLst/>
                          <a:latin typeface="Calibri"/>
                          <a:ea typeface="Calibri"/>
                          <a:cs typeface="Calibri"/>
                        </a:rPr>
                        <a:t> — </a:t>
                      </a:r>
                      <a:r>
                        <a:rPr lang="en-US" sz="1000" b="1" i="0" u="none" strike="noStrike" noProof="0">
                          <a:ln w="3175">
                            <a:noFill/>
                          </a:ln>
                          <a:solidFill>
                            <a:srgbClr val="000000"/>
                          </a:solidFill>
                          <a:effectLst/>
                          <a:latin typeface="Calibri"/>
                          <a:ea typeface="Calibri"/>
                          <a:cs typeface="Calibri"/>
                        </a:rPr>
                        <a:t>SHAP</a:t>
                      </a:r>
                      <a:r>
                        <a:rPr lang="en-US" sz="1000" b="0" i="0" u="none" strike="noStrike" noProof="0">
                          <a:ln w="3175">
                            <a:noFill/>
                          </a:ln>
                          <a:solidFill>
                            <a:srgbClr val="000000"/>
                          </a:solidFill>
                          <a:effectLst/>
                          <a:latin typeface="Calibri"/>
                          <a:ea typeface="Calibri"/>
                          <a:cs typeface="Calibri"/>
                        </a:rPr>
                        <a:t> breaks the score into top risk factors (e.g., "40% drop in feature usage")</a:t>
                      </a:r>
                      <a:endParaRPr lang="en-US"/>
                    </a:p>
                    <a:p>
                      <a:pPr marL="0" lvl="0" indent="0" algn="l">
                        <a:lnSpc>
                          <a:spcPct val="100000"/>
                        </a:lnSpc>
                        <a:spcBef>
                          <a:spcPts val="0"/>
                        </a:spcBef>
                        <a:spcAft>
                          <a:spcPts val="0"/>
                        </a:spcAft>
                        <a:buNone/>
                      </a:pPr>
                      <a:r>
                        <a:rPr lang="en-US" sz="1000" b="1" i="0" u="none" strike="noStrike" noProof="0" dirty="0">
                          <a:ln w="3175">
                            <a:noFill/>
                          </a:ln>
                          <a:solidFill>
                            <a:srgbClr val="000000"/>
                          </a:solidFill>
                          <a:effectLst/>
                          <a:latin typeface="Calibri"/>
                          <a:ea typeface="Calibri"/>
                          <a:cs typeface="Calibri"/>
                        </a:rPr>
                        <a:t>         Outreach Agent</a:t>
                      </a:r>
                      <a:r>
                        <a:rPr lang="en-US" sz="1000" b="0" i="0" u="none" strike="noStrike" noProof="0" dirty="0">
                          <a:ln w="3175">
                            <a:noFill/>
                          </a:ln>
                          <a:solidFill>
                            <a:srgbClr val="000000"/>
                          </a:solidFill>
                          <a:effectLst/>
                          <a:latin typeface="Calibri"/>
                          <a:ea typeface="Calibri"/>
                          <a:cs typeface="Calibri"/>
                        </a:rPr>
                        <a:t> — LLM (</a:t>
                      </a:r>
                      <a:r>
                        <a:rPr lang="en-US" sz="1000" b="1" i="0" u="none" strike="noStrike" noProof="0" dirty="0" err="1">
                          <a:ln w="3175">
                            <a:noFill/>
                          </a:ln>
                          <a:solidFill>
                            <a:srgbClr val="000000"/>
                          </a:solidFill>
                          <a:effectLst/>
                          <a:latin typeface="Calibri"/>
                          <a:ea typeface="Calibri"/>
                          <a:cs typeface="Calibri"/>
                        </a:rPr>
                        <a:t>LangChain</a:t>
                      </a:r>
                      <a:r>
                        <a:rPr lang="en-US" sz="1000" b="0" i="0" u="none" strike="noStrike" noProof="0" dirty="0">
                          <a:ln w="3175">
                            <a:noFill/>
                          </a:ln>
                          <a:solidFill>
                            <a:srgbClr val="000000"/>
                          </a:solidFill>
                          <a:effectLst/>
                          <a:latin typeface="Calibri"/>
                          <a:ea typeface="Calibri"/>
                          <a:cs typeface="Calibri"/>
                        </a:rPr>
                        <a:t>) turns SHAP output into a personalized retention email</a:t>
                      </a:r>
                      <a:endParaRPr lang="en-US" dirty="0"/>
                    </a:p>
                    <a:p>
                      <a:pPr marL="0" lvl="0" indent="0" algn="l">
                        <a:lnSpc>
                          <a:spcPct val="100000"/>
                        </a:lnSpc>
                        <a:spcBef>
                          <a:spcPts val="0"/>
                        </a:spcBef>
                        <a:spcAft>
                          <a:spcPts val="0"/>
                        </a:spcAft>
                        <a:buNone/>
                      </a:pPr>
                      <a:r>
                        <a:rPr lang="en-US" sz="1000" b="1" i="0" u="none" strike="noStrike" noProof="0">
                          <a:ln w="3175">
                            <a:noFill/>
                          </a:ln>
                          <a:solidFill>
                            <a:srgbClr val="000000"/>
                          </a:solidFill>
                          <a:effectLst/>
                          <a:latin typeface="Calibri"/>
                          <a:ea typeface="Calibri"/>
                          <a:cs typeface="Calibri"/>
                        </a:rPr>
                        <a:t>         Orchestrator Agent</a:t>
                      </a:r>
                      <a:r>
                        <a:rPr lang="en-US" sz="1000" b="0" i="0" u="none" strike="noStrike" noProof="0">
                          <a:ln w="3175">
                            <a:noFill/>
                          </a:ln>
                          <a:solidFill>
                            <a:srgbClr val="000000"/>
                          </a:solidFill>
                          <a:effectLst/>
                          <a:latin typeface="Calibri"/>
                          <a:ea typeface="Calibri"/>
                          <a:cs typeface="Calibri"/>
                        </a:rPr>
                        <a:t> — sequences all agents and pushes results to the dashboard</a:t>
                      </a:r>
                      <a:endParaRPr lang="en-US"/>
                    </a:p>
                    <a:p>
                      <a:pPr lvl="0" algn="l">
                        <a:lnSpc>
                          <a:spcPct val="100000"/>
                        </a:lnSpc>
                        <a:buNone/>
                      </a:pPr>
                      <a:endParaRPr lang="en-US" sz="1000" b="0" i="0" u="none" strike="noStrike" noProof="0">
                        <a:ln w="3175">
                          <a:noFill/>
                        </a:ln>
                        <a:solidFill>
                          <a:srgbClr val="000000"/>
                        </a:solidFill>
                        <a:effectLst/>
                      </a:endParaRPr>
                    </a:p>
                    <a:p>
                      <a:pPr lvl="0" algn="l">
                        <a:lnSpc>
                          <a:spcPct val="100000"/>
                        </a:lnSpc>
                        <a:buNone/>
                      </a:pPr>
                      <a:r>
                        <a:rPr lang="en-US" sz="1000" b="1" i="0" u="none" strike="noStrike" noProof="0">
                          <a:ln w="3175">
                            <a:noFill/>
                          </a:ln>
                          <a:solidFill>
                            <a:srgbClr val="000000"/>
                          </a:solidFill>
                          <a:effectLst/>
                          <a:latin typeface="Calibri"/>
                          <a:ea typeface="Calibri"/>
                          <a:cs typeface="Calibri"/>
                        </a:rPr>
                        <a:t>    Methodology:</a:t>
                      </a:r>
                      <a:r>
                        <a:rPr lang="en-US" sz="1000" b="0" i="0" u="none" strike="noStrike" noProof="0">
                          <a:ln w="3175">
                            <a:noFill/>
                          </a:ln>
                          <a:solidFill>
                            <a:srgbClr val="000000"/>
                          </a:solidFill>
                          <a:effectLst/>
                          <a:latin typeface="Calibri"/>
                          <a:ea typeface="Calibri"/>
                          <a:cs typeface="Calibri"/>
                        </a:rPr>
                        <a:t> Supervised ML for prediction, Shapley values for explainability, prompt-engineered LLM for action combining accuracy with                       human-readable insight.</a:t>
                      </a:r>
                      <a:endParaRPr lang="en-US"/>
                    </a:p>
                    <a:p>
                      <a:pPr lvl="0" algn="l">
                        <a:lnSpc>
                          <a:spcPct val="100000"/>
                        </a:lnSpc>
                        <a:buNone/>
                      </a:pPr>
                      <a:r>
                        <a:rPr lang="en-US" sz="1000" b="1" i="0" u="none" strike="noStrike" noProof="0">
                          <a:ln w="3175">
                            <a:noFill/>
                          </a:ln>
                          <a:solidFill>
                            <a:srgbClr val="000000"/>
                          </a:solidFill>
                          <a:effectLst/>
                        </a:rPr>
                        <a:t>    Roadmap:</a:t>
                      </a:r>
                      <a:r>
                        <a:rPr lang="en-US" sz="1000" b="0" i="0" u="none" strike="noStrike" noProof="0">
                          <a:ln w="3175">
                            <a:noFill/>
                          </a:ln>
                          <a:solidFill>
                            <a:srgbClr val="000000"/>
                          </a:solidFill>
                          <a:effectLst/>
                        </a:rPr>
                        <a:t> Data Prep → Model Training → SHAP Integration → Agentic Pipeline → API + Dashboard → Pilot Testing → Iteration</a:t>
                      </a:r>
                      <a:endParaRPr lang="en-US"/>
                    </a:p>
                  </a:txBody>
                  <a:tcPr marL="5075" marR="5075" marT="5075" marB="0">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rowSpan="3">
                  <a:txBody>
                    <a:bodyPr/>
                    <a:lstStyle/>
                    <a:p>
                      <a:pPr marL="0" algn="ctr" defTabSz="914400" rtl="0" eaLnBrk="1" fontAlgn="b" latinLnBrk="0" hangingPunct="1">
                        <a:lnSpc>
                          <a:spcPct val="100000"/>
                        </a:lnSpc>
                      </a:pPr>
                      <a:r>
                        <a:rPr lang="en-US" sz="1000" b="0" u="none" strike="noStrike" kern="1200">
                          <a:ln w="3175">
                            <a:noFill/>
                          </a:ln>
                          <a:solidFill>
                            <a:srgbClr val="000000"/>
                          </a:solidFill>
                          <a:effectLst/>
                        </a:rPr>
                        <a:t>15</a:t>
                      </a:r>
                      <a:endParaRPr lang="en-US" sz="1000" b="0" i="0" u="none" strike="noStrike">
                        <a:ln w="3175">
                          <a:noFill/>
                        </a:ln>
                        <a:solidFill>
                          <a:srgbClr val="000000"/>
                        </a:solidFill>
                        <a:effectLst/>
                        <a:latin typeface="Calibri"/>
                        <a:cs typeface="Calibri"/>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extLst>
                  <a:ext uri="{0D108BD9-81ED-4DB2-BD59-A6C34878D82A}">
                    <a16:rowId xmlns:a16="http://schemas.microsoft.com/office/drawing/2014/main" val="1515877296"/>
                  </a:ext>
                </a:extLst>
              </a:tr>
              <a:tr h="2231930">
                <a:tc>
                  <a:txBody>
                    <a:bodyPr/>
                    <a:lstStyle/>
                    <a:p>
                      <a:pPr marL="91440" algn="l" fontAlgn="b">
                        <a:lnSpc>
                          <a:spcPct val="100000"/>
                        </a:lnSpc>
                      </a:pPr>
                      <a:r>
                        <a:rPr lang="en-US" sz="1000" b="0" u="none" strike="noStrike">
                          <a:ln w="3175">
                            <a:noFill/>
                          </a:ln>
                          <a:solidFill>
                            <a:srgbClr val="000000"/>
                          </a:solidFill>
                          <a:effectLst/>
                        </a:rPr>
                        <a:t>Implementation Plan</a:t>
                      </a:r>
                      <a:endParaRPr lang="en-US" sz="1000" b="0" i="0" u="none" strike="noStrike">
                        <a:ln w="3175">
                          <a:noFill/>
                        </a:ln>
                        <a:solidFill>
                          <a:srgbClr val="000000"/>
                        </a:solidFill>
                        <a:effectLst/>
                        <a:latin typeface="Calibri"/>
                        <a:cs typeface="Calibri"/>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gridSpan="2">
                  <a:txBody>
                    <a:bodyPr/>
                    <a:lstStyle/>
                    <a:p>
                      <a:pPr marL="91440" algn="l" fontAlgn="b">
                        <a:lnSpc>
                          <a:spcPct val="100000"/>
                        </a:lnSpc>
                      </a:pPr>
                      <a:r>
                        <a:rPr lang="en-US" sz="1000" b="0" u="none" strike="noStrike">
                          <a:ln w="3175">
                            <a:noFill/>
                          </a:ln>
                          <a:solidFill>
                            <a:srgbClr val="000000"/>
                          </a:solidFill>
                          <a:effectLst/>
                        </a:rPr>
                        <a:t>Outline the steps for implementing the solution including timeline, resources required, roles and responsibilities, and key milestones</a:t>
                      </a:r>
                      <a:endParaRPr lang="en-US" sz="1000" b="0" i="0" u="none" strike="noStrike">
                        <a:ln w="3175">
                          <a:noFill/>
                        </a:ln>
                        <a:solidFill>
                          <a:srgbClr val="000000"/>
                        </a:solidFill>
                        <a:effectLst/>
                        <a:latin typeface="Calibri"/>
                        <a:cs typeface="Calibri"/>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hMerge="1">
                  <a:txBody>
                    <a:bodyPr/>
                    <a:lstStyle/>
                    <a:p>
                      <a:pPr marL="91440" algn="l" fontAlgn="b">
                        <a:lnSpc>
                          <a:spcPct val="100000"/>
                        </a:lnSpc>
                      </a:pPr>
                      <a:endParaRPr lang="en-US" sz="1000" b="0" i="0" u="none" strike="noStrike">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a:txBody>
                    <a:bodyPr/>
                    <a:lstStyle/>
                    <a:p>
                      <a:pPr lvl="0" algn="l">
                        <a:lnSpc>
                          <a:spcPct val="100000"/>
                        </a:lnSpc>
                        <a:buNone/>
                      </a:pPr>
                      <a:r>
                        <a:rPr lang="en-US" sz="1000" b="1" i="0" u="none" strike="noStrike" noProof="0" dirty="0">
                          <a:ln w="3175">
                            <a:noFill/>
                          </a:ln>
                          <a:solidFill>
                            <a:srgbClr val="000000"/>
                          </a:solidFill>
                          <a:effectLst/>
                          <a:latin typeface="Calibri"/>
                          <a:ea typeface="Calibri"/>
                          <a:cs typeface="Calibri"/>
                        </a:rPr>
                        <a:t>    </a:t>
                      </a:r>
                      <a:endParaRPr lang="en-US" dirty="0"/>
                    </a:p>
                    <a:p>
                      <a:pPr lvl="0" algn="l">
                        <a:lnSpc>
                          <a:spcPct val="100000"/>
                        </a:lnSpc>
                        <a:buNone/>
                      </a:pPr>
                      <a:r>
                        <a:rPr lang="en-US" sz="1000" b="1" i="0" u="none" strike="noStrike" noProof="0">
                          <a:ln w="3175">
                            <a:noFill/>
                          </a:ln>
                          <a:solidFill>
                            <a:srgbClr val="000000"/>
                          </a:solidFill>
                          <a:effectLst/>
                          <a:latin typeface="Calibri"/>
                          <a:ea typeface="Calibri"/>
                          <a:cs typeface="Calibri"/>
                        </a:rPr>
                        <a:t>      Roles:</a:t>
                      </a:r>
                      <a:r>
                        <a:rPr lang="en-US" sz="1000" b="1" i="0" u="none" strike="noStrike" noProof="0" dirty="0">
                          <a:ln w="3175">
                            <a:noFill/>
                          </a:ln>
                          <a:solidFill>
                            <a:srgbClr val="000000"/>
                          </a:solidFill>
                          <a:effectLst/>
                        </a:rPr>
                        <a:t>                                                                                                        </a:t>
                      </a:r>
                      <a:endParaRPr lang="en-US" dirty="0"/>
                    </a:p>
                    <a:p>
                      <a:pPr lvl="0" algn="l">
                        <a:lnSpc>
                          <a:spcPct val="100000"/>
                        </a:lnSpc>
                        <a:buNone/>
                      </a:pPr>
                      <a:r>
                        <a:rPr lang="en-US" sz="1000" b="1" i="0" u="none" strike="noStrike" noProof="0">
                          <a:ln w="3175">
                            <a:noFill/>
                          </a:ln>
                          <a:solidFill>
                            <a:srgbClr val="000000"/>
                          </a:solidFill>
                          <a:effectLst/>
                        </a:rPr>
                        <a:t>                                                                                                            Implementation Plan:</a:t>
                      </a:r>
                      <a:endParaRPr lang="en-US"/>
                    </a:p>
                    <a:p>
                      <a:pPr lvl="0" algn="l">
                        <a:lnSpc>
                          <a:spcPct val="100000"/>
                        </a:lnSpc>
                        <a:buNone/>
                      </a:pPr>
                      <a:r>
                        <a:rPr lang="en-US" sz="1000" b="1" i="0" u="none" strike="noStrike" noProof="0" dirty="0">
                          <a:ln w="3175">
                            <a:noFill/>
                          </a:ln>
                          <a:solidFill>
                            <a:srgbClr val="000000"/>
                          </a:solidFill>
                          <a:effectLst/>
                        </a:rPr>
                        <a:t>   ML Engineer</a:t>
                      </a:r>
                      <a:r>
                        <a:rPr lang="en-US" sz="1000" b="0" i="0" u="none" strike="noStrike" noProof="0" dirty="0">
                          <a:ln w="3175">
                            <a:noFill/>
                          </a:ln>
                          <a:solidFill>
                            <a:srgbClr val="000000"/>
                          </a:solidFill>
                          <a:effectLst/>
                        </a:rPr>
                        <a:t> — </a:t>
                      </a:r>
                      <a:r>
                        <a:rPr lang="en-US" sz="1000" b="0" i="0" u="none" strike="noStrike" noProof="0">
                          <a:ln w="3175">
                            <a:noFill/>
                          </a:ln>
                          <a:solidFill>
                            <a:srgbClr val="000000"/>
                          </a:solidFill>
                          <a:effectLst/>
                          <a:latin typeface="Calibri"/>
                          <a:ea typeface="Calibri"/>
                          <a:cs typeface="Calibri"/>
                        </a:rPr>
                        <a:t>Preprocessing, imbalance handling,</a:t>
                      </a:r>
                      <a:endParaRPr lang="en-US"/>
                    </a:p>
                    <a:p>
                      <a:pPr lvl="0" algn="l">
                        <a:lnSpc>
                          <a:spcPct val="100000"/>
                        </a:lnSpc>
                        <a:buNone/>
                      </a:pPr>
                      <a:r>
                        <a:rPr lang="en-US" sz="1000" b="0" i="0" u="none" strike="noStrike" noProof="0" dirty="0">
                          <a:ln w="3175">
                            <a:noFill/>
                          </a:ln>
                          <a:solidFill>
                            <a:srgbClr val="000000"/>
                          </a:solidFill>
                          <a:effectLst/>
                          <a:latin typeface="Calibri"/>
                          <a:ea typeface="Calibri"/>
                          <a:cs typeface="Calibri"/>
                        </a:rPr>
                        <a:t>    training/tuning the churn model (</a:t>
                      </a:r>
                      <a:r>
                        <a:rPr lang="en-US" sz="1000" b="0" i="0" u="none" strike="noStrike" noProof="0" dirty="0" err="1">
                          <a:ln w="3175">
                            <a:noFill/>
                          </a:ln>
                          <a:solidFill>
                            <a:srgbClr val="000000"/>
                          </a:solidFill>
                          <a:effectLst/>
                          <a:latin typeface="Calibri"/>
                          <a:ea typeface="Calibri"/>
                          <a:cs typeface="Calibri"/>
                        </a:rPr>
                        <a:t>LightGBM</a:t>
                      </a:r>
                      <a:r>
                        <a:rPr lang="en-US" sz="1000" b="0" i="0" u="none" strike="noStrike" noProof="0" dirty="0">
                          <a:ln w="3175">
                            <a:noFill/>
                          </a:ln>
                          <a:solidFill>
                            <a:srgbClr val="000000"/>
                          </a:solidFill>
                          <a:effectLst/>
                          <a:latin typeface="Calibri"/>
                          <a:ea typeface="Calibri"/>
                          <a:cs typeface="Calibri"/>
                        </a:rPr>
                        <a:t>/</a:t>
                      </a:r>
                      <a:endParaRPr lang="en-US" dirty="0"/>
                    </a:p>
                    <a:p>
                      <a:pPr lvl="0" algn="l">
                        <a:lnSpc>
                          <a:spcPct val="100000"/>
                        </a:lnSpc>
                        <a:buNone/>
                      </a:pPr>
                      <a:r>
                        <a:rPr lang="en-US" sz="1000" b="0" i="0" u="none" strike="noStrike" noProof="0" dirty="0">
                          <a:ln w="3175">
                            <a:noFill/>
                          </a:ln>
                          <a:solidFill>
                            <a:srgbClr val="000000"/>
                          </a:solidFill>
                          <a:effectLst/>
                          <a:latin typeface="Calibri"/>
                          <a:ea typeface="Calibri"/>
                          <a:cs typeface="Calibri"/>
                        </a:rPr>
                        <a:t>   </a:t>
                      </a:r>
                      <a:r>
                        <a:rPr lang="en-US" sz="1000" b="0" i="0" u="none" strike="noStrike" noProof="0" dirty="0" err="1">
                          <a:ln w="3175">
                            <a:noFill/>
                          </a:ln>
                          <a:solidFill>
                            <a:srgbClr val="000000"/>
                          </a:solidFill>
                          <a:effectLst/>
                          <a:latin typeface="Calibri"/>
                          <a:ea typeface="Calibri"/>
                          <a:cs typeface="Calibri"/>
                        </a:rPr>
                        <a:t>CatBoost</a:t>
                      </a:r>
                      <a:r>
                        <a:rPr lang="en-US" sz="1000" b="0" i="0" u="none" strike="noStrike" noProof="0" dirty="0">
                          <a:ln w="3175">
                            <a:noFill/>
                          </a:ln>
                          <a:solidFill>
                            <a:srgbClr val="000000"/>
                          </a:solidFill>
                          <a:effectLst/>
                          <a:latin typeface="Calibri"/>
                          <a:ea typeface="Calibri"/>
                          <a:cs typeface="Calibri"/>
                        </a:rPr>
                        <a:t>/</a:t>
                      </a:r>
                      <a:r>
                        <a:rPr lang="en-US" sz="1000" b="0" i="0" u="none" strike="noStrike" noProof="0" dirty="0" err="1">
                          <a:ln w="3175">
                            <a:noFill/>
                          </a:ln>
                          <a:solidFill>
                            <a:srgbClr val="000000"/>
                          </a:solidFill>
                          <a:effectLst/>
                          <a:latin typeface="Calibri"/>
                          <a:ea typeface="Calibri"/>
                          <a:cs typeface="Calibri"/>
                        </a:rPr>
                        <a:t>TabNet</a:t>
                      </a:r>
                      <a:r>
                        <a:rPr lang="en-US" sz="1000" b="0" i="0" u="none" strike="noStrike" noProof="0" dirty="0">
                          <a:ln w="3175">
                            <a:noFill/>
                          </a:ln>
                          <a:solidFill>
                            <a:srgbClr val="000000"/>
                          </a:solidFill>
                          <a:effectLst/>
                          <a:latin typeface="Calibri"/>
                          <a:ea typeface="Calibri"/>
                          <a:cs typeface="Calibri"/>
                        </a:rPr>
                        <a:t>), hitting the model benchmark </a:t>
                      </a:r>
                      <a:endParaRPr lang="en-US" dirty="0"/>
                    </a:p>
                    <a:p>
                      <a:pPr lvl="0" algn="l">
                        <a:lnSpc>
                          <a:spcPct val="100000"/>
                        </a:lnSpc>
                        <a:buNone/>
                      </a:pPr>
                      <a:r>
                        <a:rPr lang="en-US" dirty="0"/>
                        <a:t>  </a:t>
                      </a:r>
                      <a:r>
                        <a:rPr lang="en-US" sz="1050"/>
                        <a:t>target</a:t>
                      </a:r>
                    </a:p>
                    <a:p>
                      <a:pPr lvl="0" algn="l">
                        <a:lnSpc>
                          <a:spcPct val="100000"/>
                        </a:lnSpc>
                        <a:buNone/>
                      </a:pPr>
                      <a:r>
                        <a:rPr lang="en-US" sz="1000" b="1" i="0" u="none" strike="noStrike" noProof="0" dirty="0">
                          <a:ln w="3175">
                            <a:noFill/>
                          </a:ln>
                          <a:solidFill>
                            <a:srgbClr val="000000"/>
                          </a:solidFill>
                          <a:effectLst/>
                          <a:latin typeface="Calibri"/>
                          <a:ea typeface="Calibri"/>
                          <a:cs typeface="Calibri"/>
                        </a:rPr>
                        <a:t>   Backend Dev</a:t>
                      </a:r>
                      <a:r>
                        <a:rPr lang="en-US" sz="1000" b="0" i="0" u="none" strike="noStrike" noProof="0" dirty="0">
                          <a:ln w="3175">
                            <a:noFill/>
                          </a:ln>
                          <a:solidFill>
                            <a:srgbClr val="000000"/>
                          </a:solidFill>
                          <a:effectLst/>
                          <a:latin typeface="Calibri"/>
                          <a:ea typeface="Calibri"/>
                          <a:cs typeface="Calibri"/>
                        </a:rPr>
                        <a:t> — </a:t>
                      </a:r>
                      <a:r>
                        <a:rPr lang="en-US" sz="1000" b="0" i="0" u="none" strike="noStrike" noProof="0" dirty="0" err="1">
                          <a:ln w="3175">
                            <a:noFill/>
                          </a:ln>
                          <a:solidFill>
                            <a:srgbClr val="000000"/>
                          </a:solidFill>
                          <a:effectLst/>
                          <a:latin typeface="Calibri"/>
                          <a:ea typeface="Calibri"/>
                          <a:cs typeface="Calibri"/>
                        </a:rPr>
                        <a:t>FastAPI</a:t>
                      </a:r>
                      <a:r>
                        <a:rPr lang="en-US" sz="1000" b="0" i="0" u="none" strike="noStrike" noProof="0" dirty="0">
                          <a:ln w="3175">
                            <a:noFill/>
                          </a:ln>
                          <a:solidFill>
                            <a:srgbClr val="000000"/>
                          </a:solidFill>
                          <a:effectLst/>
                          <a:latin typeface="Calibri"/>
                          <a:ea typeface="Calibri"/>
                          <a:cs typeface="Calibri"/>
                        </a:rPr>
                        <a:t>, agent orchestration, database</a:t>
                      </a:r>
                      <a:endParaRPr lang="en-US" dirty="0"/>
                    </a:p>
                    <a:p>
                      <a:pPr lvl="0" algn="l">
                        <a:lnSpc>
                          <a:spcPct val="100000"/>
                        </a:lnSpc>
                        <a:buNone/>
                      </a:pPr>
                      <a:r>
                        <a:rPr lang="en-US" sz="1000" b="1" i="0" u="none" strike="noStrike" noProof="0">
                          <a:ln w="3175">
                            <a:noFill/>
                          </a:ln>
                          <a:solidFill>
                            <a:srgbClr val="000000"/>
                          </a:solidFill>
                          <a:effectLst/>
                          <a:latin typeface="Calibri"/>
                          <a:ea typeface="Calibri"/>
                          <a:cs typeface="Calibri"/>
                        </a:rPr>
                        <a:t>   Frontend Dev</a:t>
                      </a:r>
                      <a:r>
                        <a:rPr lang="en-US" sz="1000" b="0" i="0" u="none" strike="noStrike" noProof="0">
                          <a:ln w="3175">
                            <a:noFill/>
                          </a:ln>
                          <a:solidFill>
                            <a:srgbClr val="000000"/>
                          </a:solidFill>
                          <a:effectLst/>
                          <a:latin typeface="Calibri"/>
                          <a:ea typeface="Calibri"/>
                          <a:cs typeface="Calibri"/>
                        </a:rPr>
                        <a:t> — dashboard &amp; what-if simulator(React/</a:t>
                      </a:r>
                      <a:r>
                        <a:rPr lang="en-US" sz="1000" b="1" i="0" u="none" strike="noStrike" noProof="0" dirty="0">
                          <a:ln w="3175">
                            <a:noFill/>
                          </a:ln>
                          <a:solidFill>
                            <a:srgbClr val="000000"/>
                          </a:solidFill>
                          <a:effectLst/>
                        </a:rPr>
                        <a:t>                                                                                                                                      </a:t>
                      </a:r>
                      <a:endParaRPr lang="en-US" dirty="0"/>
                    </a:p>
                    <a:p>
                      <a:pPr lvl="0" algn="l">
                        <a:lnSpc>
                          <a:spcPct val="100000"/>
                        </a:lnSpc>
                        <a:buNone/>
                      </a:pPr>
                      <a:r>
                        <a:rPr lang="en-US" sz="1000" b="0" i="0" u="none" strike="noStrike" noProof="0">
                          <a:ln w="3175">
                            <a:noFill/>
                          </a:ln>
                          <a:solidFill>
                            <a:srgbClr val="000000"/>
                          </a:solidFill>
                          <a:effectLst/>
                        </a:rPr>
                        <a:t>   Next.js)</a:t>
                      </a:r>
                    </a:p>
                    <a:p>
                      <a:pPr lvl="0" algn="l">
                        <a:lnSpc>
                          <a:spcPct val="100000"/>
                        </a:lnSpc>
                        <a:buNone/>
                      </a:pPr>
                      <a:r>
                        <a:rPr lang="en-US" sz="1000" b="0" i="0" u="none" strike="noStrike" noProof="0" dirty="0">
                          <a:ln w="3175">
                            <a:noFill/>
                          </a:ln>
                          <a:solidFill>
                            <a:srgbClr val="000000"/>
                          </a:solidFill>
                          <a:effectLst/>
                        </a:rPr>
                        <a:t>   </a:t>
                      </a:r>
                      <a:r>
                        <a:rPr lang="en-US" sz="1000" b="1" i="0" u="none" strike="noStrike" noProof="0">
                          <a:ln w="3175">
                            <a:noFill/>
                          </a:ln>
                          <a:solidFill>
                            <a:srgbClr val="000000"/>
                          </a:solidFill>
                          <a:effectLst/>
                          <a:latin typeface="Calibri"/>
                          <a:ea typeface="Calibri"/>
                          <a:cs typeface="Calibri"/>
                        </a:rPr>
                        <a:t>ML Engineer (SHAP / LLM)</a:t>
                      </a:r>
                      <a:r>
                        <a:rPr lang="en-US" sz="1000" b="0" i="0" u="none" strike="noStrike" noProof="0">
                          <a:ln w="3175">
                            <a:noFill/>
                          </a:ln>
                          <a:solidFill>
                            <a:srgbClr val="000000"/>
                          </a:solidFill>
                          <a:effectLst/>
                          <a:latin typeface="Calibri"/>
                          <a:ea typeface="Calibri"/>
                          <a:cs typeface="Calibri"/>
                        </a:rPr>
                        <a:t> — Runs SHAP to validate and</a:t>
                      </a:r>
                      <a:endParaRPr lang="en-US"/>
                    </a:p>
                    <a:p>
                      <a:pPr lvl="0" algn="l">
                        <a:lnSpc>
                          <a:spcPct val="100000"/>
                        </a:lnSpc>
                        <a:buNone/>
                      </a:pPr>
                      <a:r>
                        <a:rPr lang="en-US" sz="1000" b="0" i="0" u="none" strike="noStrike" noProof="0">
                          <a:ln w="3175">
                            <a:noFill/>
                          </a:ln>
                          <a:solidFill>
                            <a:srgbClr val="000000"/>
                          </a:solidFill>
                          <a:effectLst/>
                          <a:latin typeface="Calibri"/>
                          <a:ea typeface="Calibri"/>
                          <a:cs typeface="Calibri"/>
                        </a:rPr>
                        <a:t>   explain the model's predictions, builds the LLM-based </a:t>
                      </a:r>
                      <a:endParaRPr lang="en-US"/>
                    </a:p>
                    <a:p>
                      <a:pPr lvl="0" algn="l">
                        <a:lnSpc>
                          <a:spcPct val="100000"/>
                        </a:lnSpc>
                        <a:buNone/>
                      </a:pPr>
                      <a:r>
                        <a:rPr lang="en-US" sz="1000" b="0" i="0" u="none" strike="noStrike" noProof="0">
                          <a:ln w="3175">
                            <a:noFill/>
                          </a:ln>
                          <a:solidFill>
                            <a:srgbClr val="000000"/>
                          </a:solidFill>
                          <a:effectLst/>
                          <a:latin typeface="Calibri"/>
                          <a:ea typeface="Calibri"/>
                          <a:cs typeface="Calibri"/>
                        </a:rPr>
                        <a:t>    outreach-email generation module</a:t>
                      </a:r>
                      <a:endParaRPr lang="en-US"/>
                    </a:p>
                    <a:p>
                      <a:pPr lvl="0" algn="l">
                        <a:lnSpc>
                          <a:spcPct val="100000"/>
                        </a:lnSpc>
                        <a:buNone/>
                      </a:pPr>
                      <a:r>
                        <a:rPr lang="en-US" sz="1000" b="1" i="0" u="none" strike="noStrike" noProof="0" dirty="0">
                          <a:ln w="3175">
                            <a:noFill/>
                          </a:ln>
                          <a:solidFill>
                            <a:srgbClr val="000000"/>
                          </a:solidFill>
                          <a:effectLst/>
                        </a:rPr>
                        <a:t>                                                                                                                                                                                                                                                              </a:t>
                      </a: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vMerge="1">
                  <a:txBody>
                    <a:bodyPr/>
                    <a:lstStyle/>
                    <a:p>
                      <a:pPr algn="l" fontAlgn="b"/>
                      <a:endParaRPr lang="en-US" sz="1000" b="0" i="0" u="none" strike="noStrike">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45395119"/>
                  </a:ext>
                </a:extLst>
              </a:tr>
              <a:tr h="935971">
                <a:tc>
                  <a:txBody>
                    <a:bodyPr/>
                    <a:lstStyle/>
                    <a:p>
                      <a:pPr marL="91440" algn="l" fontAlgn="b">
                        <a:lnSpc>
                          <a:spcPct val="100000"/>
                        </a:lnSpc>
                      </a:pPr>
                      <a:r>
                        <a:rPr lang="en-US" sz="1000" b="0" u="none" strike="noStrike">
                          <a:ln w="3175">
                            <a:noFill/>
                          </a:ln>
                          <a:solidFill>
                            <a:srgbClr val="000000"/>
                          </a:solidFill>
                          <a:effectLst/>
                        </a:rPr>
                        <a:t>Innovation</a:t>
                      </a:r>
                      <a:endParaRPr lang="en-US" sz="1000" b="0" i="0" u="none" strike="noStrike">
                        <a:ln w="3175">
                          <a:noFill/>
                        </a:ln>
                        <a:solidFill>
                          <a:srgbClr val="000000"/>
                        </a:solidFill>
                        <a:effectLst/>
                        <a:latin typeface="Calibri"/>
                        <a:cs typeface="Calibri"/>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gridSpan="2">
                  <a:txBody>
                    <a:bodyPr/>
                    <a:lstStyle/>
                    <a:p>
                      <a:pPr marL="91440" algn="l" fontAlgn="b">
                        <a:lnSpc>
                          <a:spcPct val="100000"/>
                        </a:lnSpc>
                      </a:pPr>
                      <a:r>
                        <a:rPr lang="en-US" sz="1000" b="0" u="none" strike="noStrike">
                          <a:ln w="3175">
                            <a:noFill/>
                          </a:ln>
                          <a:solidFill>
                            <a:srgbClr val="000000"/>
                          </a:solidFill>
                          <a:effectLst/>
                        </a:rPr>
                        <a:t>Does the solution offer a novel approach to the problem statement, challenge the status-quo? Substantiate.</a:t>
                      </a:r>
                      <a:endParaRPr lang="en-US" sz="1000" b="0" i="0" u="none" strike="noStrike">
                        <a:ln w="3175">
                          <a:noFill/>
                        </a:ln>
                        <a:solidFill>
                          <a:srgbClr val="000000"/>
                        </a:solidFill>
                        <a:effectLst/>
                        <a:latin typeface="Calibri"/>
                        <a:cs typeface="Calibri"/>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hMerge="1">
                  <a:txBody>
                    <a:bodyPr/>
                    <a:lstStyle/>
                    <a:p>
                      <a:pPr marL="91440" algn="l" fontAlgn="b">
                        <a:lnSpc>
                          <a:spcPct val="100000"/>
                        </a:lnSpc>
                      </a:pPr>
                      <a:endParaRPr lang="en-US" sz="1000" b="0" i="0" u="none" strike="noStrike">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a:txBody>
                    <a:bodyPr/>
                    <a:lstStyle/>
                    <a:p>
                      <a:pPr lvl="0" algn="l">
                        <a:lnSpc>
                          <a:spcPct val="100000"/>
                        </a:lnSpc>
                        <a:buNone/>
                      </a:pPr>
                      <a:r>
                        <a:rPr lang="en-US" sz="1000" b="0" i="0" u="none" strike="noStrike" noProof="0" dirty="0">
                          <a:ln w="3175">
                            <a:noFill/>
                          </a:ln>
                          <a:solidFill>
                            <a:srgbClr val="000000"/>
                          </a:solidFill>
                          <a:effectLst/>
                        </a:rPr>
                        <a:t>   Most churn tools </a:t>
                      </a:r>
                      <a:r>
                        <a:rPr lang="en-US" sz="1000" b="1" i="0" u="none" strike="noStrike" noProof="0" dirty="0">
                          <a:ln w="3175">
                            <a:noFill/>
                          </a:ln>
                          <a:solidFill>
                            <a:srgbClr val="000000"/>
                          </a:solidFill>
                          <a:effectLst/>
                        </a:rPr>
                        <a:t>predict only</a:t>
                      </a:r>
                      <a:r>
                        <a:rPr lang="en-US" sz="1000" b="0" i="0" u="none" strike="noStrike" noProof="0" dirty="0">
                          <a:ln w="3175">
                            <a:noFill/>
                          </a:ln>
                          <a:solidFill>
                            <a:srgbClr val="000000"/>
                          </a:solidFill>
                          <a:effectLst/>
                        </a:rPr>
                        <a:t> ,teams still have to guess why and what to do next.</a:t>
                      </a:r>
                    </a:p>
                    <a:p>
                      <a:pPr lvl="0" algn="l">
                        <a:lnSpc>
                          <a:spcPct val="100000"/>
                        </a:lnSpc>
                        <a:buNone/>
                      </a:pPr>
                      <a:r>
                        <a:rPr lang="en-US" sz="1000" b="1" i="0" u="none" strike="noStrike" noProof="0" dirty="0">
                          <a:ln w="3175">
                            <a:noFill/>
                          </a:ln>
                          <a:solidFill>
                            <a:srgbClr val="000000"/>
                          </a:solidFill>
                          <a:effectLst/>
                          <a:latin typeface="Calibri"/>
                          <a:ea typeface="Calibri"/>
                          <a:cs typeface="Calibri"/>
                        </a:rPr>
                        <a:t>   </a:t>
                      </a:r>
                      <a:r>
                        <a:rPr lang="en-US" sz="1000" b="1" i="0" u="none" strike="noStrike" noProof="0" dirty="0" err="1">
                          <a:ln w="3175">
                            <a:noFill/>
                          </a:ln>
                          <a:solidFill>
                            <a:srgbClr val="000000"/>
                          </a:solidFill>
                          <a:effectLst/>
                          <a:latin typeface="Calibri"/>
                          <a:ea typeface="Calibri"/>
                          <a:cs typeface="Calibri"/>
                        </a:rPr>
                        <a:t>ChurnGuard</a:t>
                      </a:r>
                      <a:r>
                        <a:rPr lang="en-US" sz="1000" b="1" i="0" u="none" strike="noStrike" noProof="0" dirty="0">
                          <a:ln w="3175">
                            <a:noFill/>
                          </a:ln>
                          <a:solidFill>
                            <a:srgbClr val="000000"/>
                          </a:solidFill>
                          <a:effectLst/>
                          <a:latin typeface="Calibri"/>
                          <a:ea typeface="Calibri"/>
                          <a:cs typeface="Calibri"/>
                        </a:rPr>
                        <a:t> closes the loop:</a:t>
                      </a:r>
                      <a:r>
                        <a:rPr lang="en-US" sz="1000" b="0" i="0" u="none" strike="noStrike" noProof="0" dirty="0">
                          <a:ln w="3175">
                            <a:noFill/>
                          </a:ln>
                          <a:solidFill>
                            <a:srgbClr val="000000"/>
                          </a:solidFill>
                          <a:effectLst/>
                          <a:latin typeface="Calibri"/>
                          <a:ea typeface="Calibri"/>
                          <a:cs typeface="Calibri"/>
                        </a:rPr>
                        <a:t> Predict + Explain (</a:t>
                      </a:r>
                      <a:r>
                        <a:rPr lang="en-US" sz="1000" b="1" i="0" u="none" strike="noStrike" noProof="0" dirty="0">
                          <a:ln w="3175">
                            <a:noFill/>
                          </a:ln>
                          <a:solidFill>
                            <a:srgbClr val="000000"/>
                          </a:solidFill>
                          <a:effectLst/>
                          <a:latin typeface="Calibri"/>
                          <a:ea typeface="Calibri"/>
                          <a:cs typeface="Calibri"/>
                        </a:rPr>
                        <a:t>SHAP</a:t>
                      </a:r>
                      <a:r>
                        <a:rPr lang="en-US" sz="1000" b="0" i="0" u="none" strike="noStrike" noProof="0" dirty="0">
                          <a:ln w="3175">
                            <a:noFill/>
                          </a:ln>
                          <a:solidFill>
                            <a:srgbClr val="000000"/>
                          </a:solidFill>
                          <a:effectLst/>
                          <a:latin typeface="Calibri"/>
                          <a:ea typeface="Calibri"/>
                          <a:cs typeface="Calibri"/>
                        </a:rPr>
                        <a:t>) + Act (LLM-drafted outreach) — one pipeline from signal to action.</a:t>
                      </a:r>
                      <a:endParaRPr lang="en-US" dirty="0"/>
                    </a:p>
                    <a:p>
                      <a:pPr lvl="0" algn="l">
                        <a:lnSpc>
                          <a:spcPct val="100000"/>
                        </a:lnSpc>
                        <a:buNone/>
                      </a:pPr>
                      <a:r>
                        <a:rPr lang="en-US" sz="1000" b="0" i="0" u="none" strike="noStrike" noProof="0" dirty="0">
                          <a:ln w="3175">
                            <a:noFill/>
                          </a:ln>
                          <a:solidFill>
                            <a:srgbClr val="000000"/>
                          </a:solidFill>
                          <a:effectLst/>
                        </a:rPr>
                        <a:t>   </a:t>
                      </a:r>
                      <a:r>
                        <a:rPr lang="en-US" sz="1000" b="1" i="0" u="none" strike="noStrike" noProof="0" dirty="0">
                          <a:ln w="3175">
                            <a:noFill/>
                          </a:ln>
                          <a:solidFill>
                            <a:srgbClr val="000000"/>
                          </a:solidFill>
                          <a:effectLst/>
                          <a:latin typeface="Calibri"/>
                          <a:ea typeface="Calibri"/>
                          <a:cs typeface="Calibri"/>
                        </a:rPr>
                        <a:t>Multi-agent orchestration (</a:t>
                      </a:r>
                      <a:r>
                        <a:rPr lang="en-US" sz="1000" b="1" i="0" u="none" strike="noStrike" noProof="0" dirty="0" err="1">
                          <a:ln w="3175">
                            <a:noFill/>
                          </a:ln>
                          <a:solidFill>
                            <a:srgbClr val="000000"/>
                          </a:solidFill>
                          <a:effectLst/>
                          <a:latin typeface="Calibri"/>
                          <a:ea typeface="Calibri"/>
                          <a:cs typeface="Calibri"/>
                        </a:rPr>
                        <a:t>LangGraph</a:t>
                      </a:r>
                      <a:r>
                        <a:rPr lang="en-US" sz="1000" b="1" i="0" u="none" strike="noStrike" noProof="0" dirty="0">
                          <a:ln w="3175">
                            <a:noFill/>
                          </a:ln>
                          <a:solidFill>
                            <a:srgbClr val="000000"/>
                          </a:solidFill>
                          <a:effectLst/>
                          <a:latin typeface="Calibri"/>
                          <a:ea typeface="Calibri"/>
                          <a:cs typeface="Calibri"/>
                        </a:rPr>
                        <a:t>)</a:t>
                      </a:r>
                      <a:r>
                        <a:rPr lang="en-US" sz="1000" b="0" i="0" u="none" strike="noStrike" noProof="0" dirty="0">
                          <a:ln w="3175">
                            <a:noFill/>
                          </a:ln>
                          <a:solidFill>
                            <a:srgbClr val="000000"/>
                          </a:solidFill>
                          <a:effectLst/>
                          <a:latin typeface="Calibri"/>
                          <a:ea typeface="Calibri"/>
                          <a:cs typeface="Calibri"/>
                        </a:rPr>
                        <a:t> — treats churn management as a coordinated workflow of specialized agents, not a single script, making</a:t>
                      </a:r>
                    </a:p>
                    <a:p>
                      <a:pPr lvl="0" algn="l">
                        <a:lnSpc>
                          <a:spcPct val="100000"/>
                        </a:lnSpc>
                        <a:buNone/>
                      </a:pPr>
                      <a:r>
                        <a:rPr lang="en-US" sz="1000" b="0" i="0" u="none" strike="noStrike" noProof="0">
                          <a:ln w="3175">
                            <a:noFill/>
                          </a:ln>
                          <a:solidFill>
                            <a:srgbClr val="000000"/>
                          </a:solidFill>
                          <a:effectLst/>
                          <a:latin typeface="Calibri"/>
                          <a:ea typeface="Calibri"/>
                          <a:cs typeface="Calibri"/>
                        </a:rPr>
                        <a:t>   the system modular and extensible (e.g., adding a "Retention-Offer Agent" later is trivial)</a:t>
                      </a:r>
                    </a:p>
                    <a:p>
                      <a:pPr lvl="0" algn="l">
                        <a:lnSpc>
                          <a:spcPct val="100000"/>
                        </a:lnSpc>
                        <a:buNone/>
                      </a:pPr>
                      <a:r>
                        <a:rPr lang="en-US" sz="1000" b="1" i="0" u="none" strike="noStrike" noProof="0">
                          <a:ln w="3175">
                            <a:noFill/>
                          </a:ln>
                          <a:solidFill>
                            <a:srgbClr val="000000"/>
                          </a:solidFill>
                          <a:effectLst/>
                        </a:rPr>
                        <a:t>   What-if simulator</a:t>
                      </a:r>
                      <a:r>
                        <a:rPr lang="en-US" sz="1000" b="0" i="0" u="none" strike="noStrike" noProof="0">
                          <a:ln w="3175">
                            <a:noFill/>
                          </a:ln>
                          <a:solidFill>
                            <a:srgbClr val="000000"/>
                          </a:solidFill>
                          <a:effectLst/>
                        </a:rPr>
                        <a:t> — lets CS teams test hypothetical interventions ("what if usage improved by X%") before committing resources, turning a </a:t>
                      </a:r>
                      <a:endParaRPr lang="en-US" sz="1000" b="1" i="0" u="none" strike="noStrike" noProof="0">
                        <a:ln w="3175">
                          <a:noFill/>
                        </a:ln>
                        <a:solidFill>
                          <a:srgbClr val="000000"/>
                        </a:solidFill>
                        <a:effectLst/>
                      </a:endParaRPr>
                    </a:p>
                    <a:p>
                      <a:pPr lvl="0" algn="l">
                        <a:lnSpc>
                          <a:spcPct val="100000"/>
                        </a:lnSpc>
                        <a:buNone/>
                      </a:pPr>
                      <a:r>
                        <a:rPr lang="en-US" sz="1000" b="0" i="0" u="none" strike="noStrike" noProof="0">
                          <a:ln w="3175">
                            <a:noFill/>
                          </a:ln>
                          <a:solidFill>
                            <a:srgbClr val="000000"/>
                          </a:solidFill>
                          <a:effectLst/>
                        </a:rPr>
                        <a:t>   r</a:t>
                      </a:r>
                      <a:r>
                        <a:rPr lang="en-US" sz="1000" b="0" i="0" u="none" strike="noStrike" noProof="0">
                          <a:ln w="3175">
                            <a:noFill/>
                          </a:ln>
                          <a:solidFill>
                            <a:srgbClr val="000000"/>
                          </a:solidFill>
                          <a:effectLst/>
                          <a:latin typeface="Calibri"/>
                          <a:ea typeface="Calibri"/>
                          <a:cs typeface="Calibri"/>
                        </a:rPr>
                        <a:t>eactive tool into a </a:t>
                      </a:r>
                      <a:r>
                        <a:rPr lang="en-US" sz="1000" b="1" i="0" u="none" strike="noStrike" noProof="0">
                          <a:ln w="3175">
                            <a:noFill/>
                          </a:ln>
                          <a:solidFill>
                            <a:srgbClr val="000000"/>
                          </a:solidFill>
                          <a:effectLst/>
                          <a:latin typeface="Calibri"/>
                          <a:ea typeface="Calibri"/>
                          <a:cs typeface="Calibri"/>
                        </a:rPr>
                        <a:t>decision-support system</a:t>
                      </a: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vMerge="1">
                  <a:txBody>
                    <a:bodyPr/>
                    <a:lstStyle/>
                    <a:p>
                      <a:pPr algn="l" fontAlgn="b"/>
                      <a:endParaRPr lang="en-US" sz="1000" b="0" i="0" u="none" strike="noStrike">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21161918"/>
                  </a:ext>
                </a:extLst>
              </a:tr>
            </a:tbl>
          </a:graphicData>
        </a:graphic>
      </p:graphicFrame>
      <p:sp>
        <p:nvSpPr>
          <p:cNvPr id="26" name="Title 2">
            <a:extLst>
              <a:ext uri="{FF2B5EF4-FFF2-40B4-BE49-F238E27FC236}">
                <a16:creationId xmlns:a16="http://schemas.microsoft.com/office/drawing/2014/main" id="{5A2773DE-D359-27CA-7063-A19370290EE9}"/>
              </a:ext>
            </a:extLst>
          </p:cNvPr>
          <p:cNvSpPr txBox="1">
            <a:spLocks/>
          </p:cNvSpPr>
          <p:nvPr/>
        </p:nvSpPr>
        <p:spPr bwMode="gray">
          <a:xfrm>
            <a:off x="3702281" y="0"/>
            <a:ext cx="4787438" cy="342000"/>
          </a:xfrm>
          <a:prstGeom prst="rect">
            <a:avLst/>
          </a:prstGeom>
        </p:spPr>
        <p:txBody>
          <a:bodyPr vert="horz" lIns="0" tIns="0" rIns="0" bIns="0" rtlCol="0" anchor="b" anchorCtr="0">
            <a:noAutofit/>
          </a:bodyPr>
          <a:lstStyle>
            <a:lvl1pPr algn="l" defTabSz="685800" rtl="0" eaLnBrk="1" latinLnBrk="0" hangingPunct="1">
              <a:lnSpc>
                <a:spcPts val="3200"/>
              </a:lnSpc>
              <a:spcBef>
                <a:spcPct val="0"/>
              </a:spcBef>
              <a:buNone/>
              <a:defRPr sz="3200" b="0" kern="1200">
                <a:solidFill>
                  <a:schemeClr val="accent3"/>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sz="1800"/>
              <a:t>Capstone Use Case – Student Response Template</a:t>
            </a:r>
          </a:p>
        </p:txBody>
      </p:sp>
      <p:sp>
        <p:nvSpPr>
          <p:cNvPr id="27" name="Text Placeholder 2">
            <a:extLst>
              <a:ext uri="{FF2B5EF4-FFF2-40B4-BE49-F238E27FC236}">
                <a16:creationId xmlns:a16="http://schemas.microsoft.com/office/drawing/2014/main" id="{745688FF-220F-6E5A-C16D-760C13305834}"/>
              </a:ext>
            </a:extLst>
          </p:cNvPr>
          <p:cNvSpPr txBox="1">
            <a:spLocks/>
          </p:cNvSpPr>
          <p:nvPr/>
        </p:nvSpPr>
        <p:spPr>
          <a:xfrm>
            <a:off x="9519914" y="6679986"/>
            <a:ext cx="2327624" cy="135779"/>
          </a:xfrm>
          <a:prstGeom prst="rect">
            <a:avLst/>
          </a:prstGeom>
        </p:spPr>
        <p:txBody>
          <a:bodyPr vert="horz" lIns="0" tIns="0" rIns="0" bIns="0" rtlCol="0" anchor="ctr">
            <a:noAutofit/>
          </a:bodyPr>
          <a:lstStyle>
            <a:lvl1pPr marL="0" indent="0" algn="l" defTabSz="685800" rtl="0" eaLnBrk="1" latinLnBrk="0" hangingPunct="1">
              <a:lnSpc>
                <a:spcPct val="100000"/>
              </a:lnSpc>
              <a:spcBef>
                <a:spcPts val="200"/>
              </a:spcBef>
              <a:spcAft>
                <a:spcPts val="0"/>
              </a:spcAft>
              <a:buSzPct val="100000"/>
              <a:buFontTx/>
              <a:buNone/>
              <a:defRPr sz="1400" b="1" kern="1200">
                <a:solidFill>
                  <a:schemeClr val="tx1"/>
                </a:solidFill>
                <a:latin typeface="Calibri" panose="020F0502020204030204" pitchFamily="34" charset="0"/>
                <a:ea typeface="+mn-ea"/>
                <a:cs typeface="Calibri" panose="020F05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a:solidFill>
                  <a:schemeClr val="bg1"/>
                </a:solidFill>
                <a:latin typeface="+mj-lt"/>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a:solidFill>
                  <a:schemeClr val="bg1"/>
                </a:solidFill>
                <a:latin typeface="+mn-lt"/>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a:solidFill>
                  <a:schemeClr val="bg1"/>
                </a:solidFill>
                <a:latin typeface="+mn-lt"/>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a:solidFill>
                  <a:schemeClr val="bg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r>
              <a:rPr lang="en-US" sz="800" b="0">
                <a:ea typeface="Calibri" panose="020F0502020204030204" pitchFamily="34" charset="0"/>
              </a:rPr>
              <a:t>Capstone Program 2026 – Student Response Template</a:t>
            </a:r>
          </a:p>
        </p:txBody>
      </p:sp>
      <p:graphicFrame>
        <p:nvGraphicFramePr>
          <p:cNvPr id="13" name="Table 12">
            <a:extLst>
              <a:ext uri="{FF2B5EF4-FFF2-40B4-BE49-F238E27FC236}">
                <a16:creationId xmlns:a16="http://schemas.microsoft.com/office/drawing/2014/main" id="{62034565-2ACE-3A6F-73B9-5AB81ED1177C}"/>
              </a:ext>
            </a:extLst>
          </p:cNvPr>
          <p:cNvGraphicFramePr>
            <a:graphicFrameLocks noGrp="1"/>
          </p:cNvGraphicFramePr>
          <p:nvPr>
            <p:extLst>
              <p:ext uri="{D42A27DB-BD31-4B8C-83A1-F6EECF244321}">
                <p14:modId xmlns:p14="http://schemas.microsoft.com/office/powerpoint/2010/main" val="971905668"/>
              </p:ext>
            </p:extLst>
          </p:nvPr>
        </p:nvGraphicFramePr>
        <p:xfrm>
          <a:off x="6696111" y="4124289"/>
          <a:ext cx="4638036" cy="1402080"/>
        </p:xfrm>
        <a:graphic>
          <a:graphicData uri="http://schemas.openxmlformats.org/drawingml/2006/table">
            <a:tbl>
              <a:tblPr firstRow="1" bandRow="1">
                <a:tableStyleId>{5C22544A-7EE6-4342-B048-85BDC9FD1C3A}</a:tableStyleId>
              </a:tblPr>
              <a:tblGrid>
                <a:gridCol w="1892298">
                  <a:extLst>
                    <a:ext uri="{9D8B030D-6E8A-4147-A177-3AD203B41FA5}">
                      <a16:colId xmlns:a16="http://schemas.microsoft.com/office/drawing/2014/main" val="3316180277"/>
                    </a:ext>
                  </a:extLst>
                </a:gridCol>
                <a:gridCol w="761999">
                  <a:extLst>
                    <a:ext uri="{9D8B030D-6E8A-4147-A177-3AD203B41FA5}">
                      <a16:colId xmlns:a16="http://schemas.microsoft.com/office/drawing/2014/main" val="460062020"/>
                    </a:ext>
                  </a:extLst>
                </a:gridCol>
                <a:gridCol w="1983739">
                  <a:extLst>
                    <a:ext uri="{9D8B030D-6E8A-4147-A177-3AD203B41FA5}">
                      <a16:colId xmlns:a16="http://schemas.microsoft.com/office/drawing/2014/main" val="2653187578"/>
                    </a:ext>
                  </a:extLst>
                </a:gridCol>
              </a:tblGrid>
              <a:tr h="233552">
                <a:tc>
                  <a:txBody>
                    <a:bodyPr/>
                    <a:lstStyle/>
                    <a:p>
                      <a:r>
                        <a:rPr lang="en-US" sz="1000"/>
                        <a:t>Phase</a:t>
                      </a:r>
                    </a:p>
                  </a:txBody>
                  <a:tcPr/>
                </a:tc>
                <a:tc>
                  <a:txBody>
                    <a:bodyPr/>
                    <a:lstStyle/>
                    <a:p>
                      <a:pPr lvl="0">
                        <a:buNone/>
                      </a:pPr>
                      <a:r>
                        <a:rPr lang="en-US" sz="1000" b="0" i="0" u="none" strike="noStrike" noProof="0">
                          <a:latin typeface="Calibri"/>
                          <a:ea typeface="Calibri"/>
                          <a:cs typeface="Calibri"/>
                        </a:rPr>
                        <a:t>Timeline</a:t>
                      </a:r>
                      <a:endParaRPr lang="en-US" sz="1000"/>
                    </a:p>
                  </a:txBody>
                  <a:tcPr/>
                </a:tc>
                <a:tc>
                  <a:txBody>
                    <a:bodyPr/>
                    <a:lstStyle/>
                    <a:p>
                      <a:pPr lvl="0">
                        <a:buNone/>
                      </a:pPr>
                      <a:r>
                        <a:rPr lang="en-US" sz="1000" b="0" i="0" u="none" strike="noStrike" noProof="0">
                          <a:latin typeface="Calibri"/>
                          <a:ea typeface="Calibri"/>
                          <a:cs typeface="Calibri"/>
                        </a:rPr>
                        <a:t>Deliverable</a:t>
                      </a:r>
                      <a:endParaRPr lang="en-US" sz="1000"/>
                    </a:p>
                  </a:txBody>
                  <a:tcPr/>
                </a:tc>
                <a:extLst>
                  <a:ext uri="{0D108BD9-81ED-4DB2-BD59-A6C34878D82A}">
                    <a16:rowId xmlns:a16="http://schemas.microsoft.com/office/drawing/2014/main" val="2284211605"/>
                  </a:ext>
                </a:extLst>
              </a:tr>
              <a:tr h="909625">
                <a:tc>
                  <a:txBody>
                    <a:bodyPr/>
                    <a:lstStyle/>
                    <a:p>
                      <a:pPr lvl="0">
                        <a:buNone/>
                      </a:pPr>
                      <a:r>
                        <a:rPr lang="en-US" sz="800" b="0" i="0" u="none" strike="noStrike" noProof="0">
                          <a:latin typeface="Calibri"/>
                          <a:ea typeface="Calibri"/>
                          <a:cs typeface="Calibri"/>
                        </a:rPr>
                        <a:t>Data collection &amp; preprocessing</a:t>
                      </a:r>
                      <a:endParaRPr lang="en-US" sz="800"/>
                    </a:p>
                    <a:p>
                      <a:pPr lvl="0">
                        <a:buNone/>
                      </a:pPr>
                      <a:r>
                        <a:rPr lang="en-US" sz="800" b="0" i="0" u="none" strike="noStrike" noProof="0" dirty="0" err="1"/>
                        <a:t>Models</a:t>
                      </a:r>
                      <a:r>
                        <a:rPr lang="en-US" sz="800" b="0" i="0" u="none" strike="noStrike" noProof="0" dirty="0"/>
                        <a:t> development </a:t>
                      </a:r>
                      <a:endParaRPr lang="en-US" sz="800" b="1" i="0" u="none" strike="noStrike" noProof="0" dirty="0"/>
                    </a:p>
                    <a:p>
                      <a:pPr lvl="0">
                        <a:buNone/>
                      </a:pPr>
                      <a:endParaRPr lang="en-US" sz="800" b="1" i="0" u="none" strike="noStrike" noProof="0" dirty="0"/>
                    </a:p>
                    <a:p>
                      <a:pPr lvl="0">
                        <a:buNone/>
                      </a:pPr>
                      <a:r>
                        <a:rPr lang="en-US" sz="800" b="0" i="0" u="none" strike="noStrike" noProof="0">
                          <a:latin typeface="Calibri"/>
                          <a:ea typeface="Calibri"/>
                          <a:cs typeface="Calibri"/>
                        </a:rPr>
                        <a:t>Explainability (</a:t>
                      </a:r>
                      <a:r>
                        <a:rPr lang="en-US" sz="800" b="1" i="0" u="none" strike="noStrike" noProof="0">
                          <a:latin typeface="Calibri"/>
                          <a:ea typeface="Calibri"/>
                          <a:cs typeface="Calibri"/>
                        </a:rPr>
                        <a:t>SHAP</a:t>
                      </a:r>
                      <a:r>
                        <a:rPr lang="en-US" sz="800" b="0" i="0" u="none" strike="noStrike" noProof="0">
                          <a:latin typeface="Calibri"/>
                          <a:ea typeface="Calibri"/>
                          <a:cs typeface="Calibri"/>
                        </a:rPr>
                        <a:t>)</a:t>
                      </a:r>
                      <a:endParaRPr lang="en-US" sz="800"/>
                    </a:p>
                    <a:p>
                      <a:pPr lvl="0">
                        <a:buNone/>
                      </a:pPr>
                      <a:r>
                        <a:rPr lang="en-US" sz="800" b="0" i="0" u="none" strike="noStrike" noProof="0" dirty="0">
                          <a:latin typeface="Calibri"/>
                          <a:ea typeface="Calibri"/>
                          <a:cs typeface="Calibri"/>
                        </a:rPr>
                        <a:t>Agentic layer (</a:t>
                      </a:r>
                      <a:r>
                        <a:rPr lang="en-US" sz="800" b="1" i="0" u="none" strike="noStrike" noProof="0" dirty="0" err="1">
                          <a:latin typeface="Calibri"/>
                          <a:ea typeface="Calibri"/>
                          <a:cs typeface="Calibri"/>
                        </a:rPr>
                        <a:t>LangChain</a:t>
                      </a:r>
                      <a:r>
                        <a:rPr lang="en-US" sz="800" b="1" i="0" u="none" strike="noStrike" noProof="0" dirty="0">
                          <a:latin typeface="Calibri"/>
                          <a:ea typeface="Calibri"/>
                          <a:cs typeface="Calibri"/>
                        </a:rPr>
                        <a:t>/</a:t>
                      </a:r>
                      <a:r>
                        <a:rPr lang="en-US" sz="800" b="1" i="0" u="none" strike="noStrike" noProof="0" dirty="0" err="1">
                          <a:latin typeface="Calibri"/>
                          <a:ea typeface="Calibri"/>
                          <a:cs typeface="Calibri"/>
                        </a:rPr>
                        <a:t>LangGraph</a:t>
                      </a:r>
                      <a:r>
                        <a:rPr lang="en-US" sz="800" b="0" i="0" u="none" strike="noStrike" noProof="0" dirty="0">
                          <a:latin typeface="Calibri"/>
                          <a:ea typeface="Calibri"/>
                          <a:cs typeface="Calibri"/>
                        </a:rPr>
                        <a:t>)</a:t>
                      </a:r>
                    </a:p>
                    <a:p>
                      <a:pPr lvl="0">
                        <a:buNone/>
                      </a:pPr>
                      <a:endParaRPr lang="en-US" sz="800" b="0" i="0" u="none" strike="noStrike" noProof="0" dirty="0">
                        <a:latin typeface="Calibri"/>
                        <a:ea typeface="Calibri"/>
                        <a:cs typeface="Calibri"/>
                      </a:endParaRPr>
                    </a:p>
                    <a:p>
                      <a:pPr lvl="0">
                        <a:buNone/>
                      </a:pPr>
                      <a:r>
                        <a:rPr lang="en-US" sz="800" b="0" i="0" u="none" strike="noStrike" noProof="0" dirty="0"/>
                        <a:t>Backend + Dashboard (</a:t>
                      </a:r>
                      <a:r>
                        <a:rPr lang="en-US" sz="800" b="1" i="0" u="none" strike="noStrike" noProof="0" dirty="0" err="1"/>
                        <a:t>FastAPI</a:t>
                      </a:r>
                      <a:r>
                        <a:rPr lang="en-US" sz="800" b="1" i="0" u="none" strike="noStrike" noProof="0" dirty="0"/>
                        <a:t>, Next.js</a:t>
                      </a:r>
                      <a:r>
                        <a:rPr lang="en-US" sz="800" b="0" i="0" u="none" strike="noStrike" noProof="0" dirty="0"/>
                        <a:t>)</a:t>
                      </a:r>
                    </a:p>
                    <a:p>
                      <a:pPr lvl="0">
                        <a:buNone/>
                      </a:pPr>
                      <a:r>
                        <a:rPr lang="en-US" sz="800" b="0" i="0" u="none" strike="noStrike" noProof="0">
                          <a:latin typeface="Calibri"/>
                          <a:ea typeface="Calibri"/>
                          <a:cs typeface="Calibri"/>
                        </a:rPr>
                        <a:t>Pilot testing &amp; feedback</a:t>
                      </a:r>
                      <a:endParaRPr lang="en-US" sz="800"/>
                    </a:p>
                  </a:txBody>
                  <a:tcPr/>
                </a:tc>
                <a:tc>
                  <a:txBody>
                    <a:bodyPr/>
                    <a:lstStyle/>
                    <a:p>
                      <a:pPr lvl="0">
                        <a:buNone/>
                      </a:pPr>
                      <a:r>
                        <a:rPr lang="en-US" sz="1000" b="0" i="0" u="none" strike="noStrike" noProof="0">
                          <a:latin typeface="Calibri"/>
                          <a:ea typeface="Calibri"/>
                          <a:cs typeface="Calibri"/>
                        </a:rPr>
                        <a:t>Week 1</a:t>
                      </a:r>
                    </a:p>
                    <a:p>
                      <a:pPr lvl="0">
                        <a:buNone/>
                      </a:pPr>
                      <a:endParaRPr lang="en-US" sz="800" b="0" i="0" u="none" strike="noStrike" noProof="0" dirty="0">
                        <a:latin typeface="Calibri"/>
                        <a:ea typeface="Calibri"/>
                        <a:cs typeface="Calibri"/>
                      </a:endParaRPr>
                    </a:p>
                    <a:p>
                      <a:pPr lvl="0">
                        <a:buNone/>
                      </a:pPr>
                      <a:endParaRPr lang="en-US" sz="800" b="0" i="0" u="none" strike="noStrike" noProof="0" dirty="0">
                        <a:latin typeface="Calibri"/>
                        <a:ea typeface="Calibri"/>
                        <a:cs typeface="Calibri"/>
                      </a:endParaRPr>
                    </a:p>
                    <a:p>
                      <a:pPr lvl="0">
                        <a:buNone/>
                      </a:pPr>
                      <a:r>
                        <a:rPr lang="en-US" sz="1000" b="0" i="0" u="none" strike="noStrike" noProof="0">
                          <a:latin typeface="Calibri"/>
                          <a:ea typeface="Calibri"/>
                          <a:cs typeface="Calibri"/>
                        </a:rPr>
                        <a:t>Week 2</a:t>
                      </a:r>
                    </a:p>
                    <a:p>
                      <a:pPr lvl="0">
                        <a:buNone/>
                      </a:pPr>
                      <a:endParaRPr lang="en-US" sz="800" b="0" i="0" u="none" strike="noStrike" noProof="0" dirty="0">
                        <a:latin typeface="Calibri"/>
                        <a:ea typeface="Calibri"/>
                        <a:cs typeface="Calibri"/>
                      </a:endParaRPr>
                    </a:p>
                    <a:p>
                      <a:pPr lvl="0">
                        <a:buNone/>
                      </a:pPr>
                      <a:endParaRPr lang="en-US" sz="800" b="0" i="0" u="none" strike="noStrike" noProof="0" dirty="0">
                        <a:latin typeface="Calibri"/>
                        <a:ea typeface="Calibri"/>
                        <a:cs typeface="Calibri"/>
                      </a:endParaRPr>
                    </a:p>
                    <a:p>
                      <a:pPr lvl="0">
                        <a:buNone/>
                      </a:pPr>
                      <a:r>
                        <a:rPr lang="en-US" sz="1000" b="0" i="0" u="none" strike="noStrike" noProof="0">
                          <a:latin typeface="Calibri"/>
                          <a:ea typeface="Calibri"/>
                          <a:cs typeface="Calibri"/>
                        </a:rPr>
                        <a:t>Week 3</a:t>
                      </a:r>
                    </a:p>
                    <a:p>
                      <a:pPr lvl="0">
                        <a:buNone/>
                      </a:pPr>
                      <a:endParaRPr lang="en-US" sz="800" b="0" i="0" u="none" strike="noStrike" noProof="0" dirty="0">
                        <a:latin typeface="Calibri"/>
                        <a:ea typeface="Calibri"/>
                        <a:cs typeface="Calibri"/>
                      </a:endParaRPr>
                    </a:p>
                  </a:txBody>
                  <a:tcPr/>
                </a:tc>
                <a:tc>
                  <a:txBody>
                    <a:bodyPr/>
                    <a:lstStyle/>
                    <a:p>
                      <a:pPr lvl="0">
                        <a:buNone/>
                      </a:pPr>
                      <a:r>
                        <a:rPr lang="en-US" sz="800" b="0" i="0" u="none" strike="noStrike" noProof="0">
                          <a:latin typeface="Calibri"/>
                          <a:ea typeface="Calibri"/>
                          <a:cs typeface="Calibri"/>
                        </a:rPr>
                        <a:t>Clean dataset, feature pipeline</a:t>
                      </a:r>
                    </a:p>
                    <a:p>
                      <a:pPr lvl="0">
                        <a:buNone/>
                      </a:pPr>
                      <a:r>
                        <a:rPr lang="en-US" sz="800" b="0" i="0" u="none" strike="noStrike" noProof="0"/>
                        <a:t>Trained churn model</a:t>
                      </a:r>
                    </a:p>
                    <a:p>
                      <a:pPr lvl="0">
                        <a:buNone/>
                      </a:pPr>
                      <a:endParaRPr lang="en-US" sz="800" b="0" i="0" u="none" strike="noStrike" noProof="0" dirty="0"/>
                    </a:p>
                    <a:p>
                      <a:pPr lvl="0">
                        <a:buNone/>
                      </a:pPr>
                      <a:r>
                        <a:rPr lang="en-US" sz="800" b="0" i="0" u="none" strike="noStrike" noProof="0">
                          <a:latin typeface="Calibri"/>
                          <a:ea typeface="Calibri"/>
                          <a:cs typeface="Calibri"/>
                        </a:rPr>
                        <a:t>Per-customer risk breakdown</a:t>
                      </a:r>
                    </a:p>
                    <a:p>
                      <a:pPr lvl="0">
                        <a:buNone/>
                      </a:pPr>
                      <a:r>
                        <a:rPr lang="en-US" sz="800" b="0" i="0" u="none" strike="noStrike" noProof="0" dirty="0"/>
                        <a:t>Auto-generated </a:t>
                      </a:r>
                      <a:r>
                        <a:rPr lang="en-US" sz="800" b="0" i="0" u="none" strike="noStrike" noProof="0" dirty="0" err="1"/>
                        <a:t>reasoning,outreach</a:t>
                      </a:r>
                      <a:r>
                        <a:rPr lang="en-US" sz="800" b="0" i="0" u="none" strike="noStrike" noProof="0" dirty="0"/>
                        <a:t> draft</a:t>
                      </a:r>
                    </a:p>
                    <a:p>
                      <a:pPr lvl="0">
                        <a:buNone/>
                      </a:pPr>
                      <a:endParaRPr lang="en-US" sz="800" b="0" i="0" u="none" strike="noStrike" noProof="0" dirty="0"/>
                    </a:p>
                    <a:p>
                      <a:pPr lvl="0">
                        <a:buNone/>
                      </a:pPr>
                      <a:r>
                        <a:rPr lang="en-US" sz="800" b="0" i="0" u="none" strike="noStrike" noProof="0">
                          <a:latin typeface="Calibri"/>
                          <a:ea typeface="Calibri"/>
                          <a:cs typeface="Calibri"/>
                        </a:rPr>
                        <a:t>Working end-to-end prototype</a:t>
                      </a:r>
                    </a:p>
                    <a:p>
                      <a:pPr lvl="0">
                        <a:buNone/>
                      </a:pPr>
                      <a:r>
                        <a:rPr lang="en-US" sz="800" b="0" i="0" u="none" strike="noStrike" noProof="0"/>
                        <a:t>Refined model, validated results</a:t>
                      </a:r>
                      <a:endParaRPr lang="en-US"/>
                    </a:p>
                  </a:txBody>
                  <a:tcPr/>
                </a:tc>
                <a:extLst>
                  <a:ext uri="{0D108BD9-81ED-4DB2-BD59-A6C34878D82A}">
                    <a16:rowId xmlns:a16="http://schemas.microsoft.com/office/drawing/2014/main" val="3454372219"/>
                  </a:ext>
                </a:extLst>
              </a:tr>
            </a:tbl>
          </a:graphicData>
        </a:graphic>
      </p:graphicFrame>
    </p:spTree>
    <p:extLst>
      <p:ext uri="{BB962C8B-B14F-4D97-AF65-F5344CB8AC3E}">
        <p14:creationId xmlns:p14="http://schemas.microsoft.com/office/powerpoint/2010/main" val="818592456"/>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C6DD947-2C7B-EA26-5A3C-D422FD0682CA}"/>
              </a:ext>
            </a:extLst>
          </p:cNvPr>
          <p:cNvSpPr>
            <a:spLocks noGrp="1"/>
          </p:cNvSpPr>
          <p:nvPr>
            <p:ph type="body" sz="quarter" idx="10"/>
          </p:nvPr>
        </p:nvSpPr>
        <p:spPr>
          <a:xfrm>
            <a:off x="486230" y="6844818"/>
            <a:ext cx="3677921" cy="20343"/>
          </a:xfrm>
        </p:spPr>
        <p:txBody>
          <a:bodyPr/>
          <a:lstStyle/>
          <a:p>
            <a:r>
              <a:rPr lang="en-US" sz="800" b="0">
                <a:ea typeface="Calibri"/>
              </a:rPr>
              <a:t>Copyright © 2026 Deloitte Development LLC. All rights reserved.</a:t>
            </a:r>
          </a:p>
          <a:p>
            <a:endParaRPr lang="en-US">
              <a:ea typeface="Calibri"/>
            </a:endParaRPr>
          </a:p>
        </p:txBody>
      </p:sp>
      <p:sp>
        <p:nvSpPr>
          <p:cNvPr id="5" name="TextBox 4">
            <a:extLst>
              <a:ext uri="{FF2B5EF4-FFF2-40B4-BE49-F238E27FC236}">
                <a16:creationId xmlns:a16="http://schemas.microsoft.com/office/drawing/2014/main" id="{6A920A5B-5F99-1880-7786-EB8980AD741F}"/>
              </a:ext>
            </a:extLst>
          </p:cNvPr>
          <p:cNvSpPr txBox="1"/>
          <p:nvPr/>
        </p:nvSpPr>
        <p:spPr>
          <a:xfrm>
            <a:off x="9203873" y="6716486"/>
            <a:ext cx="2823027" cy="47705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spcBef>
                <a:spcPts val="600"/>
              </a:spcBef>
              <a:buSzPct val="100000"/>
              <a:buFont typeface="Arial"/>
              <a:buChar char="•"/>
            </a:pPr>
            <a:r>
              <a:rPr lang="en-US" sz="800">
                <a:solidFill>
                  <a:srgbClr val="000000"/>
                </a:solidFill>
                <a:ea typeface="Calibri"/>
                <a:cs typeface="Calibri"/>
              </a:rPr>
              <a:t>Capstone Program 2026 – Student Response Template</a:t>
            </a:r>
          </a:p>
          <a:p>
            <a:pPr marL="203200" indent="-203200" algn="l">
              <a:spcBef>
                <a:spcPts val="600"/>
              </a:spcBef>
              <a:buSzPct val="100000"/>
              <a:buFont typeface="Arial"/>
              <a:buChar char="•"/>
            </a:pPr>
            <a:endParaRPr lang="en-US">
              <a:solidFill>
                <a:srgbClr val="313131"/>
              </a:solidFill>
              <a:ea typeface="Calibri"/>
              <a:cs typeface="Calibri"/>
            </a:endParaRPr>
          </a:p>
        </p:txBody>
      </p:sp>
      <p:pic>
        <p:nvPicPr>
          <p:cNvPr id="24" name="Picture 23" descr="A close up of a colorful circle&#10;&#10;AI-generated content may be incorrect.">
            <a:extLst>
              <a:ext uri="{FF2B5EF4-FFF2-40B4-BE49-F238E27FC236}">
                <a16:creationId xmlns:a16="http://schemas.microsoft.com/office/drawing/2014/main" id="{A46547FA-A6FA-DF18-BCBE-1B716BA80646}"/>
              </a:ext>
            </a:extLst>
          </p:cNvPr>
          <p:cNvPicPr>
            <a:picLocks noChangeAspect="1"/>
          </p:cNvPicPr>
          <p:nvPr/>
        </p:nvPicPr>
        <p:blipFill rotWithShape="1">
          <a:blip r:embed="rId2"/>
          <a:srcRect t="48665" r="49292" b="-415"/>
          <a:stretch/>
        </p:blipFill>
        <p:spPr>
          <a:xfrm>
            <a:off x="10683726" y="0"/>
            <a:ext cx="1496730" cy="1531979"/>
          </a:xfrm>
          <a:prstGeom prst="rect">
            <a:avLst/>
          </a:prstGeom>
        </p:spPr>
      </p:pic>
      <p:graphicFrame>
        <p:nvGraphicFramePr>
          <p:cNvPr id="28" name="Table 27">
            <a:extLst>
              <a:ext uri="{FF2B5EF4-FFF2-40B4-BE49-F238E27FC236}">
                <a16:creationId xmlns:a16="http://schemas.microsoft.com/office/drawing/2014/main" id="{858CA0BE-FEB5-280E-5A8C-B7B1A3AC625A}"/>
              </a:ext>
            </a:extLst>
          </p:cNvPr>
          <p:cNvGraphicFramePr>
            <a:graphicFrameLocks noGrp="1"/>
          </p:cNvGraphicFramePr>
          <p:nvPr>
            <p:extLst>
              <p:ext uri="{D42A27DB-BD31-4B8C-83A1-F6EECF244321}">
                <p14:modId xmlns:p14="http://schemas.microsoft.com/office/powerpoint/2010/main" val="186579722"/>
              </p:ext>
            </p:extLst>
          </p:nvPr>
        </p:nvGraphicFramePr>
        <p:xfrm>
          <a:off x="261257" y="747486"/>
          <a:ext cx="11707292" cy="5854694"/>
        </p:xfrm>
        <a:graphic>
          <a:graphicData uri="http://schemas.openxmlformats.org/drawingml/2006/table">
            <a:tbl>
              <a:tblPr firstRow="1" bandRow="1">
                <a:tableStyleId>{5C22544A-7EE6-4342-B048-85BDC9FD1C3A}</a:tableStyleId>
              </a:tblPr>
              <a:tblGrid>
                <a:gridCol w="1531586">
                  <a:extLst>
                    <a:ext uri="{9D8B030D-6E8A-4147-A177-3AD203B41FA5}">
                      <a16:colId xmlns:a16="http://schemas.microsoft.com/office/drawing/2014/main" val="2213131568"/>
                    </a:ext>
                  </a:extLst>
                </a:gridCol>
                <a:gridCol w="53572">
                  <a:extLst>
                    <a:ext uri="{9D8B030D-6E8A-4147-A177-3AD203B41FA5}">
                      <a16:colId xmlns:a16="http://schemas.microsoft.com/office/drawing/2014/main" val="427645925"/>
                    </a:ext>
                  </a:extLst>
                </a:gridCol>
                <a:gridCol w="1876575">
                  <a:extLst>
                    <a:ext uri="{9D8B030D-6E8A-4147-A177-3AD203B41FA5}">
                      <a16:colId xmlns:a16="http://schemas.microsoft.com/office/drawing/2014/main" val="1805167453"/>
                    </a:ext>
                  </a:extLst>
                </a:gridCol>
                <a:gridCol w="7610558">
                  <a:extLst>
                    <a:ext uri="{9D8B030D-6E8A-4147-A177-3AD203B41FA5}">
                      <a16:colId xmlns:a16="http://schemas.microsoft.com/office/drawing/2014/main" val="1550466844"/>
                    </a:ext>
                  </a:extLst>
                </a:gridCol>
                <a:gridCol w="635001">
                  <a:extLst>
                    <a:ext uri="{9D8B030D-6E8A-4147-A177-3AD203B41FA5}">
                      <a16:colId xmlns:a16="http://schemas.microsoft.com/office/drawing/2014/main" val="2507219728"/>
                    </a:ext>
                  </a:extLst>
                </a:gridCol>
              </a:tblGrid>
              <a:tr h="368294">
                <a:tc gridSpan="2">
                  <a:txBody>
                    <a:bodyPr/>
                    <a:lstStyle/>
                    <a:p>
                      <a:pPr marL="64135" marR="0" indent="0" algn="l" rtl="0" fontAlgn="base">
                        <a:lnSpc>
                          <a:spcPts val="956"/>
                        </a:lnSpc>
                        <a:buNone/>
                      </a:pPr>
                      <a:r>
                        <a:rPr lang="en-US" sz="1050" b="1" i="0" u="none" strike="noStrike">
                          <a:solidFill>
                            <a:srgbClr val="FFFFFF"/>
                          </a:solidFill>
                          <a:effectLst/>
                          <a:latin typeface="Calibri" panose="020F0502020204030204" pitchFamily="34" charset="0"/>
                        </a:rPr>
                        <a:t>Response Parameters</a:t>
                      </a:r>
                      <a:endParaRPr lang="en-US" sz="900" b="1" i="0">
                        <a:solidFill>
                          <a:srgbClr val="FFFFFF"/>
                        </a:solidFill>
                        <a:effectLst/>
                        <a:latin typeface="Segoe UI" panose="020B0502040204020203" pitchFamily="34" charset="0"/>
                      </a:endParaRPr>
                    </a:p>
                  </a:txBody>
                  <a:tcPr marL="3791" marR="3791" marT="3791" marB="3429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43B02A"/>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D8390"/>
                    </a:solidFill>
                  </a:tcPr>
                </a:tc>
                <a:tc hMerge="1">
                  <a:txBody>
                    <a:bodyPr/>
                    <a:lstStyle/>
                    <a:p>
                      <a:endParaRPr lang="en-US"/>
                    </a:p>
                  </a:txBody>
                  <a:tcPr/>
                </a:tc>
                <a:tc>
                  <a:txBody>
                    <a:bodyPr/>
                    <a:lstStyle/>
                    <a:p>
                      <a:pPr marL="64135" marR="0" indent="0" algn="l" rtl="0" fontAlgn="base">
                        <a:lnSpc>
                          <a:spcPts val="956"/>
                        </a:lnSpc>
                        <a:buNone/>
                      </a:pPr>
                      <a:r>
                        <a:rPr lang="en-US" sz="1050" b="1" i="0" u="none" strike="noStrike">
                          <a:solidFill>
                            <a:srgbClr val="FFFFFF"/>
                          </a:solidFill>
                          <a:effectLst/>
                          <a:latin typeface="Calibri" panose="020F0502020204030204" pitchFamily="34" charset="0"/>
                        </a:rPr>
                        <a:t>Description</a:t>
                      </a:r>
                      <a:endParaRPr lang="en-US" sz="900" b="1" i="0">
                        <a:solidFill>
                          <a:srgbClr val="FFFFFF"/>
                        </a:solidFill>
                        <a:effectLst/>
                        <a:latin typeface="Segoe UI" panose="020B0502040204020203" pitchFamily="34" charset="0"/>
                      </a:endParaRPr>
                    </a:p>
                  </a:txBody>
                  <a:tcPr marL="3791" marR="3791" marT="6858" marB="3429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43B02A"/>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64135" marR="0" indent="0" algn="l" rtl="0" fontAlgn="base">
                        <a:lnSpc>
                          <a:spcPts val="956"/>
                        </a:lnSpc>
                        <a:buNone/>
                      </a:pPr>
                      <a:r>
                        <a:rPr lang="en-US" sz="1050" b="1" i="0" u="none" strike="noStrike">
                          <a:solidFill>
                            <a:srgbClr val="FFFFFF"/>
                          </a:solidFill>
                          <a:effectLst/>
                          <a:latin typeface="Calibri" panose="020F0502020204030204" pitchFamily="34" charset="0"/>
                        </a:rPr>
                        <a:t>Participant(s) Response</a:t>
                      </a:r>
                      <a:endParaRPr lang="en-US" sz="900" b="1" i="0">
                        <a:solidFill>
                          <a:srgbClr val="FFFFFF"/>
                        </a:solidFill>
                        <a:effectLst/>
                        <a:latin typeface="Segoe UI" panose="020B0502040204020203" pitchFamily="34" charset="0"/>
                      </a:endParaRPr>
                    </a:p>
                  </a:txBody>
                  <a:tcPr marL="3791" marR="3791" marT="6858" marB="3429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43B02A"/>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D8390"/>
                    </a:solidFill>
                  </a:tcPr>
                </a:tc>
                <a:tc>
                  <a:txBody>
                    <a:bodyPr/>
                    <a:lstStyle/>
                    <a:p>
                      <a:pPr marL="0" marR="0" indent="0" algn="l" rtl="0" fontAlgn="base">
                        <a:lnSpc>
                          <a:spcPts val="956"/>
                        </a:lnSpc>
                        <a:buNone/>
                      </a:pPr>
                      <a:r>
                        <a:rPr lang="en-US" sz="1050" b="1" i="0" u="none" strike="noStrike">
                          <a:solidFill>
                            <a:srgbClr val="FFFFFF"/>
                          </a:solidFill>
                          <a:effectLst/>
                          <a:latin typeface="Calibri" panose="020F0502020204030204" pitchFamily="34" charset="0"/>
                        </a:rPr>
                        <a:t>Weightage</a:t>
                      </a:r>
                      <a:endParaRPr lang="en-US" sz="900" b="1" i="0">
                        <a:solidFill>
                          <a:srgbClr val="FFFFFF"/>
                        </a:solidFill>
                        <a:effectLst/>
                        <a:latin typeface="Segoe UI" panose="020B0502040204020203" pitchFamily="34" charset="0"/>
                      </a:endParaRPr>
                    </a:p>
                  </a:txBody>
                  <a:tcPr marL="3791" marR="3791" marT="6858" marB="3429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43B02A"/>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509717224"/>
                  </a:ext>
                </a:extLst>
              </a:tr>
              <a:tr h="5486400">
                <a:tc>
                  <a:txBody>
                    <a:bodyPr/>
                    <a:lstStyle/>
                    <a:p>
                      <a:pPr marL="64135" marR="0" indent="0" algn="l" rtl="0" fontAlgn="base">
                        <a:lnSpc>
                          <a:spcPts val="900"/>
                        </a:lnSpc>
                        <a:buNone/>
                      </a:pPr>
                      <a:r>
                        <a:rPr lang="en-US" sz="1000" b="0" i="0" u="none" strike="noStrike">
                          <a:solidFill>
                            <a:srgbClr val="000000"/>
                          </a:solidFill>
                          <a:effectLst/>
                          <a:latin typeface="Calibri" panose="020F0502020204030204" pitchFamily="34" charset="0"/>
                        </a:rPr>
                        <a:t>Architecture</a:t>
                      </a:r>
                      <a:endParaRPr lang="en-US" sz="900" b="0" i="0">
                        <a:solidFill>
                          <a:srgbClr val="000000"/>
                        </a:solidFill>
                        <a:effectLst/>
                        <a:latin typeface="Segoe UI" panose="020B0502040204020203" pitchFamily="34" charset="0"/>
                      </a:endParaRPr>
                    </a:p>
                  </a:txBody>
                  <a:tcPr marL="3791" marR="3791" marT="3791" marB="3429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DEFE8"/>
                    </a:solidFill>
                  </a:tcPr>
                </a:tc>
                <a:tc gridSpan="2">
                  <a:txBody>
                    <a:bodyPr/>
                    <a:lstStyle/>
                    <a:p>
                      <a:pPr marL="64135" marR="0" indent="0" algn="l" rtl="0" fontAlgn="base">
                        <a:lnSpc>
                          <a:spcPts val="900"/>
                        </a:lnSpc>
                        <a:buNone/>
                      </a:pPr>
                      <a:r>
                        <a:rPr lang="en-US" sz="1000" b="0" i="0" u="none" strike="noStrike">
                          <a:solidFill>
                            <a:srgbClr val="000000"/>
                          </a:solidFill>
                          <a:effectLst/>
                          <a:latin typeface="Calibri" panose="020F0502020204030204" pitchFamily="34" charset="0"/>
                        </a:rPr>
                        <a:t>Detail the Architecture design</a:t>
                      </a:r>
                      <a:endParaRPr lang="en-US" sz="900" b="0" i="0">
                        <a:solidFill>
                          <a:srgbClr val="000000"/>
                        </a:solidFill>
                        <a:effectLst/>
                        <a:latin typeface="Segoe UI" panose="020B0502040204020203" pitchFamily="34" charset="0"/>
                      </a:endParaRPr>
                    </a:p>
                  </a:txBody>
                  <a:tcPr marL="3791" marR="3791" marT="3791" marB="3429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DEFE8"/>
                    </a:solidFill>
                  </a:tcPr>
                </a:tc>
                <a:tc hMerge="1">
                  <a:txBody>
                    <a:bodyPr/>
                    <a:lstStyle/>
                    <a:p>
                      <a:endParaRPr lang="en-US"/>
                    </a:p>
                  </a:txBody>
                  <a:tcPr/>
                </a:tc>
                <a:tc>
                  <a:txBody>
                    <a:bodyPr/>
                    <a:lstStyle/>
                    <a:p>
                      <a:pPr marL="0" marR="0" algn="l" fontAlgn="ctr">
                        <a:buNone/>
                      </a:pPr>
                      <a:endParaRPr lang="en-US" sz="900" b="0" i="0">
                        <a:solidFill>
                          <a:srgbClr val="000000"/>
                        </a:solidFill>
                        <a:effectLst/>
                        <a:latin typeface="Segoe UI" panose="020B0502040204020203" pitchFamily="34" charset="0"/>
                      </a:endParaRPr>
                    </a:p>
                  </a:txBody>
                  <a:tcPr marL="3791" marR="3791" marT="3791" marB="3429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DEFE8"/>
                    </a:solidFill>
                  </a:tcPr>
                </a:tc>
                <a:tc>
                  <a:txBody>
                    <a:bodyPr/>
                    <a:lstStyle/>
                    <a:p>
                      <a:pPr marL="0" marR="0" algn="l" fontAlgn="ctr">
                        <a:buNone/>
                      </a:pPr>
                      <a:endParaRPr lang="en-US" sz="900" b="0" i="0">
                        <a:solidFill>
                          <a:srgbClr val="000000"/>
                        </a:solidFill>
                        <a:effectLst/>
                        <a:latin typeface="Segoe UI" panose="020B0502040204020203" pitchFamily="34" charset="0"/>
                      </a:endParaRPr>
                    </a:p>
                  </a:txBody>
                  <a:tcPr marL="3791" marR="3791" marT="3791" marB="3429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DEFE8"/>
                    </a:solidFill>
                  </a:tcPr>
                </a:tc>
                <a:extLst>
                  <a:ext uri="{0D108BD9-81ED-4DB2-BD59-A6C34878D82A}">
                    <a16:rowId xmlns:a16="http://schemas.microsoft.com/office/drawing/2014/main" val="2235958796"/>
                  </a:ext>
                </a:extLst>
              </a:tr>
            </a:tbl>
          </a:graphicData>
        </a:graphic>
      </p:graphicFrame>
      <p:sp>
        <p:nvSpPr>
          <p:cNvPr id="30" name="Title 2">
            <a:extLst>
              <a:ext uri="{FF2B5EF4-FFF2-40B4-BE49-F238E27FC236}">
                <a16:creationId xmlns:a16="http://schemas.microsoft.com/office/drawing/2014/main" id="{78F17715-1033-37CA-EA75-0FBCD149B782}"/>
              </a:ext>
            </a:extLst>
          </p:cNvPr>
          <p:cNvSpPr txBox="1">
            <a:spLocks/>
          </p:cNvSpPr>
          <p:nvPr/>
        </p:nvSpPr>
        <p:spPr bwMode="gray">
          <a:xfrm>
            <a:off x="3702281" y="0"/>
            <a:ext cx="4787438" cy="342000"/>
          </a:xfrm>
          <a:prstGeom prst="rect">
            <a:avLst/>
          </a:prstGeom>
        </p:spPr>
        <p:txBody>
          <a:bodyPr vert="horz" lIns="0" tIns="0" rIns="0" bIns="0" rtlCol="0" anchor="b" anchorCtr="0">
            <a:noAutofit/>
          </a:bodyPr>
          <a:lstStyle>
            <a:lvl1pPr algn="l" defTabSz="685800" rtl="0" eaLnBrk="1" latinLnBrk="0" hangingPunct="1">
              <a:lnSpc>
                <a:spcPts val="3200"/>
              </a:lnSpc>
              <a:spcBef>
                <a:spcPct val="0"/>
              </a:spcBef>
              <a:buNone/>
              <a:defRPr sz="3200" b="0" kern="1200">
                <a:solidFill>
                  <a:schemeClr val="accent3"/>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sz="1800"/>
              <a:t>Capstone Use Case – Student Response Template</a:t>
            </a:r>
          </a:p>
        </p:txBody>
      </p:sp>
      <p:sp>
        <p:nvSpPr>
          <p:cNvPr id="36" name="Flowchart: Alternate Process 35">
            <a:extLst>
              <a:ext uri="{FF2B5EF4-FFF2-40B4-BE49-F238E27FC236}">
                <a16:creationId xmlns:a16="http://schemas.microsoft.com/office/drawing/2014/main" id="{E5258C54-43DD-080F-35A2-AF9B1E16FBFD}"/>
              </a:ext>
            </a:extLst>
          </p:cNvPr>
          <p:cNvSpPr/>
          <p:nvPr/>
        </p:nvSpPr>
        <p:spPr bwMode="gray">
          <a:xfrm>
            <a:off x="5929086" y="1351934"/>
            <a:ext cx="3563256" cy="438477"/>
          </a:xfrm>
          <a:prstGeom prst="flowChartAlternateProcess">
            <a:avLst/>
          </a:prstGeom>
          <a:solidFill>
            <a:schemeClr val="accent1">
              <a:lumMod val="20000"/>
              <a:lumOff val="80000"/>
            </a:schemeClr>
          </a:solidFill>
          <a:ln w="19050" algn="ctr">
            <a:solidFill>
              <a:schemeClr val="accent1">
                <a:lumMod val="20000"/>
                <a:lumOff val="80000"/>
              </a:schemeClr>
            </a:solidFill>
            <a:miter lim="800000"/>
            <a:headEnd/>
            <a:tailEnd/>
          </a:ln>
        </p:spPr>
        <p:txBody>
          <a:bodyPr wrap="square" lIns="88900" tIns="88900" rIns="88900" bIns="88900" rtlCol="0" anchor="ctr"/>
          <a:lstStyle/>
          <a:p>
            <a:pPr algn="ctr">
              <a:lnSpc>
                <a:spcPct val="106000"/>
              </a:lnSpc>
            </a:pPr>
            <a:r>
              <a:rPr lang="en-US" sz="1000" b="1">
                <a:ea typeface="Calibri"/>
                <a:cs typeface="Calibri"/>
              </a:rPr>
              <a:t>Data sources</a:t>
            </a:r>
            <a:endParaRPr lang="en-US">
              <a:ea typeface="Calibri"/>
              <a:cs typeface="Calibri"/>
            </a:endParaRPr>
          </a:p>
          <a:p>
            <a:pPr algn="ctr">
              <a:lnSpc>
                <a:spcPct val="106000"/>
              </a:lnSpc>
            </a:pPr>
            <a:r>
              <a:rPr lang="en-US" sz="1000" b="1">
                <a:ea typeface="Calibri"/>
                <a:cs typeface="Calibri"/>
              </a:rPr>
              <a:t>CRM, Billing, Support systems</a:t>
            </a:r>
            <a:endParaRPr lang="en-US"/>
          </a:p>
        </p:txBody>
      </p:sp>
      <p:cxnSp>
        <p:nvCxnSpPr>
          <p:cNvPr id="38" name="Straight Arrow Connector 37">
            <a:extLst>
              <a:ext uri="{FF2B5EF4-FFF2-40B4-BE49-F238E27FC236}">
                <a16:creationId xmlns:a16="http://schemas.microsoft.com/office/drawing/2014/main" id="{01A3F2F1-6B3C-8B4B-724C-FBF334F34468}"/>
              </a:ext>
            </a:extLst>
          </p:cNvPr>
          <p:cNvCxnSpPr/>
          <p:nvPr/>
        </p:nvCxnSpPr>
        <p:spPr>
          <a:xfrm flipH="1">
            <a:off x="7593692" y="1813379"/>
            <a:ext cx="7258" cy="29754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3DE4554C-A731-A9D3-5F3E-845BA1ECCB0C}"/>
              </a:ext>
            </a:extLst>
          </p:cNvPr>
          <p:cNvSpPr txBox="1"/>
          <p:nvPr/>
        </p:nvSpPr>
        <p:spPr>
          <a:xfrm>
            <a:off x="7710715" y="1885043"/>
            <a:ext cx="1191985" cy="15388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buSzPct val="100000"/>
            </a:pPr>
            <a:r>
              <a:rPr lang="en-US" sz="1000" b="1">
                <a:solidFill>
                  <a:srgbClr val="313131"/>
                </a:solidFill>
                <a:ea typeface="Calibri"/>
                <a:cs typeface="Calibri"/>
              </a:rPr>
              <a:t>Usage &amp; event data</a:t>
            </a:r>
          </a:p>
        </p:txBody>
      </p:sp>
      <p:sp>
        <p:nvSpPr>
          <p:cNvPr id="42" name="Rectangle 41">
            <a:extLst>
              <a:ext uri="{FF2B5EF4-FFF2-40B4-BE49-F238E27FC236}">
                <a16:creationId xmlns:a16="http://schemas.microsoft.com/office/drawing/2014/main" id="{F182C11B-87DF-9107-FB91-0DB62AF6E1C0}"/>
              </a:ext>
            </a:extLst>
          </p:cNvPr>
          <p:cNvSpPr/>
          <p:nvPr/>
        </p:nvSpPr>
        <p:spPr bwMode="gray">
          <a:xfrm>
            <a:off x="4548414" y="2113647"/>
            <a:ext cx="6103255" cy="3555995"/>
          </a:xfrm>
          <a:prstGeom prst="rect">
            <a:avLst/>
          </a:prstGeom>
          <a:solidFill>
            <a:schemeClr val="tx2">
              <a:lumMod val="20000"/>
              <a:lumOff val="80000"/>
            </a:schemeClr>
          </a:solidFill>
          <a:ln w="19050" algn="ctr">
            <a:solidFill>
              <a:schemeClr val="accent1">
                <a:lumMod val="20000"/>
                <a:lumOff val="8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44" name="TextBox 43">
            <a:extLst>
              <a:ext uri="{FF2B5EF4-FFF2-40B4-BE49-F238E27FC236}">
                <a16:creationId xmlns:a16="http://schemas.microsoft.com/office/drawing/2014/main" id="{2845E91F-0629-ABCC-3FE9-9B0DD7426BF0}"/>
              </a:ext>
            </a:extLst>
          </p:cNvPr>
          <p:cNvSpPr txBox="1"/>
          <p:nvPr/>
        </p:nvSpPr>
        <p:spPr>
          <a:xfrm>
            <a:off x="4651829" y="2171701"/>
            <a:ext cx="1752600" cy="16158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buSzPct val="100000"/>
            </a:pPr>
            <a:r>
              <a:rPr lang="en-US" sz="1050" b="1" dirty="0" err="1">
                <a:solidFill>
                  <a:srgbClr val="313131"/>
                </a:solidFill>
                <a:ea typeface="Calibri"/>
                <a:cs typeface="Calibri"/>
              </a:rPr>
              <a:t>ChurnGuard</a:t>
            </a:r>
            <a:r>
              <a:rPr lang="en-US" sz="1050" b="1" dirty="0">
                <a:solidFill>
                  <a:srgbClr val="313131"/>
                </a:solidFill>
                <a:ea typeface="Calibri"/>
                <a:cs typeface="Calibri"/>
              </a:rPr>
              <a:t> Platform</a:t>
            </a:r>
          </a:p>
        </p:txBody>
      </p:sp>
      <p:sp>
        <p:nvSpPr>
          <p:cNvPr id="46" name="Flowchart: Alternate Process 45">
            <a:extLst>
              <a:ext uri="{FF2B5EF4-FFF2-40B4-BE49-F238E27FC236}">
                <a16:creationId xmlns:a16="http://schemas.microsoft.com/office/drawing/2014/main" id="{8547FFA3-9BB5-36CA-5E48-D7B75F6DE5BD}"/>
              </a:ext>
            </a:extLst>
          </p:cNvPr>
          <p:cNvSpPr/>
          <p:nvPr/>
        </p:nvSpPr>
        <p:spPr bwMode="gray">
          <a:xfrm>
            <a:off x="5925004" y="2327564"/>
            <a:ext cx="3570514" cy="460249"/>
          </a:xfrm>
          <a:prstGeom prst="flowChartAlternateProcess">
            <a:avLst/>
          </a:prstGeom>
          <a:solidFill>
            <a:schemeClr val="accent1">
              <a:lumMod val="20000"/>
              <a:lumOff val="80000"/>
            </a:schemeClr>
          </a:solidFill>
          <a:ln w="19050" algn="ctr">
            <a:solidFill>
              <a:schemeClr val="accent1">
                <a:lumMod val="20000"/>
                <a:lumOff val="80000"/>
              </a:schemeClr>
            </a:solidFill>
            <a:miter lim="800000"/>
            <a:headEnd/>
            <a:tailEnd/>
          </a:ln>
        </p:spPr>
        <p:txBody>
          <a:bodyPr wrap="square" lIns="88900" tIns="88900" rIns="88900" bIns="88900" rtlCol="0" anchor="ctr"/>
          <a:lstStyle/>
          <a:p>
            <a:pPr algn="ctr">
              <a:lnSpc>
                <a:spcPct val="106000"/>
              </a:lnSpc>
            </a:pPr>
            <a:r>
              <a:rPr lang="en-US" sz="1000" b="1">
                <a:ea typeface="Calibri"/>
                <a:cs typeface="Calibri"/>
              </a:rPr>
              <a:t>Data Ingestion</a:t>
            </a:r>
          </a:p>
          <a:p>
            <a:pPr algn="ctr">
              <a:lnSpc>
                <a:spcPct val="106000"/>
              </a:lnSpc>
            </a:pPr>
            <a:r>
              <a:rPr lang="en-US" sz="1000" b="1">
                <a:ea typeface="Calibri"/>
                <a:cs typeface="Calibri"/>
              </a:rPr>
              <a:t>Usage, Login, feature &amp; support – ticket data</a:t>
            </a:r>
          </a:p>
        </p:txBody>
      </p:sp>
      <p:cxnSp>
        <p:nvCxnSpPr>
          <p:cNvPr id="48" name="Straight Arrow Connector 47">
            <a:extLst>
              <a:ext uri="{FF2B5EF4-FFF2-40B4-BE49-F238E27FC236}">
                <a16:creationId xmlns:a16="http://schemas.microsoft.com/office/drawing/2014/main" id="{443620D0-C981-741C-8679-2DE4D84CAB63}"/>
              </a:ext>
            </a:extLst>
          </p:cNvPr>
          <p:cNvCxnSpPr/>
          <p:nvPr/>
        </p:nvCxnSpPr>
        <p:spPr>
          <a:xfrm>
            <a:off x="7589611" y="2789011"/>
            <a:ext cx="7256" cy="239485"/>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50" name="Flowchart: Process 49">
            <a:extLst>
              <a:ext uri="{FF2B5EF4-FFF2-40B4-BE49-F238E27FC236}">
                <a16:creationId xmlns:a16="http://schemas.microsoft.com/office/drawing/2014/main" id="{6B95D0D9-B4AB-BAB5-ED28-4E4B82A910AB}"/>
              </a:ext>
            </a:extLst>
          </p:cNvPr>
          <p:cNvSpPr/>
          <p:nvPr/>
        </p:nvSpPr>
        <p:spPr bwMode="gray">
          <a:xfrm>
            <a:off x="4844143" y="3060992"/>
            <a:ext cx="5537199" cy="1011790"/>
          </a:xfrm>
          <a:prstGeom prst="flowChartProcess">
            <a:avLst/>
          </a:prstGeom>
          <a:solidFill>
            <a:schemeClr val="bg2">
              <a:lumMod val="90000"/>
            </a:schemeClr>
          </a:solidFill>
          <a:ln w="19050" algn="ctr">
            <a:solidFill>
              <a:schemeClr val="accent1">
                <a:lumMod val="20000"/>
                <a:lumOff val="8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52" name="TextBox 51">
            <a:extLst>
              <a:ext uri="{FF2B5EF4-FFF2-40B4-BE49-F238E27FC236}">
                <a16:creationId xmlns:a16="http://schemas.microsoft.com/office/drawing/2014/main" id="{374C8C80-F9BC-491F-AF3D-ADD6D84304C8}"/>
              </a:ext>
            </a:extLst>
          </p:cNvPr>
          <p:cNvSpPr txBox="1"/>
          <p:nvPr/>
        </p:nvSpPr>
        <p:spPr>
          <a:xfrm>
            <a:off x="4945742" y="3084286"/>
            <a:ext cx="1567543" cy="16158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buSzPct val="100000"/>
            </a:pPr>
            <a:r>
              <a:rPr lang="en-US" sz="1050" b="1">
                <a:solidFill>
                  <a:srgbClr val="313131"/>
                </a:solidFill>
                <a:ea typeface="Calibri"/>
                <a:cs typeface="Calibri"/>
              </a:rPr>
              <a:t>Core AI engine</a:t>
            </a:r>
          </a:p>
        </p:txBody>
      </p:sp>
      <p:sp>
        <p:nvSpPr>
          <p:cNvPr id="54" name="Flowchart: Alternate Process 53">
            <a:extLst>
              <a:ext uri="{FF2B5EF4-FFF2-40B4-BE49-F238E27FC236}">
                <a16:creationId xmlns:a16="http://schemas.microsoft.com/office/drawing/2014/main" id="{B7CEC0EB-436A-F5B4-7F10-3BE890D8CA58}"/>
              </a:ext>
            </a:extLst>
          </p:cNvPr>
          <p:cNvSpPr/>
          <p:nvPr/>
        </p:nvSpPr>
        <p:spPr bwMode="gray">
          <a:xfrm>
            <a:off x="4947104" y="3396179"/>
            <a:ext cx="2605313" cy="496535"/>
          </a:xfrm>
          <a:prstGeom prst="flowChartAlternateProcess">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pPr>
            <a:r>
              <a:rPr lang="en-US" sz="1000" b="1">
                <a:ea typeface="Calibri"/>
                <a:cs typeface="Calibri"/>
              </a:rPr>
              <a:t>ML Prediction </a:t>
            </a:r>
          </a:p>
          <a:p>
            <a:pPr algn="ctr">
              <a:lnSpc>
                <a:spcPct val="106000"/>
              </a:lnSpc>
            </a:pPr>
            <a:r>
              <a:rPr lang="en-US" sz="1000" b="1">
                <a:ea typeface="Calibri"/>
                <a:cs typeface="Calibri"/>
              </a:rPr>
              <a:t>Outputs churn risk score</a:t>
            </a:r>
          </a:p>
        </p:txBody>
      </p:sp>
      <p:sp>
        <p:nvSpPr>
          <p:cNvPr id="58" name="Flowchart: Alternate Process 57">
            <a:extLst>
              <a:ext uri="{FF2B5EF4-FFF2-40B4-BE49-F238E27FC236}">
                <a16:creationId xmlns:a16="http://schemas.microsoft.com/office/drawing/2014/main" id="{0D15B651-43C6-09F7-CF29-B6816CFA0DE1}"/>
              </a:ext>
            </a:extLst>
          </p:cNvPr>
          <p:cNvSpPr/>
          <p:nvPr/>
        </p:nvSpPr>
        <p:spPr bwMode="gray">
          <a:xfrm>
            <a:off x="7637237" y="3393912"/>
            <a:ext cx="2641598" cy="503790"/>
          </a:xfrm>
          <a:prstGeom prst="flowChartAlternateProcess">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pPr>
            <a:r>
              <a:rPr lang="en-US" sz="1000" b="1">
                <a:ea typeface="Calibri"/>
                <a:cs typeface="Calibri"/>
              </a:rPr>
              <a:t>Explainability (SHAP)</a:t>
            </a:r>
          </a:p>
          <a:p>
            <a:pPr algn="ctr">
              <a:lnSpc>
                <a:spcPct val="106000"/>
              </a:lnSpc>
            </a:pPr>
            <a:r>
              <a:rPr lang="en-US" sz="1000" b="1">
                <a:ea typeface="Calibri"/>
                <a:cs typeface="Calibri"/>
              </a:rPr>
              <a:t>Attributes risk Drivers</a:t>
            </a:r>
          </a:p>
        </p:txBody>
      </p:sp>
      <p:cxnSp>
        <p:nvCxnSpPr>
          <p:cNvPr id="60" name="Straight Arrow Connector 59">
            <a:extLst>
              <a:ext uri="{FF2B5EF4-FFF2-40B4-BE49-F238E27FC236}">
                <a16:creationId xmlns:a16="http://schemas.microsoft.com/office/drawing/2014/main" id="{8D6554F8-2330-2946-CCEF-76D9F9E346E4}"/>
              </a:ext>
            </a:extLst>
          </p:cNvPr>
          <p:cNvCxnSpPr/>
          <p:nvPr/>
        </p:nvCxnSpPr>
        <p:spPr>
          <a:xfrm>
            <a:off x="7555139" y="4104367"/>
            <a:ext cx="7257" cy="210457"/>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61" name="Flowchart: Alternate Process 60">
            <a:extLst>
              <a:ext uri="{FF2B5EF4-FFF2-40B4-BE49-F238E27FC236}">
                <a16:creationId xmlns:a16="http://schemas.microsoft.com/office/drawing/2014/main" id="{28311D73-25E5-EA31-F657-82A75B50E785}"/>
              </a:ext>
            </a:extLst>
          </p:cNvPr>
          <p:cNvSpPr/>
          <p:nvPr/>
        </p:nvSpPr>
        <p:spPr bwMode="gray">
          <a:xfrm>
            <a:off x="5921829" y="4312847"/>
            <a:ext cx="3577771" cy="525563"/>
          </a:xfrm>
          <a:prstGeom prst="flowChartAlternateProcess">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pPr>
            <a:r>
              <a:rPr lang="en-US" sz="1000" b="1">
                <a:ea typeface="Calibri"/>
                <a:cs typeface="Calibri"/>
              </a:rPr>
              <a:t>Agentic Orchestration</a:t>
            </a:r>
          </a:p>
          <a:p>
            <a:pPr algn="ctr">
              <a:lnSpc>
                <a:spcPct val="106000"/>
              </a:lnSpc>
            </a:pPr>
            <a:r>
              <a:rPr lang="en-US" sz="1000" b="1" dirty="0" err="1">
                <a:ea typeface="Calibri"/>
                <a:cs typeface="Calibri"/>
              </a:rPr>
              <a:t>LangGraph</a:t>
            </a:r>
            <a:r>
              <a:rPr lang="en-US" sz="1000" b="1" dirty="0">
                <a:ea typeface="Calibri"/>
                <a:cs typeface="Calibri"/>
              </a:rPr>
              <a:t> coordinates predict -&gt; explain -&gt; act via LLM</a:t>
            </a:r>
          </a:p>
        </p:txBody>
      </p:sp>
      <p:cxnSp>
        <p:nvCxnSpPr>
          <p:cNvPr id="62" name="Straight Arrow Connector 61">
            <a:extLst>
              <a:ext uri="{FF2B5EF4-FFF2-40B4-BE49-F238E27FC236}">
                <a16:creationId xmlns:a16="http://schemas.microsoft.com/office/drawing/2014/main" id="{5EC26563-7D15-A88D-45C5-B983F2768C1E}"/>
              </a:ext>
            </a:extLst>
          </p:cNvPr>
          <p:cNvCxnSpPr/>
          <p:nvPr/>
        </p:nvCxnSpPr>
        <p:spPr>
          <a:xfrm flipH="1">
            <a:off x="7617732" y="4863646"/>
            <a:ext cx="7257" cy="181429"/>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63" name="Flowchart: Alternate Process 62">
            <a:extLst>
              <a:ext uri="{FF2B5EF4-FFF2-40B4-BE49-F238E27FC236}">
                <a16:creationId xmlns:a16="http://schemas.microsoft.com/office/drawing/2014/main" id="{464DDE31-13B3-FD2B-3A71-3CF117D2B46D}"/>
              </a:ext>
            </a:extLst>
          </p:cNvPr>
          <p:cNvSpPr/>
          <p:nvPr/>
        </p:nvSpPr>
        <p:spPr bwMode="gray">
          <a:xfrm>
            <a:off x="5917293" y="5048541"/>
            <a:ext cx="3570513" cy="482020"/>
          </a:xfrm>
          <a:prstGeom prst="flowChartAlternateProcess">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pPr>
            <a:r>
              <a:rPr lang="en-US" sz="1000" b="1">
                <a:ea typeface="Calibri"/>
                <a:cs typeface="Calibri"/>
              </a:rPr>
              <a:t>API Layer</a:t>
            </a:r>
          </a:p>
          <a:p>
            <a:pPr algn="ctr">
              <a:lnSpc>
                <a:spcPct val="106000"/>
              </a:lnSpc>
            </a:pPr>
            <a:r>
              <a:rPr lang="en-US" sz="1000" b="1" err="1">
                <a:ea typeface="Calibri"/>
                <a:cs typeface="Calibri"/>
              </a:rPr>
              <a:t>FastAPI</a:t>
            </a:r>
            <a:r>
              <a:rPr lang="en-US" sz="1000" b="1">
                <a:ea typeface="Calibri"/>
                <a:cs typeface="Calibri"/>
              </a:rPr>
              <a:t> REST endpoints for CRM integration</a:t>
            </a:r>
          </a:p>
        </p:txBody>
      </p:sp>
      <p:cxnSp>
        <p:nvCxnSpPr>
          <p:cNvPr id="64" name="Straight Arrow Connector 63">
            <a:extLst>
              <a:ext uri="{FF2B5EF4-FFF2-40B4-BE49-F238E27FC236}">
                <a16:creationId xmlns:a16="http://schemas.microsoft.com/office/drawing/2014/main" id="{34208BA6-2CA9-D23F-3606-45BACB7B0AEA}"/>
              </a:ext>
            </a:extLst>
          </p:cNvPr>
          <p:cNvCxnSpPr/>
          <p:nvPr/>
        </p:nvCxnSpPr>
        <p:spPr>
          <a:xfrm>
            <a:off x="7656286" y="5671457"/>
            <a:ext cx="1" cy="27577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65" name="Flowchart: Alternate Process 64">
            <a:extLst>
              <a:ext uri="{FF2B5EF4-FFF2-40B4-BE49-F238E27FC236}">
                <a16:creationId xmlns:a16="http://schemas.microsoft.com/office/drawing/2014/main" id="{8A05E77E-80F6-54D5-C21E-80B16DFB4057}"/>
              </a:ext>
            </a:extLst>
          </p:cNvPr>
          <p:cNvSpPr/>
          <p:nvPr/>
        </p:nvSpPr>
        <p:spPr bwMode="gray">
          <a:xfrm>
            <a:off x="5912304" y="5950694"/>
            <a:ext cx="3570513" cy="525562"/>
          </a:xfrm>
          <a:prstGeom prst="flowChartAlternateProcess">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pPr>
            <a:r>
              <a:rPr lang="en-US" sz="1000" b="1">
                <a:ea typeface="Calibri"/>
                <a:cs typeface="Calibri"/>
              </a:rPr>
              <a:t>Live Dashboard</a:t>
            </a:r>
          </a:p>
          <a:p>
            <a:pPr algn="ctr">
              <a:lnSpc>
                <a:spcPct val="106000"/>
              </a:lnSpc>
            </a:pPr>
            <a:r>
              <a:rPr lang="en-US" sz="1000" b="1">
                <a:ea typeface="Calibri"/>
                <a:cs typeface="Calibri"/>
              </a:rPr>
              <a:t>Scores, Causes &amp; Outreach Drafts</a:t>
            </a:r>
          </a:p>
        </p:txBody>
      </p:sp>
      <p:sp>
        <p:nvSpPr>
          <p:cNvPr id="66" name="TextBox 65">
            <a:extLst>
              <a:ext uri="{FF2B5EF4-FFF2-40B4-BE49-F238E27FC236}">
                <a16:creationId xmlns:a16="http://schemas.microsoft.com/office/drawing/2014/main" id="{F314B60F-5DF0-892F-662E-C525BF2B3510}"/>
              </a:ext>
            </a:extLst>
          </p:cNvPr>
          <p:cNvSpPr txBox="1"/>
          <p:nvPr/>
        </p:nvSpPr>
        <p:spPr>
          <a:xfrm>
            <a:off x="7839529" y="5733143"/>
            <a:ext cx="1816099" cy="15388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buSzPct val="100000"/>
            </a:pPr>
            <a:r>
              <a:rPr lang="en-US" sz="1000" b="1">
                <a:solidFill>
                  <a:srgbClr val="313131"/>
                </a:solidFill>
                <a:ea typeface="Calibri"/>
                <a:cs typeface="Calibri"/>
              </a:rPr>
              <a:t>Scores + Drafts</a:t>
            </a:r>
          </a:p>
        </p:txBody>
      </p:sp>
    </p:spTree>
    <p:extLst>
      <p:ext uri="{BB962C8B-B14F-4D97-AF65-F5344CB8AC3E}">
        <p14:creationId xmlns:p14="http://schemas.microsoft.com/office/powerpoint/2010/main" val="261496308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28F08-99C7-E059-4F9F-452764E48FCF}"/>
            </a:ext>
          </a:extLst>
        </p:cNvPr>
        <p:cNvGrpSpPr/>
        <p:nvPr/>
      </p:nvGrpSpPr>
      <p:grpSpPr>
        <a:xfrm>
          <a:off x="0" y="0"/>
          <a:ext cx="0" cy="0"/>
          <a:chOff x="0" y="0"/>
          <a:chExt cx="0" cy="0"/>
        </a:xfrm>
      </p:grpSpPr>
      <p:pic>
        <p:nvPicPr>
          <p:cNvPr id="29" name="Picture 28">
            <a:extLst>
              <a:ext uri="{FF2B5EF4-FFF2-40B4-BE49-F238E27FC236}">
                <a16:creationId xmlns:a16="http://schemas.microsoft.com/office/drawing/2014/main" id="{C9D7C079-2A39-7B4E-6E64-DBACB15A0565}"/>
              </a:ext>
            </a:extLst>
          </p:cNvPr>
          <p:cNvPicPr>
            <a:picLocks noChangeAspect="1"/>
          </p:cNvPicPr>
          <p:nvPr/>
        </p:nvPicPr>
        <p:blipFill rotWithShape="1">
          <a:blip r:embed="rId2"/>
          <a:srcRect t="48665" r="49292" b="-415"/>
          <a:stretch/>
        </p:blipFill>
        <p:spPr>
          <a:xfrm>
            <a:off x="10683726" y="0"/>
            <a:ext cx="1496730" cy="1531979"/>
          </a:xfrm>
          <a:prstGeom prst="rect">
            <a:avLst/>
          </a:prstGeom>
        </p:spPr>
      </p:pic>
      <p:graphicFrame>
        <p:nvGraphicFramePr>
          <p:cNvPr id="5" name="Table 4">
            <a:extLst>
              <a:ext uri="{FF2B5EF4-FFF2-40B4-BE49-F238E27FC236}">
                <a16:creationId xmlns:a16="http://schemas.microsoft.com/office/drawing/2014/main" id="{EFD25CD7-EC19-AA12-4834-C4B359DC4C8B}"/>
              </a:ext>
            </a:extLst>
          </p:cNvPr>
          <p:cNvGraphicFramePr>
            <a:graphicFrameLocks noGrp="1"/>
          </p:cNvGraphicFramePr>
          <p:nvPr>
            <p:extLst>
              <p:ext uri="{D42A27DB-BD31-4B8C-83A1-F6EECF244321}">
                <p14:modId xmlns:p14="http://schemas.microsoft.com/office/powerpoint/2010/main" val="338920980"/>
              </p:ext>
            </p:extLst>
          </p:nvPr>
        </p:nvGraphicFramePr>
        <p:xfrm>
          <a:off x="304800" y="703942"/>
          <a:ext cx="11621492" cy="5965659"/>
        </p:xfrm>
        <a:graphic>
          <a:graphicData uri="http://schemas.openxmlformats.org/drawingml/2006/table">
            <a:tbl>
              <a:tblPr>
                <a:tableStyleId>{0E3FDE45-AF77-4B5C-9715-49D594BDF05E}</a:tableStyleId>
              </a:tblPr>
              <a:tblGrid>
                <a:gridCol w="1370955">
                  <a:extLst>
                    <a:ext uri="{9D8B030D-6E8A-4147-A177-3AD203B41FA5}">
                      <a16:colId xmlns:a16="http://schemas.microsoft.com/office/drawing/2014/main" val="1557693294"/>
                    </a:ext>
                  </a:extLst>
                </a:gridCol>
                <a:gridCol w="3594100">
                  <a:extLst>
                    <a:ext uri="{9D8B030D-6E8A-4147-A177-3AD203B41FA5}">
                      <a16:colId xmlns:a16="http://schemas.microsoft.com/office/drawing/2014/main" val="1252555282"/>
                    </a:ext>
                  </a:extLst>
                </a:gridCol>
                <a:gridCol w="5918200">
                  <a:extLst>
                    <a:ext uri="{9D8B030D-6E8A-4147-A177-3AD203B41FA5}">
                      <a16:colId xmlns:a16="http://schemas.microsoft.com/office/drawing/2014/main" val="3562290"/>
                    </a:ext>
                  </a:extLst>
                </a:gridCol>
                <a:gridCol w="738237">
                  <a:extLst>
                    <a:ext uri="{9D8B030D-6E8A-4147-A177-3AD203B41FA5}">
                      <a16:colId xmlns:a16="http://schemas.microsoft.com/office/drawing/2014/main" val="3063779762"/>
                    </a:ext>
                  </a:extLst>
                </a:gridCol>
              </a:tblGrid>
              <a:tr h="172241">
                <a:tc>
                  <a:txBody>
                    <a:bodyPr/>
                    <a:lstStyle/>
                    <a:p>
                      <a:pPr marL="91440" algn="l" defTabSz="685800" rtl="0" eaLnBrk="1" fontAlgn="b" latinLnBrk="0" hangingPunct="1">
                        <a:lnSpc>
                          <a:spcPct val="100000"/>
                        </a:lnSpc>
                      </a:pPr>
                      <a:r>
                        <a:rPr lang="en-US" sz="1050" b="1" u="none" strike="noStrike" kern="1200">
                          <a:ln w="3175">
                            <a:noFill/>
                          </a:ln>
                          <a:solidFill>
                            <a:srgbClr val="FFFFFF"/>
                          </a:solidFill>
                          <a:effectLst/>
                          <a:latin typeface="+mn-lt"/>
                          <a:ea typeface="+mn-ea"/>
                          <a:cs typeface="+mn-cs"/>
                        </a:rPr>
                        <a:t>Response Parameters</a:t>
                      </a:r>
                    </a:p>
                  </a:txBody>
                  <a:tcPr marL="5075" marR="5075" marT="5075" marB="0" anchor="ctr">
                    <a:lnR>
                      <a:noFill/>
                    </a:lnR>
                    <a:lnT w="6350" cap="flat" cmpd="sng" algn="ctr">
                      <a:solidFill>
                        <a:schemeClr val="bg1"/>
                      </a:solidFill>
                      <a:prstDash val="solid"/>
                      <a:round/>
                      <a:headEnd type="none" w="med" len="med"/>
                      <a:tailEnd type="none" w="med" len="med"/>
                    </a:lnT>
                    <a:solidFill>
                      <a:schemeClr val="accent5"/>
                    </a:solidFill>
                  </a:tcPr>
                </a:tc>
                <a:tc>
                  <a:txBody>
                    <a:bodyPr/>
                    <a:lstStyle/>
                    <a:p>
                      <a:pPr marL="91440" algn="l" defTabSz="685800" rtl="0" eaLnBrk="1" latinLnBrk="0" hangingPunct="1">
                        <a:lnSpc>
                          <a:spcPct val="100000"/>
                        </a:lnSpc>
                      </a:pPr>
                      <a:r>
                        <a:rPr lang="en-US" sz="1050" b="1" u="none" strike="noStrike" kern="1200">
                          <a:ln w="3175">
                            <a:noFill/>
                          </a:ln>
                          <a:solidFill>
                            <a:srgbClr val="FFFFFF"/>
                          </a:solidFill>
                          <a:effectLst/>
                          <a:latin typeface="+mn-lt"/>
                          <a:ea typeface="+mn-ea"/>
                          <a:cs typeface="+mn-cs"/>
                        </a:rPr>
                        <a:t>Description</a:t>
                      </a:r>
                    </a:p>
                  </a:txBody>
                  <a:tcPr marL="5075" marR="5075" marT="9144" marB="0" anchor="ctr">
                    <a:lnL>
                      <a:noFill/>
                    </a:lnL>
                    <a:lnR>
                      <a:noFill/>
                    </a:lnR>
                    <a:lnT w="635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marL="91440" algn="l" defTabSz="685800" rtl="0" eaLnBrk="1" fontAlgn="b" latinLnBrk="0" hangingPunct="1">
                        <a:lnSpc>
                          <a:spcPct val="100000"/>
                        </a:lnSpc>
                      </a:pPr>
                      <a:r>
                        <a:rPr lang="en-US" sz="1050" b="1" u="none" strike="noStrike" kern="1200">
                          <a:ln w="3175">
                            <a:noFill/>
                          </a:ln>
                          <a:solidFill>
                            <a:srgbClr val="FFFFFF"/>
                          </a:solidFill>
                          <a:effectLst/>
                          <a:latin typeface="+mn-lt"/>
                          <a:ea typeface="+mn-ea"/>
                          <a:cs typeface="+mn-cs"/>
                        </a:rPr>
                        <a:t>Participant(s) Response</a:t>
                      </a:r>
                    </a:p>
                  </a:txBody>
                  <a:tcPr marL="5075" marR="5075" marT="9144" marB="0" anchor="ctr">
                    <a:lnL>
                      <a:noFill/>
                    </a:lnL>
                    <a:lnT w="6350" cap="flat" cmpd="sng" algn="ctr">
                      <a:solidFill>
                        <a:schemeClr val="bg1"/>
                      </a:solidFill>
                      <a:prstDash val="solid"/>
                      <a:round/>
                      <a:headEnd type="none" w="med" len="med"/>
                      <a:tailEnd type="none" w="med" len="med"/>
                    </a:lnT>
                    <a:solidFill>
                      <a:schemeClr val="accent5"/>
                    </a:solidFill>
                  </a:tcPr>
                </a:tc>
                <a:tc>
                  <a:txBody>
                    <a:bodyPr/>
                    <a:lstStyle/>
                    <a:p>
                      <a:pPr marL="91440" algn="l" defTabSz="685800" rtl="0" eaLnBrk="1" fontAlgn="b" latinLnBrk="0" hangingPunct="1">
                        <a:lnSpc>
                          <a:spcPct val="100000"/>
                        </a:lnSpc>
                      </a:pPr>
                      <a:r>
                        <a:rPr lang="en-US" sz="1050" b="1" u="none" strike="noStrike" kern="1200">
                          <a:ln w="3175">
                            <a:noFill/>
                          </a:ln>
                          <a:solidFill>
                            <a:srgbClr val="FFFFFF"/>
                          </a:solidFill>
                          <a:effectLst/>
                          <a:latin typeface="+mn-lt"/>
                          <a:ea typeface="+mn-ea"/>
                          <a:cs typeface="+mn-cs"/>
                        </a:rPr>
                        <a:t>Weightage</a:t>
                      </a:r>
                    </a:p>
                  </a:txBody>
                  <a:tcPr marL="5075" marR="5075" marT="9144" marB="0" anchor="ctr">
                    <a:lnT w="6350" cap="flat" cmpd="sng" algn="ctr">
                      <a:solidFill>
                        <a:schemeClr val="bg1"/>
                      </a:solidFill>
                      <a:prstDash val="solid"/>
                      <a:round/>
                      <a:headEnd type="none" w="med" len="med"/>
                      <a:tailEnd type="none" w="med" len="med"/>
                    </a:lnT>
                    <a:solidFill>
                      <a:schemeClr val="accent1"/>
                    </a:solidFill>
                  </a:tcPr>
                </a:tc>
                <a:extLst>
                  <a:ext uri="{0D108BD9-81ED-4DB2-BD59-A6C34878D82A}">
                    <a16:rowId xmlns:a16="http://schemas.microsoft.com/office/drawing/2014/main" val="1163502627"/>
                  </a:ext>
                </a:extLst>
              </a:tr>
              <a:tr h="1328712">
                <a:tc>
                  <a:txBody>
                    <a:bodyPr/>
                    <a:lstStyle/>
                    <a:p>
                      <a:pPr marL="91440" algn="l" fontAlgn="b">
                        <a:lnSpc>
                          <a:spcPct val="100000"/>
                        </a:lnSpc>
                      </a:pPr>
                      <a:r>
                        <a:rPr lang="en-US" sz="1000" b="0" u="none" strike="noStrike">
                          <a:ln w="3175">
                            <a:noFill/>
                          </a:ln>
                          <a:solidFill>
                            <a:srgbClr val="000000"/>
                          </a:solidFill>
                          <a:effectLst/>
                        </a:rPr>
                        <a:t>Feasibility</a:t>
                      </a:r>
                      <a:endParaRPr lang="en-US" sz="1000" b="0" i="0" u="none" strike="noStrike">
                        <a:ln w="3175">
                          <a:noFill/>
                        </a:ln>
                        <a:solidFill>
                          <a:srgbClr val="000000"/>
                        </a:solidFill>
                        <a:effectLst/>
                        <a:latin typeface="Calibri"/>
                        <a:cs typeface="Calibri"/>
                      </a:endParaRPr>
                    </a:p>
                  </a:txBody>
                  <a:tcPr marL="5075" marR="5075" marT="5075" marB="0" anchor="ctr">
                    <a:lnB w="63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91440" algn="l" fontAlgn="b">
                        <a:lnSpc>
                          <a:spcPct val="100000"/>
                        </a:lnSpc>
                      </a:pPr>
                      <a:r>
                        <a:rPr lang="en-US" sz="1000" b="0" u="none" strike="noStrike">
                          <a:ln w="3175">
                            <a:noFill/>
                          </a:ln>
                          <a:solidFill>
                            <a:srgbClr val="000000"/>
                          </a:solidFill>
                          <a:effectLst/>
                        </a:rPr>
                        <a:t>Is the proposed solution feasible to implement in terms of technical feasibility, economic viability and ability to fit within existing systems or processes? Substantiate.</a:t>
                      </a:r>
                      <a:endParaRPr lang="en-US" sz="1000" b="0" i="0" u="none" strike="noStrike">
                        <a:ln w="3175">
                          <a:noFill/>
                        </a:ln>
                        <a:solidFill>
                          <a:srgbClr val="000000"/>
                        </a:solidFill>
                        <a:effectLst/>
                        <a:latin typeface="Calibri"/>
                        <a:cs typeface="Calibri"/>
                      </a:endParaRPr>
                    </a:p>
                  </a:txBody>
                  <a:tcPr marL="5075" marR="5075" marT="5075" marB="0" anchor="ctr">
                    <a:lnT>
                      <a:noFill/>
                    </a:lnT>
                    <a:lnB w="63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91440" lvl="0" algn="l">
                        <a:lnSpc>
                          <a:spcPct val="100000"/>
                        </a:lnSpc>
                        <a:buNone/>
                      </a:pPr>
                      <a:r>
                        <a:rPr lang="en-US" sz="1000" b="1" i="0" u="none" strike="noStrike" noProof="0" dirty="0">
                          <a:ln w="3175">
                            <a:noFill/>
                          </a:ln>
                          <a:solidFill>
                            <a:srgbClr val="000000"/>
                          </a:solidFill>
                          <a:effectLst/>
                          <a:latin typeface="Calibri"/>
                          <a:ea typeface="Calibri"/>
                          <a:cs typeface="Calibri"/>
                        </a:rPr>
                        <a:t>Technical:</a:t>
                      </a:r>
                      <a:r>
                        <a:rPr lang="en-US" sz="1000" b="0" i="0" u="none" strike="noStrike" noProof="0" dirty="0">
                          <a:ln w="3175">
                            <a:noFill/>
                          </a:ln>
                          <a:solidFill>
                            <a:srgbClr val="000000"/>
                          </a:solidFill>
                          <a:effectLst/>
                          <a:latin typeface="Calibri"/>
                          <a:ea typeface="Calibri"/>
                          <a:cs typeface="Calibri"/>
                        </a:rPr>
                        <a:t> Built on proven </a:t>
                      </a:r>
                      <a:r>
                        <a:rPr lang="en-US" sz="1000" b="1" i="0" u="none" strike="noStrike" noProof="0" dirty="0">
                          <a:ln w="3175">
                            <a:noFill/>
                          </a:ln>
                          <a:solidFill>
                            <a:srgbClr val="000000"/>
                          </a:solidFill>
                          <a:effectLst/>
                          <a:latin typeface="Calibri"/>
                          <a:ea typeface="Calibri"/>
                          <a:cs typeface="Calibri"/>
                        </a:rPr>
                        <a:t>open-source tools</a:t>
                      </a:r>
                      <a:r>
                        <a:rPr lang="en-US" sz="1000" b="0" i="0" u="none" strike="noStrike" noProof="0">
                          <a:ln w="3175">
                            <a:noFill/>
                          </a:ln>
                          <a:solidFill>
                            <a:srgbClr val="000000"/>
                          </a:solidFill>
                          <a:effectLst/>
                          <a:latin typeface="Calibri"/>
                          <a:ea typeface="Calibri"/>
                          <a:cs typeface="Calibri"/>
                        </a:rPr>
                        <a:t> (scikit-learn, ML model, SHAP, </a:t>
                      </a:r>
                      <a:r>
                        <a:rPr lang="en-US" sz="1000" b="0" i="0" u="none" strike="noStrike" noProof="0" err="1">
                          <a:ln w="3175">
                            <a:noFill/>
                          </a:ln>
                          <a:solidFill>
                            <a:srgbClr val="000000"/>
                          </a:solidFill>
                          <a:effectLst/>
                          <a:latin typeface="Calibri"/>
                          <a:ea typeface="Calibri"/>
                          <a:cs typeface="Calibri"/>
                        </a:rPr>
                        <a:t>LangChain</a:t>
                      </a:r>
                      <a:r>
                        <a:rPr lang="en-US" sz="1000" b="0" i="0" u="none" strike="noStrike" noProof="0">
                          <a:ln w="3175">
                            <a:noFill/>
                          </a:ln>
                          <a:solidFill>
                            <a:srgbClr val="000000"/>
                          </a:solidFill>
                          <a:effectLst/>
                          <a:latin typeface="Calibri"/>
                          <a:ea typeface="Calibri"/>
                          <a:cs typeface="Calibri"/>
                        </a:rPr>
                        <a:t>, </a:t>
                      </a:r>
                      <a:r>
                        <a:rPr lang="en-US" sz="1000" b="0" i="0" u="none" strike="noStrike" noProof="0" err="1">
                          <a:ln w="3175">
                            <a:noFill/>
                          </a:ln>
                          <a:solidFill>
                            <a:srgbClr val="000000"/>
                          </a:solidFill>
                          <a:effectLst/>
                          <a:latin typeface="Calibri"/>
                          <a:ea typeface="Calibri"/>
                          <a:cs typeface="Calibri"/>
                        </a:rPr>
                        <a:t>FastAPI</a:t>
                      </a:r>
                      <a:r>
                        <a:rPr lang="en-US" sz="1000" b="0" i="0" u="none" strike="noStrike" noProof="0" dirty="0">
                          <a:ln w="3175">
                            <a:noFill/>
                          </a:ln>
                          <a:solidFill>
                            <a:srgbClr val="000000"/>
                          </a:solidFill>
                          <a:effectLst/>
                          <a:latin typeface="Calibri"/>
                          <a:ea typeface="Calibri"/>
                          <a:cs typeface="Calibri"/>
                        </a:rPr>
                        <a:t>, React) no experimental tech, easy to build and maintain.</a:t>
                      </a:r>
                      <a:endParaRPr lang="en-US" dirty="0"/>
                    </a:p>
                    <a:p>
                      <a:pPr marL="91440" lvl="0" algn="l">
                        <a:lnSpc>
                          <a:spcPct val="100000"/>
                        </a:lnSpc>
                        <a:buNone/>
                      </a:pPr>
                      <a:r>
                        <a:rPr lang="en-US" sz="1000" b="1" i="0" u="none" strike="noStrike" noProof="0">
                          <a:ln w="3175">
                            <a:noFill/>
                          </a:ln>
                          <a:solidFill>
                            <a:srgbClr val="000000"/>
                          </a:solidFill>
                          <a:effectLst/>
                        </a:rPr>
                        <a:t>Economic:</a:t>
                      </a:r>
                      <a:r>
                        <a:rPr lang="en-US" sz="1000" b="0" i="0" u="none" strike="noStrike" noProof="0" dirty="0">
                          <a:ln w="3175">
                            <a:noFill/>
                          </a:ln>
                          <a:solidFill>
                            <a:srgbClr val="000000"/>
                          </a:solidFill>
                          <a:effectLst/>
                        </a:rPr>
                        <a:t> </a:t>
                      </a:r>
                      <a:r>
                        <a:rPr lang="en-US" sz="1000" b="1" i="0" u="none" strike="noStrike" noProof="0">
                          <a:ln w="3175">
                            <a:noFill/>
                          </a:ln>
                          <a:solidFill>
                            <a:srgbClr val="000000"/>
                          </a:solidFill>
                          <a:effectLst/>
                        </a:rPr>
                        <a:t>Apache 2.0/MIT-licensed</a:t>
                      </a:r>
                      <a:r>
                        <a:rPr lang="en-US" sz="1000" b="0" i="0" u="none" strike="noStrike" noProof="0">
                          <a:ln w="3175">
                            <a:noFill/>
                          </a:ln>
                          <a:solidFill>
                            <a:srgbClr val="000000"/>
                          </a:solidFill>
                          <a:effectLst/>
                        </a:rPr>
                        <a:t> stack </a:t>
                      </a:r>
                      <a:r>
                        <a:rPr lang="en-US" sz="1000" b="1" i="0" u="none" strike="noStrike" noProof="0">
                          <a:ln w="3175">
                            <a:noFill/>
                          </a:ln>
                          <a:solidFill>
                            <a:srgbClr val="000000"/>
                          </a:solidFill>
                          <a:effectLst/>
                        </a:rPr>
                        <a:t>zero licensing cost</a:t>
                      </a:r>
                      <a:r>
                        <a:rPr lang="en-US" sz="1000" b="0" i="0" u="none" strike="noStrike" noProof="0">
                          <a:ln w="3175">
                            <a:noFill/>
                          </a:ln>
                          <a:solidFill>
                            <a:srgbClr val="000000"/>
                          </a:solidFill>
                          <a:effectLst/>
                        </a:rPr>
                        <a:t>. Only the LLM API call has a running cost, and even that's swappable for a free </a:t>
                      </a:r>
                      <a:r>
                        <a:rPr lang="en-US" sz="1000" b="1" i="0" u="none" strike="noStrike" noProof="0">
                          <a:ln w="3175">
                            <a:noFill/>
                          </a:ln>
                          <a:solidFill>
                            <a:srgbClr val="000000"/>
                          </a:solidFill>
                          <a:effectLst/>
                        </a:rPr>
                        <a:t>open-weight model</a:t>
                      </a:r>
                      <a:r>
                        <a:rPr lang="en-US" sz="1000" b="0" i="0" u="none" strike="noStrike" noProof="0">
                          <a:ln w="3175">
                            <a:noFill/>
                          </a:ln>
                          <a:solidFill>
                            <a:srgbClr val="000000"/>
                          </a:solidFill>
                          <a:effectLst/>
                        </a:rPr>
                        <a:t>.</a:t>
                      </a:r>
                      <a:endParaRPr lang="en-US"/>
                    </a:p>
                    <a:p>
                      <a:pPr marL="91440" lvl="0" algn="l">
                        <a:lnSpc>
                          <a:spcPct val="100000"/>
                        </a:lnSpc>
                        <a:buNone/>
                      </a:pPr>
                      <a:r>
                        <a:rPr lang="en-US" sz="1000" b="1" i="0" u="none" strike="noStrike" noProof="0">
                          <a:ln w="3175">
                            <a:noFill/>
                          </a:ln>
                          <a:solidFill>
                            <a:srgbClr val="000000"/>
                          </a:solidFill>
                          <a:effectLst/>
                        </a:rPr>
                        <a:t>Integration:</a:t>
                      </a:r>
                      <a:r>
                        <a:rPr lang="en-US" sz="1000" b="0" i="0" u="none" strike="noStrike" noProof="0" dirty="0">
                          <a:ln w="3175">
                            <a:noFill/>
                          </a:ln>
                          <a:solidFill>
                            <a:srgbClr val="000000"/>
                          </a:solidFill>
                          <a:effectLst/>
                        </a:rPr>
                        <a:t> </a:t>
                      </a:r>
                      <a:r>
                        <a:rPr lang="en-US" sz="1000" b="1" i="0" u="none" strike="noStrike" noProof="0">
                          <a:ln w="3175">
                            <a:noFill/>
                          </a:ln>
                          <a:solidFill>
                            <a:srgbClr val="000000"/>
                          </a:solidFill>
                          <a:effectLst/>
                        </a:rPr>
                        <a:t>REST-API-first</a:t>
                      </a:r>
                      <a:r>
                        <a:rPr lang="en-US" sz="1000" b="0" i="0" u="none" strike="noStrike" noProof="0">
                          <a:ln w="3175">
                            <a:noFill/>
                          </a:ln>
                          <a:solidFill>
                            <a:srgbClr val="000000"/>
                          </a:solidFill>
                          <a:effectLst/>
                        </a:rPr>
                        <a:t> design plugs into existing CRM/billing/support systems with no rip-and-replace, avoiding the #1 reason enterprise AI pilots fail: adoption friction.</a:t>
                      </a:r>
                      <a:endParaRPr lang="en-US"/>
                    </a:p>
                    <a:p>
                      <a:pPr marL="91440" lvl="0" algn="l">
                        <a:lnSpc>
                          <a:spcPct val="100000"/>
                        </a:lnSpc>
                        <a:buNone/>
                      </a:pPr>
                      <a:r>
                        <a:rPr lang="en-US" sz="1000" b="1" i="0" u="none" strike="noStrike" noProof="0">
                          <a:ln w="3175">
                            <a:noFill/>
                          </a:ln>
                          <a:solidFill>
                            <a:srgbClr val="000000"/>
                          </a:solidFill>
                          <a:effectLst/>
                          <a:latin typeface="Calibri"/>
                          <a:ea typeface="Calibri"/>
                          <a:cs typeface="Calibri"/>
                        </a:rPr>
                        <a:t>Data:</a:t>
                      </a:r>
                      <a:r>
                        <a:rPr lang="en-US" sz="1000" b="0" i="0" u="none" strike="noStrike" noProof="0">
                          <a:ln w="3175">
                            <a:noFill/>
                          </a:ln>
                          <a:solidFill>
                            <a:srgbClr val="000000"/>
                          </a:solidFill>
                          <a:effectLst/>
                          <a:latin typeface="Calibri"/>
                          <a:ea typeface="Calibri"/>
                          <a:cs typeface="Calibri"/>
                        </a:rPr>
                        <a:t> Runs on data companies already collect (logins, feature usage, tickets) </a:t>
                      </a:r>
                      <a:r>
                        <a:rPr lang="en-US" sz="1000" b="1" i="0" u="none" strike="noStrike" noProof="0">
                          <a:ln w="3175">
                            <a:noFill/>
                          </a:ln>
                          <a:solidFill>
                            <a:srgbClr val="000000"/>
                          </a:solidFill>
                          <a:effectLst/>
                          <a:latin typeface="Calibri"/>
                          <a:ea typeface="Calibri"/>
                          <a:cs typeface="Calibri"/>
                        </a:rPr>
                        <a:t>no new data infrastructure</a:t>
                      </a:r>
                      <a:r>
                        <a:rPr lang="en-US" sz="1000" b="0" i="0" u="none" strike="noStrike" noProof="0" dirty="0">
                          <a:ln w="3175">
                            <a:noFill/>
                          </a:ln>
                          <a:solidFill>
                            <a:srgbClr val="000000"/>
                          </a:solidFill>
                          <a:effectLst/>
                          <a:latin typeface="Calibri"/>
                          <a:ea typeface="Calibri"/>
                          <a:cs typeface="Calibri"/>
                        </a:rPr>
                        <a:t> </a:t>
                      </a:r>
                      <a:r>
                        <a:rPr lang="en-US" sz="1000" b="0" i="0" u="none" strike="noStrike" noProof="0">
                          <a:ln w="3175">
                            <a:noFill/>
                          </a:ln>
                          <a:solidFill>
                            <a:srgbClr val="000000"/>
                          </a:solidFill>
                          <a:effectLst/>
                          <a:latin typeface="Calibri"/>
                          <a:ea typeface="Calibri"/>
                          <a:cs typeface="Calibri"/>
                        </a:rPr>
                        <a:t>required.</a:t>
                      </a:r>
                      <a:endParaRPr lang="en-US"/>
                    </a:p>
                    <a:p>
                      <a:pPr marL="91440" lvl="0" algn="l">
                        <a:lnSpc>
                          <a:spcPct val="100000"/>
                        </a:lnSpc>
                        <a:buNone/>
                      </a:pPr>
                      <a:endParaRPr lang="en-US" sz="1000" b="0" i="0" u="none" strike="noStrike" noProof="0">
                        <a:ln w="3175">
                          <a:noFill/>
                        </a:ln>
                        <a:solidFill>
                          <a:srgbClr val="000000"/>
                        </a:solidFill>
                        <a:effectLst/>
                      </a:endParaRPr>
                    </a:p>
                  </a:txBody>
                  <a:tcPr marL="5075" marR="5075" marT="5075" marB="0" anchor="ctr">
                    <a:lnB w="63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91440" algn="ctr" fontAlgn="b">
                        <a:lnSpc>
                          <a:spcPct val="100000"/>
                        </a:lnSpc>
                      </a:pPr>
                      <a:r>
                        <a:rPr lang="en-US" sz="1000" b="0" u="none" strike="noStrike">
                          <a:ln w="3175">
                            <a:noFill/>
                          </a:ln>
                          <a:solidFill>
                            <a:srgbClr val="000000"/>
                          </a:solidFill>
                          <a:effectLst/>
                        </a:rPr>
                        <a:t>10</a:t>
                      </a:r>
                      <a:endParaRPr lang="en-US" sz="1000" b="0" i="0" u="none" strike="noStrike">
                        <a:ln w="3175">
                          <a:noFill/>
                        </a:ln>
                        <a:solidFill>
                          <a:srgbClr val="000000"/>
                        </a:solidFill>
                        <a:effectLst/>
                        <a:latin typeface="Calibri"/>
                        <a:cs typeface="Calibri"/>
                      </a:endParaRPr>
                    </a:p>
                  </a:txBody>
                  <a:tcPr marL="5075" marR="5075" marT="5075" marB="0" anchor="ctr" anchorCtr="1">
                    <a:lnB w="63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893493508"/>
                  </a:ext>
                </a:extLst>
              </a:tr>
              <a:tr h="1427137">
                <a:tc>
                  <a:txBody>
                    <a:bodyPr/>
                    <a:lstStyle/>
                    <a:p>
                      <a:pPr marL="91440">
                        <a:lnSpc>
                          <a:spcPct val="100000"/>
                        </a:lnSpc>
                      </a:pPr>
                      <a:r>
                        <a:rPr lang="en-US" sz="1000" b="0" u="none" strike="noStrike">
                          <a:ln w="3175">
                            <a:noFill/>
                          </a:ln>
                          <a:solidFill>
                            <a:srgbClr val="000000"/>
                          </a:solidFill>
                          <a:effectLst/>
                        </a:rPr>
                        <a:t>Flexibility &amp; Scalability</a:t>
                      </a:r>
                      <a:endParaRPr lang="en-US"/>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tc>
                  <a:txBody>
                    <a:bodyPr/>
                    <a:lstStyle/>
                    <a:p>
                      <a:pPr marL="91440">
                        <a:lnSpc>
                          <a:spcPct val="100000"/>
                        </a:lnSpc>
                      </a:pPr>
                      <a:r>
                        <a:rPr lang="en-US" sz="1000" b="0" u="none" strike="noStrike">
                          <a:ln w="3175">
                            <a:noFill/>
                          </a:ln>
                          <a:solidFill>
                            <a:srgbClr val="000000"/>
                          </a:solidFill>
                          <a:effectLst/>
                        </a:rPr>
                        <a:t>Is the proposed solution flexible to accommodate future growth or changes in business needs and does it also have the potential to be expanded or replicated on a larger scale? Substantiate.</a:t>
                      </a:r>
                      <a:endParaRPr lang="en-US"/>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tc>
                  <a:txBody>
                    <a:bodyPr/>
                    <a:lstStyle/>
                    <a:p>
                      <a:pPr marL="91440" lvl="0" algn="l">
                        <a:lnSpc>
                          <a:spcPct val="100000"/>
                        </a:lnSpc>
                        <a:buNone/>
                      </a:pPr>
                      <a:r>
                        <a:rPr lang="en-US" sz="1000" b="1" i="0" u="none" strike="noStrike" noProof="0">
                          <a:ln w="3175">
                            <a:noFill/>
                          </a:ln>
                          <a:solidFill>
                            <a:srgbClr val="000000"/>
                          </a:solidFill>
                          <a:effectLst/>
                        </a:rPr>
                        <a:t>Modular architecture:</a:t>
                      </a:r>
                      <a:r>
                        <a:rPr lang="en-US" sz="1000" b="0" i="0" u="none" strike="noStrike" noProof="0">
                          <a:ln w="3175">
                            <a:noFill/>
                          </a:ln>
                          <a:solidFill>
                            <a:srgbClr val="000000"/>
                          </a:solidFill>
                          <a:effectLst/>
                        </a:rPr>
                        <a:t> Each agent (prediction, explanation, outreach) runs independently, so any part can scale on its own without affecting the rest.</a:t>
                      </a:r>
                    </a:p>
                    <a:p>
                      <a:pPr marL="91440" lvl="0" algn="l">
                        <a:lnSpc>
                          <a:spcPct val="100000"/>
                        </a:lnSpc>
                        <a:buNone/>
                      </a:pPr>
                      <a:r>
                        <a:rPr lang="en-US" sz="1000" b="1" i="0" u="none" strike="noStrike" noProof="0">
                          <a:ln w="3175">
                            <a:noFill/>
                          </a:ln>
                          <a:solidFill>
                            <a:srgbClr val="000000"/>
                          </a:solidFill>
                          <a:effectLst/>
                          <a:latin typeface="Calibri"/>
                          <a:ea typeface="Calibri"/>
                          <a:cs typeface="Calibri"/>
                        </a:rPr>
                        <a:t>Swappable components:</a:t>
                      </a:r>
                      <a:r>
                        <a:rPr lang="en-US" sz="1000" b="0" i="0" u="none" strike="noStrike" noProof="0">
                          <a:ln w="3175">
                            <a:noFill/>
                          </a:ln>
                          <a:solidFill>
                            <a:srgbClr val="000000"/>
                          </a:solidFill>
                          <a:effectLst/>
                          <a:latin typeface="Calibri"/>
                          <a:ea typeface="Calibri"/>
                          <a:cs typeface="Calibri"/>
                        </a:rPr>
                        <a:t> The LLM can switch between API-based and self-hosted; the ML model can be retrained on new data all without touching other layers.</a:t>
                      </a:r>
                    </a:p>
                    <a:p>
                      <a:pPr marL="91440" lvl="0" algn="l">
                        <a:lnSpc>
                          <a:spcPct val="100000"/>
                        </a:lnSpc>
                        <a:buNone/>
                      </a:pPr>
                      <a:r>
                        <a:rPr lang="en-US" sz="1000" b="1" i="0" u="none" strike="noStrike" noProof="0" dirty="0">
                          <a:ln w="3175">
                            <a:noFill/>
                          </a:ln>
                          <a:solidFill>
                            <a:srgbClr val="000000"/>
                          </a:solidFill>
                          <a:effectLst/>
                        </a:rPr>
                        <a:t>Horizontal scalability:</a:t>
                      </a:r>
                      <a:r>
                        <a:rPr lang="en-US" sz="1000" b="0" i="0" u="none" strike="noStrike" noProof="0" dirty="0">
                          <a:ln w="3175">
                            <a:noFill/>
                          </a:ln>
                          <a:solidFill>
                            <a:srgbClr val="000000"/>
                          </a:solidFill>
                          <a:effectLst/>
                        </a:rPr>
                        <a:t> Built on stateless </a:t>
                      </a:r>
                      <a:r>
                        <a:rPr lang="en-US" sz="1000" b="1" i="0" u="none" strike="noStrike" noProof="0" dirty="0" err="1">
                          <a:ln w="3175">
                            <a:noFill/>
                          </a:ln>
                          <a:solidFill>
                            <a:srgbClr val="000000"/>
                          </a:solidFill>
                          <a:effectLst/>
                        </a:rPr>
                        <a:t>FastAPI</a:t>
                      </a:r>
                      <a:r>
                        <a:rPr lang="en-US" sz="1000" b="0" i="0" u="none" strike="noStrike" noProof="0" dirty="0">
                          <a:ln w="3175">
                            <a:noFill/>
                          </a:ln>
                          <a:solidFill>
                            <a:srgbClr val="000000"/>
                          </a:solidFill>
                          <a:effectLst/>
                        </a:rPr>
                        <a:t> services that can be containerized and scaled with </a:t>
                      </a:r>
                      <a:r>
                        <a:rPr lang="en-US" sz="1000" b="1" i="0" u="none" strike="noStrike" noProof="0" dirty="0">
                          <a:ln w="3175">
                            <a:noFill/>
                          </a:ln>
                          <a:solidFill>
                            <a:srgbClr val="000000"/>
                          </a:solidFill>
                          <a:effectLst/>
                        </a:rPr>
                        <a:t>Kubernetes</a:t>
                      </a:r>
                      <a:r>
                        <a:rPr lang="en-US" sz="1000" b="0" i="0" u="none" strike="noStrike" noProof="0" dirty="0">
                          <a:ln w="3175">
                            <a:noFill/>
                          </a:ln>
                          <a:solidFill>
                            <a:srgbClr val="000000"/>
                          </a:solidFill>
                          <a:effectLst/>
                        </a:rPr>
                        <a:t> as customer volume grows.</a:t>
                      </a:r>
                    </a:p>
                    <a:p>
                      <a:pPr marL="91440" lvl="0" algn="l">
                        <a:lnSpc>
                          <a:spcPct val="100000"/>
                        </a:lnSpc>
                        <a:buNone/>
                      </a:pPr>
                      <a:r>
                        <a:rPr lang="en-US" sz="1000" b="1" i="0" u="none" strike="noStrike" noProof="0">
                          <a:ln w="3175">
                            <a:noFill/>
                          </a:ln>
                          <a:solidFill>
                            <a:srgbClr val="000000"/>
                          </a:solidFill>
                          <a:effectLst/>
                          <a:latin typeface="Calibri"/>
                          <a:ea typeface="Calibri"/>
                          <a:cs typeface="Calibri"/>
                        </a:rPr>
                        <a:t>Cross-industry fit:</a:t>
                      </a:r>
                      <a:r>
                        <a:rPr lang="en-US" sz="1000" b="0" i="0" u="none" strike="noStrike" noProof="0">
                          <a:ln w="3175">
                            <a:noFill/>
                          </a:ln>
                          <a:solidFill>
                            <a:srgbClr val="000000"/>
                          </a:solidFill>
                          <a:effectLst/>
                          <a:latin typeface="Calibri"/>
                          <a:ea typeface="Calibri"/>
                          <a:cs typeface="Calibri"/>
                        </a:rPr>
                        <a:t> The same </a:t>
                      </a:r>
                      <a:r>
                        <a:rPr lang="en-US" sz="1000" b="1" i="0" u="none" strike="noStrike" noProof="0">
                          <a:ln w="3175">
                            <a:noFill/>
                          </a:ln>
                          <a:solidFill>
                            <a:srgbClr val="000000"/>
                          </a:solidFill>
                          <a:effectLst/>
                          <a:latin typeface="Calibri"/>
                          <a:ea typeface="Calibri"/>
                          <a:cs typeface="Calibri"/>
                        </a:rPr>
                        <a:t>Predict → Explain → Act</a:t>
                      </a:r>
                      <a:r>
                        <a:rPr lang="en-US" sz="1000" b="0" i="0" u="none" strike="noStrike" noProof="0">
                          <a:ln w="3175">
                            <a:noFill/>
                          </a:ln>
                          <a:solidFill>
                            <a:srgbClr val="000000"/>
                          </a:solidFill>
                          <a:effectLst/>
                          <a:latin typeface="Calibri"/>
                          <a:ea typeface="Calibri"/>
                          <a:cs typeface="Calibri"/>
                        </a:rPr>
                        <a:t> pattern works anywhere retention matters — telecom, fintech, edtech, streaming making it a </a:t>
                      </a:r>
                      <a:r>
                        <a:rPr lang="en-US" sz="1000" b="1" i="0" u="none" strike="noStrike" noProof="0">
                          <a:ln w="3175">
                            <a:noFill/>
                          </a:ln>
                          <a:solidFill>
                            <a:srgbClr val="000000"/>
                          </a:solidFill>
                          <a:effectLst/>
                          <a:latin typeface="Calibri"/>
                          <a:ea typeface="Calibri"/>
                          <a:cs typeface="Calibri"/>
                        </a:rPr>
                        <a:t>general retention-intelligence framework</a:t>
                      </a:r>
                      <a:r>
                        <a:rPr lang="en-US" sz="1000" b="0" i="0" u="none" strike="noStrike" noProof="0">
                          <a:ln w="3175">
                            <a:noFill/>
                          </a:ln>
                          <a:solidFill>
                            <a:srgbClr val="000000"/>
                          </a:solidFill>
                          <a:effectLst/>
                          <a:latin typeface="Calibri"/>
                          <a:ea typeface="Calibri"/>
                          <a:cs typeface="Calibri"/>
                        </a:rPr>
                        <a:t>, not just a SaaS tool.</a:t>
                      </a:r>
                    </a:p>
                    <a:p>
                      <a:pPr marL="91440" lvl="0" algn="l">
                        <a:lnSpc>
                          <a:spcPct val="100000"/>
                        </a:lnSpc>
                        <a:buNone/>
                      </a:pPr>
                      <a:endParaRPr lang="en-US" sz="1000" b="0" i="0" u="none" strike="noStrike" noProof="0">
                        <a:ln w="3175">
                          <a:noFill/>
                        </a:ln>
                        <a:solidFill>
                          <a:srgbClr val="000000"/>
                        </a:solidFill>
                        <a:effectLst/>
                        <a:latin typeface="Calibri"/>
                        <a:ea typeface="Calibri"/>
                        <a:cs typeface="Calibri"/>
                      </a:endParaRP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tc rowSpan="2">
                  <a:txBody>
                    <a:bodyPr/>
                    <a:lstStyle/>
                    <a:p>
                      <a:pPr marL="91440" algn="ctr" fontAlgn="b">
                        <a:lnSpc>
                          <a:spcPct val="100000"/>
                        </a:lnSpc>
                      </a:pPr>
                      <a:r>
                        <a:rPr lang="en-US" sz="1000" b="0" u="none" strike="noStrike">
                          <a:ln w="3175">
                            <a:noFill/>
                          </a:ln>
                          <a:solidFill>
                            <a:srgbClr val="000000"/>
                          </a:solidFill>
                          <a:effectLst/>
                        </a:rPr>
                        <a:t>10</a:t>
                      </a:r>
                      <a:endParaRPr lang="en-US" sz="1000" b="0" i="0" u="none" strike="noStrike">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nchorCtr="1">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extLst>
                  <a:ext uri="{0D108BD9-81ED-4DB2-BD59-A6C34878D82A}">
                    <a16:rowId xmlns:a16="http://schemas.microsoft.com/office/drawing/2014/main" val="644706813"/>
                  </a:ext>
                </a:extLst>
              </a:tr>
              <a:tr h="1107262">
                <a:tc>
                  <a:txBody>
                    <a:bodyPr/>
                    <a:lstStyle/>
                    <a:p>
                      <a:pPr marL="91440" algn="l" fontAlgn="b">
                        <a:lnSpc>
                          <a:spcPct val="100000"/>
                        </a:lnSpc>
                      </a:pPr>
                      <a:r>
                        <a:rPr lang="en-US" sz="1000" b="0" u="none" strike="noStrike">
                          <a:ln w="3175">
                            <a:noFill/>
                          </a:ln>
                          <a:solidFill>
                            <a:srgbClr val="000000"/>
                          </a:solidFill>
                          <a:effectLst/>
                        </a:rPr>
                        <a:t>Security &amp; Compliance</a:t>
                      </a:r>
                      <a:endParaRPr lang="en-US" sz="1000" b="0" i="0" u="none" strike="noStrike">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tc>
                  <a:txBody>
                    <a:bodyPr/>
                    <a:lstStyle/>
                    <a:p>
                      <a:pPr marL="91440" algn="l" fontAlgn="b">
                        <a:lnSpc>
                          <a:spcPct val="100000"/>
                        </a:lnSpc>
                      </a:pPr>
                      <a:r>
                        <a:rPr lang="en-US" sz="1000" b="0" u="none" strike="noStrike">
                          <a:ln w="3175">
                            <a:noFill/>
                          </a:ln>
                          <a:solidFill>
                            <a:srgbClr val="000000"/>
                          </a:solidFill>
                          <a:effectLst/>
                        </a:rPr>
                        <a:t>Does the proposed solution meet all necessary security standards and regulations relevant to the industry which includes data protection and privacy regulations. Illustrate.</a:t>
                      </a:r>
                      <a:endParaRPr lang="en-US" sz="1000" b="0" i="0" u="none" strike="noStrike">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tc>
                  <a:txBody>
                    <a:bodyPr/>
                    <a:lstStyle/>
                    <a:p>
                      <a:pPr lvl="0" algn="l">
                        <a:lnSpc>
                          <a:spcPct val="100000"/>
                        </a:lnSpc>
                        <a:spcBef>
                          <a:spcPts val="0"/>
                        </a:spcBef>
                        <a:spcAft>
                          <a:spcPts val="0"/>
                        </a:spcAft>
                        <a:buNone/>
                      </a:pPr>
                      <a:r>
                        <a:rPr lang="en-US" sz="1000" b="0" i="0" u="none" strike="noStrike" noProof="0" dirty="0">
                          <a:ln w="3175">
                            <a:noFill/>
                          </a:ln>
                          <a:solidFill>
                            <a:srgbClr val="000000"/>
                          </a:solidFill>
                          <a:effectLst/>
                          <a:latin typeface="Calibri"/>
                          <a:ea typeface="Calibri"/>
                          <a:cs typeface="Calibri"/>
                        </a:rPr>
                        <a:t>   </a:t>
                      </a:r>
                      <a:r>
                        <a:rPr lang="en-US" sz="1000" b="1" i="0" u="none" strike="noStrike" noProof="0">
                          <a:ln w="3175">
                            <a:noFill/>
                          </a:ln>
                          <a:solidFill>
                            <a:srgbClr val="000000"/>
                          </a:solidFill>
                          <a:effectLst/>
                        </a:rPr>
                        <a:t>Data protection:</a:t>
                      </a:r>
                      <a:r>
                        <a:rPr lang="en-US" sz="1000" b="0" i="0" u="none" strike="noStrike" noProof="0">
                          <a:ln w="3175">
                            <a:noFill/>
                          </a:ln>
                          <a:solidFill>
                            <a:srgbClr val="000000"/>
                          </a:solidFill>
                          <a:effectLst/>
                        </a:rPr>
                        <a:t> Data encrypted end to end; personal info </a:t>
                      </a:r>
                      <a:r>
                        <a:rPr lang="en-US" sz="1000" b="1" i="0" u="none" strike="noStrike" noProof="0">
                          <a:ln w="3175">
                            <a:noFill/>
                          </a:ln>
                          <a:solidFill>
                            <a:srgbClr val="000000"/>
                          </a:solidFill>
                          <a:effectLst/>
                        </a:rPr>
                        <a:t>(PII)</a:t>
                      </a:r>
                      <a:r>
                        <a:rPr lang="en-US" sz="1000" b="0" i="0" u="none" strike="noStrike" noProof="0">
                          <a:ln w="3175">
                            <a:noFill/>
                          </a:ln>
                          <a:solidFill>
                            <a:srgbClr val="000000"/>
                          </a:solidFill>
                          <a:effectLst/>
                        </a:rPr>
                        <a:t> anonymized before use.</a:t>
                      </a:r>
                      <a:endParaRPr lang="en-US"/>
                    </a:p>
                    <a:p>
                      <a:pPr lvl="0" algn="l">
                        <a:lnSpc>
                          <a:spcPct val="100000"/>
                        </a:lnSpc>
                        <a:spcBef>
                          <a:spcPts val="0"/>
                        </a:spcBef>
                        <a:spcAft>
                          <a:spcPts val="0"/>
                        </a:spcAft>
                        <a:buNone/>
                      </a:pPr>
                      <a:r>
                        <a:rPr lang="en-US" sz="1000" b="0" i="0" u="none" strike="noStrike" noProof="0" dirty="0">
                          <a:ln w="3175">
                            <a:noFill/>
                          </a:ln>
                          <a:solidFill>
                            <a:srgbClr val="000000"/>
                          </a:solidFill>
                          <a:effectLst/>
                        </a:rPr>
                        <a:t>   </a:t>
                      </a:r>
                      <a:r>
                        <a:rPr lang="en-US" sz="1000" b="1" i="0" u="none" strike="noStrike" noProof="0">
                          <a:ln w="3175">
                            <a:noFill/>
                          </a:ln>
                          <a:solidFill>
                            <a:srgbClr val="000000"/>
                          </a:solidFill>
                          <a:effectLst/>
                          <a:latin typeface="Calibri"/>
                          <a:ea typeface="Calibri"/>
                          <a:cs typeface="Calibri"/>
                        </a:rPr>
                        <a:t>Access control:</a:t>
                      </a:r>
                      <a:r>
                        <a:rPr lang="en-US" sz="1000" b="0" i="0" u="none" strike="noStrike" noProof="0" dirty="0">
                          <a:ln w="3175">
                            <a:noFill/>
                          </a:ln>
                          <a:solidFill>
                            <a:srgbClr val="000000"/>
                          </a:solidFill>
                          <a:effectLst/>
                          <a:latin typeface="Calibri"/>
                          <a:ea typeface="Calibri"/>
                          <a:cs typeface="Calibri"/>
                        </a:rPr>
                        <a:t> </a:t>
                      </a:r>
                      <a:r>
                        <a:rPr lang="en-US" sz="1000" b="1" i="0" u="none" strike="noStrike" noProof="0">
                          <a:ln w="3175">
                            <a:noFill/>
                          </a:ln>
                          <a:solidFill>
                            <a:srgbClr val="000000"/>
                          </a:solidFill>
                          <a:effectLst/>
                          <a:latin typeface="Calibri"/>
                          <a:ea typeface="Calibri"/>
                          <a:cs typeface="Calibri"/>
                        </a:rPr>
                        <a:t>RBAC</a:t>
                      </a:r>
                      <a:r>
                        <a:rPr lang="en-US" sz="1000" b="0" i="0" u="none" strike="noStrike" noProof="0">
                          <a:ln w="3175">
                            <a:noFill/>
                          </a:ln>
                          <a:solidFill>
                            <a:srgbClr val="000000"/>
                          </a:solidFill>
                          <a:effectLst/>
                          <a:latin typeface="Calibri"/>
                          <a:ea typeface="Calibri"/>
                          <a:cs typeface="Calibri"/>
                        </a:rPr>
                        <a:t> — only authorized staff can view risk scores &amp; outreach drafts.</a:t>
                      </a:r>
                    </a:p>
                    <a:p>
                      <a:pPr lvl="0" algn="l">
                        <a:lnSpc>
                          <a:spcPct val="100000"/>
                        </a:lnSpc>
                        <a:spcBef>
                          <a:spcPts val="0"/>
                        </a:spcBef>
                        <a:spcAft>
                          <a:spcPts val="0"/>
                        </a:spcAft>
                        <a:buNone/>
                      </a:pPr>
                      <a:r>
                        <a:rPr lang="en-US" sz="1000" b="0" i="0" u="none" strike="noStrike" noProof="0" dirty="0">
                          <a:ln w="3175">
                            <a:noFill/>
                          </a:ln>
                          <a:solidFill>
                            <a:srgbClr val="000000"/>
                          </a:solidFill>
                          <a:effectLst/>
                          <a:latin typeface="Calibri"/>
                          <a:ea typeface="Calibri"/>
                          <a:cs typeface="Calibri"/>
                        </a:rPr>
                        <a:t>   </a:t>
                      </a:r>
                      <a:r>
                        <a:rPr lang="en-US" sz="1000" b="1" i="0" u="none" strike="noStrike" noProof="0">
                          <a:ln w="3175">
                            <a:noFill/>
                          </a:ln>
                          <a:solidFill>
                            <a:srgbClr val="000000"/>
                          </a:solidFill>
                          <a:effectLst/>
                        </a:rPr>
                        <a:t>Compliance:</a:t>
                      </a:r>
                      <a:r>
                        <a:rPr lang="en-US" sz="1000" b="0" i="0" u="none" strike="noStrike" noProof="0">
                          <a:ln w="3175">
                            <a:noFill/>
                          </a:ln>
                          <a:solidFill>
                            <a:srgbClr val="000000"/>
                          </a:solidFill>
                          <a:effectLst/>
                        </a:rPr>
                        <a:t> Follows </a:t>
                      </a:r>
                      <a:r>
                        <a:rPr lang="en-US" sz="1000" b="1" i="0" u="none" strike="noStrike" noProof="0">
                          <a:ln w="3175">
                            <a:noFill/>
                          </a:ln>
                          <a:solidFill>
                            <a:srgbClr val="000000"/>
                          </a:solidFill>
                          <a:effectLst/>
                        </a:rPr>
                        <a:t>GDPR</a:t>
                      </a:r>
                      <a:r>
                        <a:rPr lang="en-US" sz="1000" b="0" i="0" u="none" strike="noStrike" noProof="0">
                          <a:ln w="3175">
                            <a:noFill/>
                          </a:ln>
                          <a:solidFill>
                            <a:srgbClr val="000000"/>
                          </a:solidFill>
                          <a:effectLst/>
                        </a:rPr>
                        <a:t> &amp; </a:t>
                      </a:r>
                      <a:r>
                        <a:rPr lang="en-US" sz="1000" b="1" i="0" u="none" strike="noStrike" noProof="0">
                          <a:ln w="3175">
                            <a:noFill/>
                          </a:ln>
                          <a:solidFill>
                            <a:srgbClr val="000000"/>
                          </a:solidFill>
                          <a:effectLst/>
                        </a:rPr>
                        <a:t>India's DPDP Act</a:t>
                      </a:r>
                      <a:r>
                        <a:rPr lang="en-US" sz="1000" b="0" i="0" u="none" strike="noStrike" noProof="0">
                          <a:ln w="3175">
                            <a:noFill/>
                          </a:ln>
                          <a:solidFill>
                            <a:srgbClr val="000000"/>
                          </a:solidFill>
                          <a:effectLst/>
                        </a:rPr>
                        <a:t> for data privacy.</a:t>
                      </a:r>
                    </a:p>
                    <a:p>
                      <a:pPr lvl="0" algn="l">
                        <a:lnSpc>
                          <a:spcPct val="100000"/>
                        </a:lnSpc>
                        <a:spcBef>
                          <a:spcPts val="0"/>
                        </a:spcBef>
                        <a:spcAft>
                          <a:spcPts val="0"/>
                        </a:spcAft>
                        <a:buNone/>
                      </a:pPr>
                      <a:r>
                        <a:rPr lang="en-US" sz="1000" b="0" i="0" u="none" strike="noStrike" noProof="0" dirty="0">
                          <a:ln w="3175">
                            <a:noFill/>
                          </a:ln>
                          <a:solidFill>
                            <a:srgbClr val="000000"/>
                          </a:solidFill>
                          <a:effectLst/>
                        </a:rPr>
                        <a:t>   </a:t>
                      </a:r>
                      <a:r>
                        <a:rPr lang="en-US" sz="1000" b="1" i="0" u="none" strike="noStrike" noProof="0">
                          <a:ln w="3175">
                            <a:noFill/>
                          </a:ln>
                          <a:solidFill>
                            <a:srgbClr val="000000"/>
                          </a:solidFill>
                          <a:effectLst/>
                          <a:latin typeface="Calibri"/>
                          <a:ea typeface="Calibri"/>
                          <a:cs typeface="Calibri"/>
                        </a:rPr>
                        <a:t>Auditability:</a:t>
                      </a:r>
                      <a:r>
                        <a:rPr lang="en-US" sz="1000" b="0" i="0" u="none" strike="noStrike" noProof="0" dirty="0">
                          <a:ln w="3175">
                            <a:noFill/>
                          </a:ln>
                          <a:solidFill>
                            <a:srgbClr val="000000"/>
                          </a:solidFill>
                          <a:effectLst/>
                          <a:latin typeface="Calibri"/>
                          <a:ea typeface="Calibri"/>
                          <a:cs typeface="Calibri"/>
                        </a:rPr>
                        <a:t> </a:t>
                      </a:r>
                      <a:r>
                        <a:rPr lang="en-US" sz="1000" b="1" i="0" u="none" strike="noStrike" noProof="0">
                          <a:ln w="3175">
                            <a:noFill/>
                          </a:ln>
                          <a:solidFill>
                            <a:srgbClr val="000000"/>
                          </a:solidFill>
                          <a:effectLst/>
                          <a:latin typeface="Calibri"/>
                          <a:ea typeface="Calibri"/>
                          <a:cs typeface="Calibri"/>
                        </a:rPr>
                        <a:t>SHAP</a:t>
                      </a:r>
                      <a:r>
                        <a:rPr lang="en-US" sz="1000" b="0" i="0" u="none" strike="noStrike" noProof="0">
                          <a:ln w="3175">
                            <a:noFill/>
                          </a:ln>
                          <a:solidFill>
                            <a:srgbClr val="000000"/>
                          </a:solidFill>
                          <a:effectLst/>
                          <a:latin typeface="Calibri"/>
                          <a:ea typeface="Calibri"/>
                          <a:cs typeface="Calibri"/>
                        </a:rPr>
                        <a:t> makes every AI decision traceable and explainable.</a:t>
                      </a:r>
                    </a:p>
                    <a:p>
                      <a:pPr lvl="0" algn="l">
                        <a:lnSpc>
                          <a:spcPct val="100000"/>
                        </a:lnSpc>
                        <a:spcBef>
                          <a:spcPts val="0"/>
                        </a:spcBef>
                        <a:spcAft>
                          <a:spcPts val="0"/>
                        </a:spcAft>
                        <a:buNone/>
                      </a:pPr>
                      <a:r>
                        <a:rPr lang="en-US" sz="1000" b="0" i="0" u="none" strike="noStrike" noProof="0" dirty="0">
                          <a:ln w="3175">
                            <a:noFill/>
                          </a:ln>
                          <a:solidFill>
                            <a:srgbClr val="000000"/>
                          </a:solidFill>
                          <a:effectLst/>
                          <a:latin typeface="Calibri"/>
                          <a:ea typeface="Calibri"/>
                          <a:cs typeface="Calibri"/>
                        </a:rPr>
                        <a:t>   </a:t>
                      </a:r>
                      <a:r>
                        <a:rPr lang="en-US" sz="1000" b="1" i="0" u="none" strike="noStrike" noProof="0">
                          <a:ln w="3175">
                            <a:noFill/>
                          </a:ln>
                          <a:solidFill>
                            <a:srgbClr val="000000"/>
                          </a:solidFill>
                          <a:effectLst/>
                        </a:rPr>
                        <a:t>LLM safety:</a:t>
                      </a:r>
                      <a:r>
                        <a:rPr lang="en-US" sz="1000" b="0" i="0" u="none" strike="noStrike" noProof="0">
                          <a:ln w="3175">
                            <a:noFill/>
                          </a:ln>
                          <a:solidFill>
                            <a:srgbClr val="000000"/>
                          </a:solidFill>
                          <a:effectLst/>
                        </a:rPr>
                        <a:t> Every outreach email is human reviewed before sending</a:t>
                      </a: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tc vMerge="1">
                  <a:txBody>
                    <a:bodyPr/>
                    <a:lstStyle/>
                    <a:p>
                      <a:pPr algn="ctr" fontAlgn="b">
                        <a:lnSpc>
                          <a:spcPct val="80000"/>
                        </a:lnSpc>
                      </a:pPr>
                      <a:r>
                        <a:rPr lang="en-US" sz="1000" b="0" u="none" strike="noStrike">
                          <a:ln w="3175">
                            <a:noFill/>
                          </a:ln>
                          <a:solidFill>
                            <a:srgbClr val="000000"/>
                          </a:solidFill>
                          <a:effectLst/>
                        </a:rPr>
                        <a:t>10</a:t>
                      </a:r>
                      <a:endParaRPr lang="en-US" sz="1000" b="0" i="0" u="none" strike="noStrike">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solidFill>
                      <a:schemeClr val="accent1">
                        <a:lumMod val="20000"/>
                        <a:lumOff val="80000"/>
                      </a:schemeClr>
                    </a:solidFill>
                  </a:tcPr>
                </a:tc>
                <a:extLst>
                  <a:ext uri="{0D108BD9-81ED-4DB2-BD59-A6C34878D82A}">
                    <a16:rowId xmlns:a16="http://schemas.microsoft.com/office/drawing/2014/main" val="1550427465"/>
                  </a:ext>
                </a:extLst>
              </a:tr>
              <a:tr h="221452">
                <a:tc gridSpan="3">
                  <a:txBody>
                    <a:bodyPr/>
                    <a:lstStyle/>
                    <a:p>
                      <a:pPr marL="91440" algn="l" fontAlgn="b">
                        <a:lnSpc>
                          <a:spcPct val="100000"/>
                        </a:lnSpc>
                      </a:pPr>
                      <a:r>
                        <a:rPr lang="en-US" sz="1000" b="1" i="0" u="none" strike="noStrike">
                          <a:ln w="3175">
                            <a:noFill/>
                          </a:ln>
                          <a:solidFill>
                            <a:schemeClr val="bg1"/>
                          </a:solidFill>
                          <a:effectLst/>
                          <a:latin typeface="Calibri" panose="020F0502020204030204" pitchFamily="34" charset="0"/>
                          <a:cs typeface="Calibri" panose="020F0502020204030204" pitchFamily="34" charset="0"/>
                        </a:rPr>
                        <a:t>Proposed Tech Stack</a:t>
                      </a: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50000"/>
                      </a:schemeClr>
                    </a:solidFill>
                  </a:tcPr>
                </a:tc>
                <a:tc hMerge="1">
                  <a:txBody>
                    <a:bodyPr/>
                    <a:lstStyle/>
                    <a:p>
                      <a:endParaRPr lang="en-US"/>
                    </a:p>
                  </a:txBody>
                  <a:tcPr>
                    <a:solidFill>
                      <a:schemeClr val="accent1">
                        <a:lumMod val="20000"/>
                        <a:lumOff val="80000"/>
                      </a:schemeClr>
                    </a:solidFill>
                  </a:tcPr>
                </a:tc>
                <a:tc hMerge="1">
                  <a:txBody>
                    <a:bodyPr/>
                    <a:lstStyle/>
                    <a:p>
                      <a:pPr algn="l" fontAlgn="b"/>
                      <a:endParaRPr lang="en-US" sz="1000" b="1" i="0" u="none" strike="noStrike">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solidFill>
                      <a:schemeClr val="accent1">
                        <a:lumMod val="20000"/>
                        <a:lumOff val="80000"/>
                      </a:schemeClr>
                    </a:solidFill>
                  </a:tcPr>
                </a:tc>
                <a:tc>
                  <a:txBody>
                    <a:bodyPr/>
                    <a:lstStyle/>
                    <a:p>
                      <a:pPr marL="91440" algn="ctr" fontAlgn="b">
                        <a:lnSpc>
                          <a:spcPct val="100000"/>
                        </a:lnSpc>
                      </a:pPr>
                      <a:r>
                        <a:rPr lang="en-US" sz="1000" b="1" i="0" u="none" strike="noStrike">
                          <a:ln w="3175">
                            <a:noFill/>
                          </a:ln>
                          <a:solidFill>
                            <a:schemeClr val="bg1"/>
                          </a:solidFill>
                          <a:effectLst/>
                          <a:latin typeface="Calibri" panose="020F0502020204030204" pitchFamily="34" charset="0"/>
                          <a:cs typeface="Calibri" panose="020F0502020204030204" pitchFamily="34" charset="0"/>
                        </a:rPr>
                        <a:t>15%</a:t>
                      </a:r>
                    </a:p>
                  </a:txBody>
                  <a:tcPr marL="5075" marR="5075" marT="5075" marB="0" anchor="ctr" anchorCtr="1">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3002497615"/>
                  </a:ext>
                </a:extLst>
              </a:tr>
              <a:tr h="922718">
                <a:tc>
                  <a:txBody>
                    <a:bodyPr/>
                    <a:lstStyle/>
                    <a:p>
                      <a:pPr marL="91440" algn="l" fontAlgn="b">
                        <a:lnSpc>
                          <a:spcPct val="100000"/>
                        </a:lnSpc>
                      </a:pPr>
                      <a:r>
                        <a:rPr lang="en-US" sz="1000" b="0" i="0" u="none" strike="noStrike">
                          <a:ln w="3175">
                            <a:noFill/>
                          </a:ln>
                          <a:solidFill>
                            <a:srgbClr val="000000"/>
                          </a:solidFill>
                          <a:effectLst/>
                          <a:latin typeface="Calibri" panose="020F0502020204030204" pitchFamily="34" charset="0"/>
                          <a:cs typeface="Calibri" panose="020F0502020204030204" pitchFamily="34" charset="0"/>
                        </a:rPr>
                        <a:t>Open Source/Licensed</a:t>
                      </a: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tc>
                  <a:txBody>
                    <a:bodyPr/>
                    <a:lstStyle/>
                    <a:p>
                      <a:pPr marL="91440" algn="l" fontAlgn="b">
                        <a:lnSpc>
                          <a:spcPct val="100000"/>
                        </a:lnSpc>
                      </a:pPr>
                      <a:r>
                        <a:rPr lang="en-US" sz="1000" b="0" i="0" u="none" strike="noStrike">
                          <a:ln w="3175">
                            <a:noFill/>
                          </a:ln>
                          <a:solidFill>
                            <a:srgbClr val="000000"/>
                          </a:solidFill>
                          <a:effectLst/>
                          <a:latin typeface="Calibri"/>
                          <a:cs typeface="Calibri"/>
                        </a:rPr>
                        <a:t>Is the tech stack and data sets for proposed solution Open Source or Licensed?</a:t>
                      </a: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tc>
                  <a:txBody>
                    <a:bodyPr/>
                    <a:lstStyle/>
                    <a:p>
                      <a:pPr marL="91440" lvl="0" algn="l">
                        <a:lnSpc>
                          <a:spcPct val="100000"/>
                        </a:lnSpc>
                        <a:buNone/>
                      </a:pPr>
                      <a:r>
                        <a:rPr lang="en-US" sz="1000" b="1" i="0" u="none" strike="noStrike" noProof="0" dirty="0">
                          <a:ln w="3175">
                            <a:noFill/>
                          </a:ln>
                          <a:solidFill>
                            <a:srgbClr val="000000"/>
                          </a:solidFill>
                          <a:effectLst/>
                          <a:latin typeface="Calibri"/>
                          <a:ea typeface="Calibri"/>
                          <a:cs typeface="Calibri"/>
                        </a:rPr>
                        <a:t>Fully open-source core-</a:t>
                      </a:r>
                      <a:r>
                        <a:rPr lang="en-US" sz="1000" b="0" i="0" u="none" strike="noStrike" noProof="0" dirty="0">
                          <a:ln w="3175">
                            <a:noFill/>
                          </a:ln>
                          <a:solidFill>
                            <a:srgbClr val="000000"/>
                          </a:solidFill>
                          <a:effectLst/>
                          <a:latin typeface="Calibri"/>
                          <a:ea typeface="Calibri"/>
                          <a:cs typeface="Calibri"/>
                        </a:rPr>
                        <a:t> scikit-learn, SHAP, </a:t>
                      </a:r>
                      <a:r>
                        <a:rPr lang="en-US" sz="1000" b="0" i="0" u="none" strike="noStrike" noProof="0" dirty="0" err="1">
                          <a:ln w="3175">
                            <a:noFill/>
                          </a:ln>
                          <a:solidFill>
                            <a:srgbClr val="000000"/>
                          </a:solidFill>
                          <a:effectLst/>
                        </a:rPr>
                        <a:t>LangChain</a:t>
                      </a:r>
                      <a:r>
                        <a:rPr lang="en-US" sz="1000" b="0" i="0" u="none" strike="noStrike" noProof="0" dirty="0">
                          <a:ln w="3175">
                            <a:noFill/>
                          </a:ln>
                          <a:solidFill>
                            <a:srgbClr val="000000"/>
                          </a:solidFill>
                          <a:effectLst/>
                        </a:rPr>
                        <a:t>, </a:t>
                      </a:r>
                      <a:r>
                        <a:rPr lang="en-US" sz="1000" b="0" i="0" u="none" strike="noStrike" noProof="0" dirty="0" err="1">
                          <a:ln w="3175">
                            <a:noFill/>
                          </a:ln>
                          <a:solidFill>
                            <a:srgbClr val="000000"/>
                          </a:solidFill>
                          <a:effectLst/>
                        </a:rPr>
                        <a:t>LangGraph</a:t>
                      </a:r>
                      <a:r>
                        <a:rPr lang="en-US" sz="1000" b="0" i="0" u="none" strike="noStrike" noProof="0" dirty="0">
                          <a:ln w="3175">
                            <a:noFill/>
                          </a:ln>
                          <a:solidFill>
                            <a:srgbClr val="000000"/>
                          </a:solidFill>
                          <a:effectLst/>
                        </a:rPr>
                        <a:t>,</a:t>
                      </a:r>
                      <a:r>
                        <a:rPr lang="en-US" sz="1000" b="0" i="0" u="none" strike="noStrike" noProof="0" dirty="0">
                          <a:ln w="3175">
                            <a:noFill/>
                          </a:ln>
                          <a:solidFill>
                            <a:srgbClr val="000000"/>
                          </a:solidFill>
                          <a:effectLst/>
                          <a:latin typeface="Calibri"/>
                          <a:ea typeface="Calibri"/>
                          <a:cs typeface="Calibri"/>
                        </a:rPr>
                        <a:t> FASTAPI, Next.js/React and PostgreSQL, all under</a:t>
                      </a:r>
                      <a:r>
                        <a:rPr lang="en-US" sz="1000" b="1" i="0" u="none" strike="noStrike" noProof="0" dirty="0">
                          <a:ln w="3175">
                            <a:noFill/>
                          </a:ln>
                          <a:solidFill>
                            <a:srgbClr val="000000"/>
                          </a:solidFill>
                          <a:effectLst/>
                          <a:latin typeface="Calibri"/>
                          <a:ea typeface="Calibri"/>
                          <a:cs typeface="Calibri"/>
                        </a:rPr>
                        <a:t> Apache</a:t>
                      </a:r>
                      <a:r>
                        <a:rPr lang="en-US" sz="1000" b="0" i="0" u="none" strike="noStrike" noProof="0" dirty="0">
                          <a:ln w="3175">
                            <a:noFill/>
                          </a:ln>
                          <a:solidFill>
                            <a:srgbClr val="000000"/>
                          </a:solidFill>
                          <a:effectLst/>
                          <a:latin typeface="Calibri"/>
                          <a:ea typeface="Calibri"/>
                          <a:cs typeface="Calibri"/>
                        </a:rPr>
                        <a:t> </a:t>
                      </a:r>
                      <a:r>
                        <a:rPr lang="en-US" sz="1000" b="1" i="0" u="none" strike="noStrike" noProof="0" dirty="0">
                          <a:ln w="3175">
                            <a:noFill/>
                          </a:ln>
                          <a:solidFill>
                            <a:srgbClr val="000000"/>
                          </a:solidFill>
                          <a:effectLst/>
                          <a:latin typeface="Calibri"/>
                          <a:ea typeface="Calibri"/>
                          <a:cs typeface="Calibri"/>
                        </a:rPr>
                        <a:t>2.0/MIT- zero licensing cost</a:t>
                      </a:r>
                      <a:r>
                        <a:rPr lang="en-US" sz="1000" b="0" i="0" u="none" strike="noStrike" noProof="0" dirty="0">
                          <a:ln w="3175">
                            <a:noFill/>
                          </a:ln>
                          <a:solidFill>
                            <a:srgbClr val="000000"/>
                          </a:solidFill>
                          <a:effectLst/>
                          <a:latin typeface="Calibri"/>
                          <a:ea typeface="Calibri"/>
                          <a:cs typeface="Calibri"/>
                        </a:rPr>
                        <a:t>. Prototype trained on a public SaaS churn dataset; production would use the client's own usage and support data. Only the LLM step (support-ticket-analysis + outreach drafting) is a metered API, swappable for an open-weight model.</a:t>
                      </a:r>
                      <a:endParaRPr lang="en-US" dirty="0"/>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tc>
                  <a:txBody>
                    <a:bodyPr/>
                    <a:lstStyle/>
                    <a:p>
                      <a:pPr marL="91440" algn="ctr" fontAlgn="b">
                        <a:lnSpc>
                          <a:spcPct val="100000"/>
                        </a:lnSpc>
                      </a:pPr>
                      <a:r>
                        <a:rPr lang="en-US" sz="1000" b="0" i="0" u="none" strike="noStrike">
                          <a:ln w="3175">
                            <a:noFill/>
                          </a:ln>
                          <a:solidFill>
                            <a:srgbClr val="000000"/>
                          </a:solidFill>
                          <a:effectLst/>
                          <a:latin typeface="Calibri"/>
                          <a:cs typeface="Calibri"/>
                        </a:rPr>
                        <a:t>5</a:t>
                      </a:r>
                    </a:p>
                  </a:txBody>
                  <a:tcPr marL="5075" marR="5075" marT="5075" marB="0" anchor="ctr" anchorCtr="1">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extLst>
                  <a:ext uri="{0D108BD9-81ED-4DB2-BD59-A6C34878D82A}">
                    <a16:rowId xmlns:a16="http://schemas.microsoft.com/office/drawing/2014/main" val="1013873657"/>
                  </a:ext>
                </a:extLst>
              </a:tr>
              <a:tr h="738174">
                <a:tc>
                  <a:txBody>
                    <a:bodyPr/>
                    <a:lstStyle/>
                    <a:p>
                      <a:pPr marL="91440">
                        <a:lnSpc>
                          <a:spcPct val="100000"/>
                        </a:lnSpc>
                      </a:pPr>
                      <a:r>
                        <a:rPr lang="en-US" sz="1050" b="0" i="0" u="none" strike="noStrike">
                          <a:ln w="3175">
                            <a:noFill/>
                          </a:ln>
                          <a:solidFill>
                            <a:srgbClr val="000000"/>
                          </a:solidFill>
                          <a:effectLst/>
                          <a:latin typeface="Calibri"/>
                          <a:cs typeface="Calibri"/>
                        </a:rPr>
                        <a:t>U</a:t>
                      </a:r>
                      <a:r>
                        <a:rPr lang="en-US" sz="1000" b="0" i="0" u="none" strike="noStrike" kern="1200">
                          <a:ln w="3175">
                            <a:noFill/>
                          </a:ln>
                          <a:solidFill>
                            <a:srgbClr val="000000"/>
                          </a:solidFill>
                          <a:effectLst/>
                          <a:latin typeface="Calibri"/>
                          <a:ea typeface="+mn-ea"/>
                          <a:cs typeface="Calibri"/>
                        </a:rPr>
                        <a:t>se of Exponential Technology</a:t>
                      </a:r>
                      <a:br>
                        <a:rPr lang="en-US" sz="1050" b="0" i="0" u="none" strike="noStrike" dirty="0">
                          <a:ln w="3175">
                            <a:noFill/>
                          </a:ln>
                          <a:solidFill>
                            <a:srgbClr val="000000"/>
                          </a:solidFill>
                          <a:effectLst/>
                          <a:latin typeface="Calibri"/>
                          <a:cs typeface="Calibri"/>
                        </a:rPr>
                      </a:br>
                      <a:endParaRPr lang="en-US" dirty="0">
                        <a:latin typeface="Calibri"/>
                        <a:cs typeface="Calibri"/>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91440">
                        <a:lnSpc>
                          <a:spcPct val="100000"/>
                        </a:lnSpc>
                      </a:pPr>
                      <a:r>
                        <a:rPr lang="en-US" sz="1000" b="0" i="0" u="none" strike="noStrike">
                          <a:ln w="3175">
                            <a:noFill/>
                          </a:ln>
                          <a:solidFill>
                            <a:srgbClr val="000000"/>
                          </a:solidFill>
                          <a:effectLst/>
                          <a:latin typeface="Calibri"/>
                          <a:cs typeface="Calibri"/>
                        </a:rPr>
                        <a:t>Does the solution leverage or use edge technology, AI, IOT,  robotics, drones, 3D printing, biotech, data processing, neurotech, nanotech, solar energy?</a:t>
                      </a:r>
                      <a:endParaRPr lang="en-US">
                        <a:latin typeface="Calibri"/>
                        <a:cs typeface="Calibri"/>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91440" lvl="0" algn="l">
                        <a:lnSpc>
                          <a:spcPct val="100000"/>
                        </a:lnSpc>
                        <a:buNone/>
                      </a:pPr>
                      <a:r>
                        <a:rPr lang="en-US" sz="1000" b="1" i="0" u="none" strike="noStrike" dirty="0">
                          <a:ln w="3175">
                            <a:noFill/>
                          </a:ln>
                          <a:solidFill>
                            <a:srgbClr val="000000"/>
                          </a:solidFill>
                          <a:effectLst/>
                          <a:latin typeface="Calibri"/>
                          <a:cs typeface="Calibri"/>
                        </a:rPr>
                        <a:t>Combines four layers:</a:t>
                      </a:r>
                      <a:r>
                        <a:rPr lang="en-US" sz="1000" b="0" i="0" u="none" strike="noStrike" dirty="0">
                          <a:ln w="3175">
                            <a:noFill/>
                          </a:ln>
                          <a:solidFill>
                            <a:srgbClr val="000000"/>
                          </a:solidFill>
                          <a:effectLst/>
                          <a:latin typeface="Calibri"/>
                          <a:cs typeface="Calibri"/>
                        </a:rPr>
                        <a:t> predictive AI flags at-risk customers from usage/login behavior; explainable AI (SHAP) shows which behaviors drive that risk; generative AI/NLP (</a:t>
                      </a:r>
                      <a:r>
                        <a:rPr lang="en-US" sz="1000" b="0" i="0" u="none" strike="noStrike" dirty="0" err="1">
                          <a:ln w="3175">
                            <a:noFill/>
                          </a:ln>
                          <a:solidFill>
                            <a:srgbClr val="000000"/>
                          </a:solidFill>
                          <a:effectLst/>
                          <a:latin typeface="Calibri"/>
                          <a:cs typeface="Calibri"/>
                        </a:rPr>
                        <a:t>LangChain</a:t>
                      </a:r>
                      <a:r>
                        <a:rPr lang="en-US" sz="1000" b="0" i="0" u="none" strike="noStrike" dirty="0">
                          <a:ln w="3175">
                            <a:noFill/>
                          </a:ln>
                          <a:solidFill>
                            <a:srgbClr val="000000"/>
                          </a:solidFill>
                          <a:effectLst/>
                          <a:latin typeface="Calibri"/>
                          <a:cs typeface="Calibri"/>
                        </a:rPr>
                        <a:t> + LLM) reads support-ticket text for the customer's specific complaint; a lightweight simulator tests</a:t>
                      </a:r>
                      <a:r>
                        <a:rPr lang="en-US" sz="1000" b="1" i="0" u="none" strike="noStrike" dirty="0">
                          <a:ln w="3175">
                            <a:noFill/>
                          </a:ln>
                          <a:solidFill>
                            <a:srgbClr val="000000"/>
                          </a:solidFill>
                          <a:effectLst/>
                          <a:latin typeface="Calibri"/>
                          <a:cs typeface="Calibri"/>
                        </a:rPr>
                        <a:t> "what if usage improved" </a:t>
                      </a:r>
                      <a:r>
                        <a:rPr lang="en-US" sz="1000" b="0" i="0" u="none" strike="noStrike" dirty="0">
                          <a:ln w="3175">
                            <a:noFill/>
                          </a:ln>
                          <a:solidFill>
                            <a:srgbClr val="000000"/>
                          </a:solidFill>
                          <a:effectLst/>
                          <a:latin typeface="Calibri"/>
                          <a:cs typeface="Calibri"/>
                        </a:rPr>
                        <a:t>live. Together: explains why, prioritizes who, shows what helps- before ever reaching out.</a:t>
                      </a: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91440" algn="ctr" fontAlgn="b">
                        <a:lnSpc>
                          <a:spcPct val="100000"/>
                        </a:lnSpc>
                      </a:pPr>
                      <a:r>
                        <a:rPr lang="en-US" sz="1000" b="0" i="0" u="none" strike="noStrike">
                          <a:ln w="3175">
                            <a:noFill/>
                          </a:ln>
                          <a:solidFill>
                            <a:srgbClr val="000000"/>
                          </a:solidFill>
                          <a:effectLst/>
                          <a:latin typeface="Calibri" panose="020F0502020204030204" pitchFamily="34" charset="0"/>
                          <a:cs typeface="Calibri" panose="020F0502020204030204" pitchFamily="34" charset="0"/>
                        </a:rPr>
                        <a:t>10</a:t>
                      </a:r>
                    </a:p>
                  </a:txBody>
                  <a:tcPr marL="5075" marR="5075" marT="5075" marB="0" anchor="ctr" anchorCtr="1">
                    <a:lnL>
                      <a:noFill/>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434179708"/>
                  </a:ext>
                </a:extLst>
              </a:tr>
            </a:tbl>
          </a:graphicData>
        </a:graphic>
      </p:graphicFrame>
      <p:sp>
        <p:nvSpPr>
          <p:cNvPr id="6" name="Title 2">
            <a:extLst>
              <a:ext uri="{FF2B5EF4-FFF2-40B4-BE49-F238E27FC236}">
                <a16:creationId xmlns:a16="http://schemas.microsoft.com/office/drawing/2014/main" id="{DE7909C1-4E6A-9B4A-7DD3-4DD77CFC0D94}"/>
              </a:ext>
            </a:extLst>
          </p:cNvPr>
          <p:cNvSpPr txBox="1">
            <a:spLocks/>
          </p:cNvSpPr>
          <p:nvPr/>
        </p:nvSpPr>
        <p:spPr bwMode="gray">
          <a:xfrm>
            <a:off x="3702281" y="0"/>
            <a:ext cx="4787438" cy="342000"/>
          </a:xfrm>
          <a:prstGeom prst="rect">
            <a:avLst/>
          </a:prstGeom>
        </p:spPr>
        <p:txBody>
          <a:bodyPr vert="horz" lIns="0" tIns="0" rIns="0" bIns="0" rtlCol="0" anchor="b" anchorCtr="0">
            <a:noAutofit/>
          </a:bodyPr>
          <a:lstStyle>
            <a:lvl1pPr algn="l" defTabSz="685800" rtl="0" eaLnBrk="1" latinLnBrk="0" hangingPunct="1">
              <a:lnSpc>
                <a:spcPts val="3200"/>
              </a:lnSpc>
              <a:spcBef>
                <a:spcPct val="0"/>
              </a:spcBef>
              <a:buNone/>
              <a:defRPr sz="3200" b="0" kern="1200">
                <a:solidFill>
                  <a:schemeClr val="accent3"/>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sz="1800"/>
              <a:t>Capstone Use Case – Student Response Template</a:t>
            </a:r>
          </a:p>
        </p:txBody>
      </p:sp>
      <p:sp>
        <p:nvSpPr>
          <p:cNvPr id="24" name="Text Placeholder 2">
            <a:extLst>
              <a:ext uri="{FF2B5EF4-FFF2-40B4-BE49-F238E27FC236}">
                <a16:creationId xmlns:a16="http://schemas.microsoft.com/office/drawing/2014/main" id="{30571906-F133-1EE4-2D93-529D9984F9C1}"/>
              </a:ext>
            </a:extLst>
          </p:cNvPr>
          <p:cNvSpPr>
            <a:spLocks noGrp="1"/>
          </p:cNvSpPr>
          <p:nvPr>
            <p:ph type="body" sz="quarter" idx="10"/>
          </p:nvPr>
        </p:nvSpPr>
        <p:spPr>
          <a:xfrm>
            <a:off x="476141" y="6660850"/>
            <a:ext cx="4490721" cy="180000"/>
          </a:xfrm>
        </p:spPr>
        <p:txBody>
          <a:bodyPr/>
          <a:lstStyle/>
          <a:p>
            <a:r>
              <a:rPr lang="en-US" sz="800" b="0">
                <a:ea typeface="Calibri" panose="020F0502020204030204" pitchFamily="34" charset="0"/>
              </a:rPr>
              <a:t>Copyright © 2026 Deloitte Development LLC. All rights reserved.</a:t>
            </a:r>
          </a:p>
        </p:txBody>
      </p:sp>
      <p:sp>
        <p:nvSpPr>
          <p:cNvPr id="28" name="Text Placeholder 2">
            <a:extLst>
              <a:ext uri="{FF2B5EF4-FFF2-40B4-BE49-F238E27FC236}">
                <a16:creationId xmlns:a16="http://schemas.microsoft.com/office/drawing/2014/main" id="{5C71177E-E101-B82B-55C7-148309BCA37F}"/>
              </a:ext>
            </a:extLst>
          </p:cNvPr>
          <p:cNvSpPr txBox="1">
            <a:spLocks/>
          </p:cNvSpPr>
          <p:nvPr/>
        </p:nvSpPr>
        <p:spPr>
          <a:xfrm>
            <a:off x="9519914" y="6679986"/>
            <a:ext cx="2327624" cy="135779"/>
          </a:xfrm>
          <a:prstGeom prst="rect">
            <a:avLst/>
          </a:prstGeom>
        </p:spPr>
        <p:txBody>
          <a:bodyPr vert="horz" lIns="0" tIns="0" rIns="0" bIns="0" rtlCol="0" anchor="ctr">
            <a:noAutofit/>
          </a:bodyPr>
          <a:lstStyle>
            <a:lvl1pPr marL="0" indent="0" algn="l" defTabSz="685800" rtl="0" eaLnBrk="1" latinLnBrk="0" hangingPunct="1">
              <a:lnSpc>
                <a:spcPct val="100000"/>
              </a:lnSpc>
              <a:spcBef>
                <a:spcPts val="200"/>
              </a:spcBef>
              <a:spcAft>
                <a:spcPts val="0"/>
              </a:spcAft>
              <a:buSzPct val="100000"/>
              <a:buFontTx/>
              <a:buNone/>
              <a:defRPr sz="1400" b="1" kern="1200">
                <a:solidFill>
                  <a:schemeClr val="tx1"/>
                </a:solidFill>
                <a:latin typeface="Calibri" panose="020F0502020204030204" pitchFamily="34" charset="0"/>
                <a:ea typeface="+mn-ea"/>
                <a:cs typeface="Calibri" panose="020F05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a:solidFill>
                  <a:schemeClr val="bg1"/>
                </a:solidFill>
                <a:latin typeface="+mj-lt"/>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a:solidFill>
                  <a:schemeClr val="bg1"/>
                </a:solidFill>
                <a:latin typeface="+mn-lt"/>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a:solidFill>
                  <a:schemeClr val="bg1"/>
                </a:solidFill>
                <a:latin typeface="+mn-lt"/>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a:solidFill>
                  <a:schemeClr val="bg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r>
              <a:rPr lang="en-US" sz="800" b="0">
                <a:ea typeface="Calibri" panose="020F0502020204030204" pitchFamily="34" charset="0"/>
              </a:rPr>
              <a:t>Capstone Program 2026 – Student Response Template</a:t>
            </a:r>
          </a:p>
        </p:txBody>
      </p:sp>
    </p:spTree>
    <p:extLst>
      <p:ext uri="{BB962C8B-B14F-4D97-AF65-F5344CB8AC3E}">
        <p14:creationId xmlns:p14="http://schemas.microsoft.com/office/powerpoint/2010/main" val="97533730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D901F-9DAE-2C08-2D93-3A2C7D8CFACA}"/>
            </a:ext>
          </a:extLst>
        </p:cNvPr>
        <p:cNvGrpSpPr/>
        <p:nvPr/>
      </p:nvGrpSpPr>
      <p:grpSpPr>
        <a:xfrm>
          <a:off x="0" y="0"/>
          <a:ext cx="0" cy="0"/>
          <a:chOff x="0" y="0"/>
          <a:chExt cx="0" cy="0"/>
        </a:xfrm>
      </p:grpSpPr>
      <p:pic>
        <p:nvPicPr>
          <p:cNvPr id="29" name="Picture 28">
            <a:extLst>
              <a:ext uri="{FF2B5EF4-FFF2-40B4-BE49-F238E27FC236}">
                <a16:creationId xmlns:a16="http://schemas.microsoft.com/office/drawing/2014/main" id="{5E0799AC-7F89-162E-034A-C9CD4382A5AF}"/>
              </a:ext>
            </a:extLst>
          </p:cNvPr>
          <p:cNvPicPr>
            <a:picLocks noChangeAspect="1"/>
          </p:cNvPicPr>
          <p:nvPr/>
        </p:nvPicPr>
        <p:blipFill rotWithShape="1">
          <a:blip r:embed="rId2"/>
          <a:srcRect t="48665" r="49292" b="-415"/>
          <a:stretch/>
        </p:blipFill>
        <p:spPr>
          <a:xfrm>
            <a:off x="10683726" y="0"/>
            <a:ext cx="1496730" cy="1531979"/>
          </a:xfrm>
          <a:prstGeom prst="rect">
            <a:avLst/>
          </a:prstGeom>
        </p:spPr>
      </p:pic>
      <p:graphicFrame>
        <p:nvGraphicFramePr>
          <p:cNvPr id="5" name="Table 4">
            <a:extLst>
              <a:ext uri="{FF2B5EF4-FFF2-40B4-BE49-F238E27FC236}">
                <a16:creationId xmlns:a16="http://schemas.microsoft.com/office/drawing/2014/main" id="{D22F63CC-24B6-C110-136D-2698F5CA245E}"/>
              </a:ext>
            </a:extLst>
          </p:cNvPr>
          <p:cNvGraphicFramePr>
            <a:graphicFrameLocks noGrp="1"/>
          </p:cNvGraphicFramePr>
          <p:nvPr>
            <p:extLst>
              <p:ext uri="{D42A27DB-BD31-4B8C-83A1-F6EECF244321}">
                <p14:modId xmlns:p14="http://schemas.microsoft.com/office/powerpoint/2010/main" val="1346413121"/>
              </p:ext>
            </p:extLst>
          </p:nvPr>
        </p:nvGraphicFramePr>
        <p:xfrm>
          <a:off x="319314" y="762000"/>
          <a:ext cx="11645234" cy="5795463"/>
        </p:xfrm>
        <a:graphic>
          <a:graphicData uri="http://schemas.openxmlformats.org/drawingml/2006/table">
            <a:tbl>
              <a:tblPr>
                <a:tableStyleId>{0E3FDE45-AF77-4B5C-9715-49D594BDF05E}</a:tableStyleId>
              </a:tblPr>
              <a:tblGrid>
                <a:gridCol w="1310652">
                  <a:extLst>
                    <a:ext uri="{9D8B030D-6E8A-4147-A177-3AD203B41FA5}">
                      <a16:colId xmlns:a16="http://schemas.microsoft.com/office/drawing/2014/main" val="1557693294"/>
                    </a:ext>
                  </a:extLst>
                </a:gridCol>
                <a:gridCol w="35548">
                  <a:extLst>
                    <a:ext uri="{9D8B030D-6E8A-4147-A177-3AD203B41FA5}">
                      <a16:colId xmlns:a16="http://schemas.microsoft.com/office/drawing/2014/main" val="339746887"/>
                    </a:ext>
                  </a:extLst>
                </a:gridCol>
                <a:gridCol w="3581949">
                  <a:extLst>
                    <a:ext uri="{9D8B030D-6E8A-4147-A177-3AD203B41FA5}">
                      <a16:colId xmlns:a16="http://schemas.microsoft.com/office/drawing/2014/main" val="1252555282"/>
                    </a:ext>
                  </a:extLst>
                </a:gridCol>
                <a:gridCol w="5960705">
                  <a:extLst>
                    <a:ext uri="{9D8B030D-6E8A-4147-A177-3AD203B41FA5}">
                      <a16:colId xmlns:a16="http://schemas.microsoft.com/office/drawing/2014/main" val="3562290"/>
                    </a:ext>
                  </a:extLst>
                </a:gridCol>
                <a:gridCol w="756380">
                  <a:extLst>
                    <a:ext uri="{9D8B030D-6E8A-4147-A177-3AD203B41FA5}">
                      <a16:colId xmlns:a16="http://schemas.microsoft.com/office/drawing/2014/main" val="3063779762"/>
                    </a:ext>
                  </a:extLst>
                </a:gridCol>
              </a:tblGrid>
              <a:tr h="336467">
                <a:tc>
                  <a:txBody>
                    <a:bodyPr/>
                    <a:lstStyle/>
                    <a:p>
                      <a:pPr marL="91440" algn="l" defTabSz="685800" rtl="0" eaLnBrk="1" fontAlgn="b" latinLnBrk="0" hangingPunct="1">
                        <a:lnSpc>
                          <a:spcPct val="100000"/>
                        </a:lnSpc>
                      </a:pPr>
                      <a:r>
                        <a:rPr lang="en-US" sz="1050" u="none" strike="noStrike" kern="1200">
                          <a:ln w="3175">
                            <a:noFill/>
                          </a:ln>
                          <a:solidFill>
                            <a:srgbClr val="FFFFFF"/>
                          </a:solidFill>
                          <a:effectLst/>
                        </a:rPr>
                        <a:t>Response Parameters</a:t>
                      </a:r>
                    </a:p>
                  </a:txBody>
                  <a:tcPr marL="5075" marR="5075" marT="5075" marB="0" anchor="ctr">
                    <a:lnR>
                      <a:noFill/>
                    </a:lnR>
                    <a:lnT w="6350" cap="flat" cmpd="sng" algn="ctr">
                      <a:solidFill>
                        <a:schemeClr val="bg1"/>
                      </a:solidFill>
                      <a:prstDash val="solid"/>
                      <a:round/>
                      <a:headEnd type="none" w="med" len="med"/>
                      <a:tailEnd type="none" w="med" len="med"/>
                    </a:lnT>
                    <a:solidFill>
                      <a:schemeClr val="accent5"/>
                    </a:solidFill>
                  </a:tcPr>
                </a:tc>
                <a:tc>
                  <a:txBody>
                    <a:bodyPr/>
                    <a:lstStyle/>
                    <a:p>
                      <a:pPr marL="91440" lvl="0" algn="l" defTabSz="685800">
                        <a:lnSpc>
                          <a:spcPct val="100000"/>
                        </a:lnSpc>
                        <a:buNone/>
                      </a:pPr>
                      <a:endParaRPr lang="en-US" sz="1050" u="none" strike="noStrike" kern="1200">
                        <a:ln w="3175">
                          <a:noFill/>
                        </a:ln>
                        <a:solidFill>
                          <a:srgbClr val="FFFFFF"/>
                        </a:solidFill>
                        <a:effectLst/>
                      </a:endParaRPr>
                    </a:p>
                  </a:txBody>
                  <a:tcPr marL="5074" marR="5074" marT="5074" marB="0" anchor="ctr">
                    <a:lnL>
                      <a:noFill/>
                    </a:lnL>
                    <a:lnR w="0">
                      <a:noFill/>
                    </a:lnR>
                    <a:lnT w="6350">
                      <a:solidFill>
                        <a:schemeClr val="bg1"/>
                      </a:solidFill>
                    </a:lnT>
                    <a:solidFill>
                      <a:schemeClr val="accent5"/>
                    </a:solidFill>
                  </a:tcPr>
                </a:tc>
                <a:tc>
                  <a:txBody>
                    <a:bodyPr/>
                    <a:lstStyle/>
                    <a:p>
                      <a:pPr marL="91440" algn="l" defTabSz="685800" rtl="0" eaLnBrk="1" latinLnBrk="0" hangingPunct="1">
                        <a:lnSpc>
                          <a:spcPct val="100000"/>
                        </a:lnSpc>
                      </a:pPr>
                      <a:r>
                        <a:rPr lang="en-US" sz="1050" u="none" strike="noStrike" kern="1200">
                          <a:ln w="3175">
                            <a:noFill/>
                          </a:ln>
                          <a:solidFill>
                            <a:srgbClr val="FFFFFF"/>
                          </a:solidFill>
                          <a:effectLst/>
                        </a:rPr>
                        <a:t>Description</a:t>
                      </a:r>
                    </a:p>
                  </a:txBody>
                  <a:tcPr marL="5075" marR="5075" marT="9144" marB="0" anchor="ctr">
                    <a:lnL>
                      <a:noFill/>
                    </a:lnL>
                    <a:lnR>
                      <a:noFill/>
                    </a:lnR>
                    <a:lnT w="635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marL="91440" algn="l" defTabSz="685800" rtl="0" eaLnBrk="1" fontAlgn="b" latinLnBrk="0" hangingPunct="1">
                        <a:lnSpc>
                          <a:spcPct val="100000"/>
                        </a:lnSpc>
                      </a:pPr>
                      <a:r>
                        <a:rPr lang="en-US" sz="1050" u="none" strike="noStrike" kern="1200">
                          <a:ln w="3175">
                            <a:noFill/>
                          </a:ln>
                          <a:solidFill>
                            <a:srgbClr val="FFFFFF"/>
                          </a:solidFill>
                          <a:effectLst/>
                        </a:rPr>
                        <a:t>Participant(s) Response</a:t>
                      </a:r>
                    </a:p>
                  </a:txBody>
                  <a:tcPr marL="5075" marR="5075" marT="9144" marB="0" anchor="ctr">
                    <a:lnL>
                      <a:noFill/>
                    </a:lnL>
                    <a:lnT w="6350" cap="flat" cmpd="sng" algn="ctr">
                      <a:solidFill>
                        <a:schemeClr val="bg1"/>
                      </a:solidFill>
                      <a:prstDash val="solid"/>
                      <a:round/>
                      <a:headEnd type="none" w="med" len="med"/>
                      <a:tailEnd type="none" w="med" len="med"/>
                    </a:lnT>
                    <a:solidFill>
                      <a:schemeClr val="accent5"/>
                    </a:solidFill>
                  </a:tcPr>
                </a:tc>
                <a:tc>
                  <a:txBody>
                    <a:bodyPr/>
                    <a:lstStyle/>
                    <a:p>
                      <a:pPr marL="91440" algn="l" defTabSz="685800" rtl="0" eaLnBrk="1" fontAlgn="b" latinLnBrk="0" hangingPunct="1">
                        <a:lnSpc>
                          <a:spcPct val="100000"/>
                        </a:lnSpc>
                      </a:pPr>
                      <a:r>
                        <a:rPr lang="en-US" sz="1050" u="none" strike="noStrike" kern="1200">
                          <a:ln w="3175">
                            <a:noFill/>
                          </a:ln>
                          <a:solidFill>
                            <a:srgbClr val="FFFFFF"/>
                          </a:solidFill>
                          <a:effectLst/>
                        </a:rPr>
                        <a:t>Weightage</a:t>
                      </a:r>
                    </a:p>
                  </a:txBody>
                  <a:tcPr marL="5075" marR="5075" marT="9144" marB="0" anchor="ctr">
                    <a:lnT w="6350" cap="flat" cmpd="sng" algn="ctr">
                      <a:solidFill>
                        <a:schemeClr val="bg1"/>
                      </a:solidFill>
                      <a:prstDash val="solid"/>
                      <a:round/>
                      <a:headEnd type="none" w="med" len="med"/>
                      <a:tailEnd type="none" w="med" len="med"/>
                    </a:lnT>
                    <a:solidFill>
                      <a:schemeClr val="accent1"/>
                    </a:solidFill>
                  </a:tcPr>
                </a:tc>
                <a:extLst>
                  <a:ext uri="{0D108BD9-81ED-4DB2-BD59-A6C34878D82A}">
                    <a16:rowId xmlns:a16="http://schemas.microsoft.com/office/drawing/2014/main" val="1163502627"/>
                  </a:ext>
                </a:extLst>
              </a:tr>
              <a:tr h="699852">
                <a:tc>
                  <a:txBody>
                    <a:bodyPr/>
                    <a:lstStyle/>
                    <a:p>
                      <a:pPr marL="91440" algn="l" fontAlgn="b">
                        <a:lnSpc>
                          <a:spcPct val="100000"/>
                        </a:lnSpc>
                      </a:pPr>
                      <a:r>
                        <a:rPr lang="en-US" sz="1000" u="none" strike="noStrike">
                          <a:ln w="3175">
                            <a:noFill/>
                          </a:ln>
                          <a:solidFill>
                            <a:srgbClr val="000000"/>
                          </a:solidFill>
                          <a:effectLst/>
                        </a:rPr>
                        <a:t>Integration</a:t>
                      </a:r>
                    </a:p>
                  </a:txBody>
                  <a:tcPr marL="5075" marR="5075" marT="5075" marB="0" anchor="ctr">
                    <a:lnB w="63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91440" lvl="0" algn="l">
                        <a:lnSpc>
                          <a:spcPct val="100000"/>
                        </a:lnSpc>
                        <a:buNone/>
                      </a:pPr>
                      <a:endParaRPr lang="en-US" sz="1000" u="none" strike="noStrike">
                        <a:ln w="3175">
                          <a:noFill/>
                        </a:ln>
                        <a:solidFill>
                          <a:srgbClr val="000000"/>
                        </a:solidFill>
                        <a:effectLst/>
                      </a:endParaRPr>
                    </a:p>
                  </a:txBody>
                  <a:tcPr marL="5074" marR="5074" marT="5074" marB="0" anchor="ctr">
                    <a:lnB w="6350">
                      <a:solidFill>
                        <a:schemeClr val="bg1"/>
                      </a:solidFill>
                    </a:lnB>
                    <a:solidFill>
                      <a:schemeClr val="accent1">
                        <a:lumMod val="20000"/>
                        <a:lumOff val="80000"/>
                      </a:schemeClr>
                    </a:solidFill>
                  </a:tcPr>
                </a:tc>
                <a:tc>
                  <a:txBody>
                    <a:bodyPr/>
                    <a:lstStyle/>
                    <a:p>
                      <a:pPr marL="91440" algn="l" fontAlgn="b">
                        <a:lnSpc>
                          <a:spcPct val="100000"/>
                        </a:lnSpc>
                      </a:pPr>
                      <a:r>
                        <a:rPr lang="en-US" sz="1000" u="none" strike="noStrike">
                          <a:ln w="3175">
                            <a:noFill/>
                          </a:ln>
                          <a:solidFill>
                            <a:srgbClr val="000000"/>
                          </a:solidFill>
                          <a:effectLst/>
                        </a:rPr>
                        <a:t>Can the proposed solution integrate with existing systems and workflows without causing significant disruption or requiring substantial changes? Illustrate.</a:t>
                      </a:r>
                    </a:p>
                  </a:txBody>
                  <a:tcPr marL="5075" marR="5075" marT="5075" marB="0" anchor="ctr">
                    <a:lnT>
                      <a:noFill/>
                    </a:lnT>
                    <a:lnB w="63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91440" lvl="0" algn="l">
                        <a:lnSpc>
                          <a:spcPct val="100000"/>
                        </a:lnSpc>
                        <a:buNone/>
                      </a:pPr>
                      <a:r>
                        <a:rPr lang="en-US" sz="1000" u="none" strike="noStrike" noProof="0" dirty="0">
                          <a:ln w="3175">
                            <a:noFill/>
                          </a:ln>
                          <a:solidFill>
                            <a:srgbClr val="000000"/>
                          </a:solidFill>
                          <a:effectLst/>
                        </a:rPr>
                        <a:t>Built </a:t>
                      </a:r>
                      <a:r>
                        <a:rPr lang="en-US" sz="1000" b="1" u="none" strike="noStrike" noProof="0" dirty="0">
                          <a:ln w="3175">
                            <a:noFill/>
                          </a:ln>
                          <a:solidFill>
                            <a:srgbClr val="000000"/>
                          </a:solidFill>
                          <a:effectLst/>
                        </a:rPr>
                        <a:t>REST-API</a:t>
                      </a:r>
                      <a:r>
                        <a:rPr lang="en-US" sz="1000" u="none" strike="noStrike" noProof="0" dirty="0">
                          <a:ln w="3175">
                            <a:noFill/>
                          </a:ln>
                          <a:solidFill>
                            <a:srgbClr val="000000"/>
                          </a:solidFill>
                          <a:effectLst/>
                        </a:rPr>
                        <a:t>-first, so </a:t>
                      </a:r>
                      <a:r>
                        <a:rPr lang="en-US" sz="1000" b="1" u="none" strike="noStrike" noProof="0" dirty="0" err="1">
                          <a:ln w="3175">
                            <a:noFill/>
                          </a:ln>
                          <a:solidFill>
                            <a:srgbClr val="000000"/>
                          </a:solidFill>
                          <a:effectLst/>
                        </a:rPr>
                        <a:t>ChurnGuard</a:t>
                      </a:r>
                      <a:r>
                        <a:rPr lang="en-US" sz="1000" u="none" strike="noStrike" noProof="0" dirty="0">
                          <a:ln w="3175">
                            <a:noFill/>
                          </a:ln>
                          <a:solidFill>
                            <a:srgbClr val="000000"/>
                          </a:solidFill>
                          <a:effectLst/>
                        </a:rPr>
                        <a:t> plugs directly into a company's existing</a:t>
                      </a:r>
                      <a:r>
                        <a:rPr lang="en-US" sz="1000" b="1" u="none" strike="noStrike" noProof="0" dirty="0">
                          <a:ln w="3175">
                            <a:noFill/>
                          </a:ln>
                          <a:solidFill>
                            <a:srgbClr val="000000"/>
                          </a:solidFill>
                          <a:effectLst/>
                        </a:rPr>
                        <a:t> CRM,</a:t>
                      </a:r>
                      <a:r>
                        <a:rPr lang="en-US" sz="1000" u="none" strike="noStrike" noProof="0" dirty="0">
                          <a:ln w="3175">
                            <a:noFill/>
                          </a:ln>
                          <a:solidFill>
                            <a:srgbClr val="000000"/>
                          </a:solidFill>
                          <a:effectLst/>
                        </a:rPr>
                        <a:t> billing and support-ticket systems — no rip-and-replace, no workflow disruption. The dashboard, including the priority-ranked customer list and what-if simulator, embeds directly inside the customer success team's existing tool rather than requiring a new one.</a:t>
                      </a:r>
                      <a:endParaRPr lang="en-US" dirty="0"/>
                    </a:p>
                  </a:txBody>
                  <a:tcPr marL="5075" marR="5075" marT="5075" marB="0" anchor="ctr">
                    <a:lnR>
                      <a:noFill/>
                    </a:lnR>
                    <a:lnB w="6350" cap="flat" cmpd="sng" algn="ctr">
                      <a:solidFill>
                        <a:schemeClr val="bg1"/>
                      </a:solidFill>
                      <a:prstDash val="solid"/>
                      <a:round/>
                      <a:headEnd type="none" w="med" len="med"/>
                      <a:tailEnd type="none" w="med" len="med"/>
                    </a:lnB>
                    <a:solidFill>
                      <a:schemeClr val="accent1">
                        <a:lumMod val="20000"/>
                        <a:lumOff val="80000"/>
                      </a:schemeClr>
                    </a:solidFill>
                  </a:tcPr>
                </a:tc>
                <a:tc rowSpan="2">
                  <a:txBody>
                    <a:bodyPr/>
                    <a:lstStyle/>
                    <a:p>
                      <a:pPr>
                        <a:buNone/>
                      </a:pPr>
                      <a:endParaRPr lang="en-US"/>
                    </a:p>
                  </a:txBody>
                  <a:tcPr marL="0" marR="0" marT="0" marB="0" horzOverflow="overflow">
                    <a:lnL>
                      <a:noFill/>
                    </a:lnL>
                    <a:solidFill>
                      <a:schemeClr val="accent1">
                        <a:lumMod val="20000"/>
                        <a:lumOff val="80000"/>
                      </a:schemeClr>
                    </a:solidFill>
                  </a:tcPr>
                </a:tc>
                <a:extLst>
                  <a:ext uri="{0D108BD9-81ED-4DB2-BD59-A6C34878D82A}">
                    <a16:rowId xmlns:a16="http://schemas.microsoft.com/office/drawing/2014/main" val="2197082307"/>
                  </a:ext>
                </a:extLst>
              </a:tr>
              <a:tr h="430678">
                <a:tc>
                  <a:txBody>
                    <a:bodyPr/>
                    <a:lstStyle/>
                    <a:p>
                      <a:pPr marL="91440" algn="l" fontAlgn="b">
                        <a:lnSpc>
                          <a:spcPct val="100000"/>
                        </a:lnSpc>
                      </a:pPr>
                      <a:r>
                        <a:rPr lang="en-US" sz="1000" u="none" strike="noStrike">
                          <a:ln w="3175">
                            <a:noFill/>
                          </a:ln>
                          <a:solidFill>
                            <a:srgbClr val="000000"/>
                          </a:solidFill>
                          <a:effectLst/>
                        </a:rPr>
                        <a:t>Competency/ Tools Required</a:t>
                      </a: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91440" lvl="0" algn="l">
                        <a:lnSpc>
                          <a:spcPct val="100000"/>
                        </a:lnSpc>
                        <a:buNone/>
                      </a:pPr>
                      <a:endParaRPr lang="en-US" sz="1000" u="none" strike="noStrike">
                        <a:ln w="3175">
                          <a:noFill/>
                        </a:ln>
                        <a:solidFill>
                          <a:srgbClr val="000000"/>
                        </a:solidFill>
                        <a:effectLst/>
                      </a:endParaRPr>
                    </a:p>
                  </a:txBody>
                  <a:tcPr marL="5074" marR="5074" marT="5074" marB="0" anchor="ctr">
                    <a:lnT w="6350">
                      <a:solidFill>
                        <a:schemeClr val="bg1"/>
                      </a:solidFill>
                    </a:lnT>
                    <a:lnB w="6350">
                      <a:solidFill>
                        <a:schemeClr val="bg1"/>
                      </a:solidFill>
                    </a:lnB>
                    <a:solidFill>
                      <a:schemeClr val="accent1">
                        <a:lumMod val="20000"/>
                        <a:lumOff val="80000"/>
                      </a:schemeClr>
                    </a:solidFill>
                  </a:tcPr>
                </a:tc>
                <a:tc>
                  <a:txBody>
                    <a:bodyPr/>
                    <a:lstStyle/>
                    <a:p>
                      <a:pPr marL="91440">
                        <a:lnSpc>
                          <a:spcPct val="100000"/>
                        </a:lnSpc>
                      </a:pPr>
                      <a:r>
                        <a:rPr lang="en-US" sz="1000" u="none" strike="noStrike" kern="1200">
                          <a:ln w="3175">
                            <a:noFill/>
                          </a:ln>
                          <a:solidFill>
                            <a:srgbClr val="000000"/>
                          </a:solidFill>
                          <a:effectLst/>
                        </a:rPr>
                        <a:t>List the tools and technology stack to be used in the proposed solution</a:t>
                      </a: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91440" lvl="0" algn="l">
                        <a:lnSpc>
                          <a:spcPct val="100000"/>
                        </a:lnSpc>
                        <a:buNone/>
                      </a:pPr>
                      <a:r>
                        <a:rPr lang="en-US" sz="1000" u="none" strike="noStrike" dirty="0">
                          <a:ln w="3175">
                            <a:noFill/>
                          </a:ln>
                          <a:solidFill>
                            <a:srgbClr val="000000"/>
                          </a:solidFill>
                          <a:effectLst/>
                        </a:rPr>
                        <a:t>Python, scikit-learn, SHAP, </a:t>
                      </a:r>
                      <a:r>
                        <a:rPr lang="en-US" sz="1000" u="none" strike="noStrike" dirty="0" err="1">
                          <a:ln w="3175">
                            <a:noFill/>
                          </a:ln>
                          <a:solidFill>
                            <a:srgbClr val="000000"/>
                          </a:solidFill>
                          <a:effectLst/>
                        </a:rPr>
                        <a:t>LangChain</a:t>
                      </a:r>
                      <a:r>
                        <a:rPr lang="en-US" sz="1000" u="none" strike="noStrike" dirty="0">
                          <a:ln w="3175">
                            <a:noFill/>
                          </a:ln>
                          <a:solidFill>
                            <a:srgbClr val="000000"/>
                          </a:solidFill>
                          <a:effectLst/>
                        </a:rPr>
                        <a:t>, </a:t>
                      </a:r>
                      <a:r>
                        <a:rPr lang="en-US" sz="1000" b="0" i="0" u="none" strike="noStrike" noProof="0" dirty="0" err="1">
                          <a:ln w="3175">
                            <a:noFill/>
                          </a:ln>
                          <a:solidFill>
                            <a:srgbClr val="000000"/>
                          </a:solidFill>
                          <a:effectLst/>
                          <a:latin typeface="Calibri"/>
                          <a:ea typeface="Calibri"/>
                          <a:cs typeface="Calibri"/>
                        </a:rPr>
                        <a:t>LangGraph</a:t>
                      </a:r>
                      <a:r>
                        <a:rPr lang="en-US" sz="1000" b="0" i="0" u="none" strike="noStrike" noProof="0" dirty="0">
                          <a:ln w="3175">
                            <a:noFill/>
                          </a:ln>
                          <a:solidFill>
                            <a:srgbClr val="000000"/>
                          </a:solidFill>
                          <a:effectLst/>
                          <a:latin typeface="Calibri"/>
                          <a:ea typeface="Calibri"/>
                          <a:cs typeface="Calibri"/>
                        </a:rPr>
                        <a:t>, </a:t>
                      </a:r>
                      <a:r>
                        <a:rPr lang="en-US" sz="1000" u="none" strike="noStrike" dirty="0">
                          <a:ln w="3175">
                            <a:noFill/>
                          </a:ln>
                          <a:solidFill>
                            <a:srgbClr val="000000"/>
                          </a:solidFill>
                          <a:effectLst/>
                        </a:rPr>
                        <a:t>an LLM (open-weight or API-based) for support-ticket analysis and outreach drafting, </a:t>
                      </a:r>
                      <a:r>
                        <a:rPr lang="en-US" sz="1000" u="none" strike="noStrike" dirty="0" err="1">
                          <a:ln w="3175">
                            <a:noFill/>
                          </a:ln>
                          <a:solidFill>
                            <a:srgbClr val="000000"/>
                          </a:solidFill>
                          <a:effectLst/>
                        </a:rPr>
                        <a:t>FastAPI</a:t>
                      </a:r>
                      <a:r>
                        <a:rPr lang="en-US" sz="1000" u="none" strike="noStrike" dirty="0">
                          <a:ln w="3175">
                            <a:noFill/>
                          </a:ln>
                          <a:solidFill>
                            <a:srgbClr val="000000"/>
                          </a:solidFill>
                          <a:effectLst/>
                        </a:rPr>
                        <a:t>, Next.js/React, PostgreSQL, and Git/CI for deployment.</a:t>
                      </a:r>
                    </a:p>
                  </a:txBody>
                  <a:tcPr marL="5075" marR="5075" marT="5075" marB="0" anchor="ctr">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lumMod val="20000"/>
                        <a:lumOff val="80000"/>
                      </a:schemeClr>
                    </a:solidFill>
                  </a:tcPr>
                </a:tc>
                <a:tc vMerge="1">
                  <a:txBody>
                    <a:bodyPr/>
                    <a:lstStyle/>
                    <a:p>
                      <a:pPr algn="ctr" fontAlgn="b"/>
                      <a:endParaRPr lang="en-US" sz="1000" b="0" i="0" u="none" strike="noStrike">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solidFill>
                      <a:schemeClr val="accent1">
                        <a:lumMod val="20000"/>
                        <a:lumOff val="80000"/>
                      </a:schemeClr>
                    </a:solidFill>
                  </a:tcPr>
                </a:tc>
                <a:extLst>
                  <a:ext uri="{0D108BD9-81ED-4DB2-BD59-A6C34878D82A}">
                    <a16:rowId xmlns:a16="http://schemas.microsoft.com/office/drawing/2014/main" val="189256722"/>
                  </a:ext>
                </a:extLst>
              </a:tr>
              <a:tr h="174963">
                <a:tc gridSpan="4">
                  <a:txBody>
                    <a:bodyPr/>
                    <a:lstStyle/>
                    <a:p>
                      <a:pPr marL="91440" algn="l" fontAlgn="b">
                        <a:lnSpc>
                          <a:spcPct val="100000"/>
                        </a:lnSpc>
                      </a:pPr>
                      <a:r>
                        <a:rPr lang="en-US" sz="1000" u="none" strike="noStrike" kern="1200">
                          <a:solidFill>
                            <a:srgbClr val="FFFFFF"/>
                          </a:solidFill>
                          <a:effectLst/>
                        </a:rPr>
                        <a:t>Market Impact</a:t>
                      </a:r>
                      <a:endParaRPr lang="en-US" sz="1000" u="none" strike="noStrike">
                        <a:ln w="3175">
                          <a:noFill/>
                        </a:ln>
                        <a:solidFill>
                          <a:srgbClr val="FFFFFF"/>
                        </a:solidFill>
                        <a:effectLst/>
                      </a:endParaRP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50000"/>
                      </a:schemeClr>
                    </a:solidFill>
                  </a:tcPr>
                </a:tc>
                <a:tc hMerge="1">
                  <a:txBody>
                    <a:bodyPr/>
                    <a:lstStyle/>
                    <a:p>
                      <a:endParaRPr lang="en-US"/>
                    </a:p>
                  </a:txBody>
                  <a:tcPr marL="5074" marR="5074" marT="5074" marB="0" anchor="ctr">
                    <a:lnT w="6350">
                      <a:solidFill>
                        <a:schemeClr val="bg1"/>
                      </a:solidFill>
                    </a:lnT>
                    <a:lnB w="6350">
                      <a:solidFill>
                        <a:schemeClr val="bg1"/>
                      </a:solidFill>
                    </a:lnB>
                    <a:solidFill>
                      <a:schemeClr val="bg1">
                        <a:lumMod val="50000"/>
                      </a:schemeClr>
                    </a:solidFill>
                  </a:tcPr>
                </a:tc>
                <a:tc hMerge="1">
                  <a:txBody>
                    <a:bodyPr/>
                    <a:lstStyle/>
                    <a:p>
                      <a:endParaRPr lang="en-US"/>
                    </a:p>
                  </a:txBody>
                  <a:tcPr/>
                </a:tc>
                <a:tc hMerge="1">
                  <a:txBody>
                    <a:bodyPr/>
                    <a:lstStyle/>
                    <a:p>
                      <a:pPr algn="l" fontAlgn="b"/>
                      <a:endParaRPr lang="en-US" sz="1000" b="1" i="0" u="none" strike="noStrike">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solidFill>
                      <a:schemeClr val="bg1">
                        <a:lumMod val="85000"/>
                      </a:schemeClr>
                    </a:solidFill>
                  </a:tcPr>
                </a:tc>
                <a:tc>
                  <a:txBody>
                    <a:bodyPr/>
                    <a:lstStyle/>
                    <a:p>
                      <a:pPr marL="91440" algn="ctr" fontAlgn="b">
                        <a:lnSpc>
                          <a:spcPct val="100000"/>
                        </a:lnSpc>
                      </a:pPr>
                      <a:r>
                        <a:rPr lang="en-US" sz="1000" u="none" strike="noStrike">
                          <a:ln w="3175">
                            <a:noFill/>
                          </a:ln>
                          <a:solidFill>
                            <a:srgbClr val="FFFFFF"/>
                          </a:solidFill>
                          <a:effectLst/>
                        </a:rPr>
                        <a:t>5%</a:t>
                      </a:r>
                    </a:p>
                  </a:txBody>
                  <a:tcPr marL="5075" marR="5075" marT="5075" marB="0" anchor="ctr" anchorCtr="1">
                    <a:lnB w="6350" cap="flat" cmpd="sng" algn="ctr">
                      <a:solidFill>
                        <a:schemeClr val="bg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988859878"/>
                  </a:ext>
                </a:extLst>
              </a:tr>
              <a:tr h="1143988">
                <a:tc>
                  <a:txBody>
                    <a:bodyPr/>
                    <a:lstStyle/>
                    <a:p>
                      <a:pPr marL="91440" marR="0" lvl="0" indent="0" algn="l" defTabSz="914400" rtl="0" eaLnBrk="1" fontAlgn="b" latinLnBrk="0" hangingPunct="1">
                        <a:lnSpc>
                          <a:spcPct val="100000"/>
                        </a:lnSpc>
                        <a:spcBef>
                          <a:spcPts val="0"/>
                        </a:spcBef>
                        <a:spcAft>
                          <a:spcPts val="0"/>
                        </a:spcAft>
                        <a:buClrTx/>
                        <a:buSzTx/>
                        <a:buFontTx/>
                        <a:buNone/>
                        <a:tabLst/>
                        <a:defRPr/>
                      </a:pPr>
                      <a:r>
                        <a:rPr lang="en-US" sz="1000" u="none" strike="noStrike">
                          <a:ln w="3175">
                            <a:noFill/>
                          </a:ln>
                          <a:solidFill>
                            <a:srgbClr val="000000"/>
                          </a:solidFill>
                          <a:effectLst/>
                        </a:rPr>
                        <a:t>Potential Impact</a:t>
                      </a: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91440" lvl="0" indent="0" algn="l" defTabSz="914400">
                        <a:lnSpc>
                          <a:spcPct val="100000"/>
                        </a:lnSpc>
                        <a:spcBef>
                          <a:spcPts val="0"/>
                        </a:spcBef>
                        <a:spcAft>
                          <a:spcPts val="0"/>
                        </a:spcAft>
                        <a:buNone/>
                        <a:tabLst/>
                        <a:defRPr/>
                      </a:pPr>
                      <a:endParaRPr lang="en-US" sz="1000" u="none" strike="noStrike">
                        <a:ln w="3175">
                          <a:noFill/>
                        </a:ln>
                        <a:solidFill>
                          <a:srgbClr val="000000"/>
                        </a:solidFill>
                        <a:effectLst/>
                      </a:endParaRPr>
                    </a:p>
                  </a:txBody>
                  <a:tcPr marL="5074" marR="5074" marT="5074" marB="0" anchor="ctr">
                    <a:lnT w="6350">
                      <a:solidFill>
                        <a:schemeClr val="bg1"/>
                      </a:solidFill>
                    </a:lnT>
                    <a:lnB w="6350">
                      <a:solidFill>
                        <a:schemeClr val="bg1"/>
                      </a:solidFill>
                    </a:lnB>
                    <a:solidFill>
                      <a:schemeClr val="accent1">
                        <a:lumMod val="20000"/>
                        <a:lumOff val="80000"/>
                      </a:schemeClr>
                    </a:solidFill>
                  </a:tcPr>
                </a:tc>
                <a:tc>
                  <a:txBody>
                    <a:bodyPr/>
                    <a:lstStyle/>
                    <a:p>
                      <a:pPr marL="91440" algn="l" fontAlgn="b">
                        <a:lnSpc>
                          <a:spcPct val="100000"/>
                        </a:lnSpc>
                      </a:pPr>
                      <a:r>
                        <a:rPr lang="en-US" sz="1000" u="none" strike="noStrike">
                          <a:ln w="3175">
                            <a:noFill/>
                          </a:ln>
                          <a:solidFill>
                            <a:srgbClr val="000000"/>
                          </a:solidFill>
                          <a:effectLst/>
                        </a:rPr>
                        <a:t>Detail the impact of proposed solution in the market. What is its potential to deliver significant benefits, whether that's in terms of efficiency, cost savings, customer experience, or another important metric</a:t>
                      </a: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91440" lvl="0" algn="l">
                        <a:lnSpc>
                          <a:spcPct val="100000"/>
                        </a:lnSpc>
                        <a:buNone/>
                      </a:pPr>
                      <a:r>
                        <a:rPr lang="en-US" sz="1000" b="0" i="0" u="none" strike="noStrike" noProof="0" dirty="0" err="1">
                          <a:ln w="3175">
                            <a:noFill/>
                          </a:ln>
                          <a:solidFill>
                            <a:srgbClr val="000000"/>
                          </a:solidFill>
                          <a:effectLst/>
                          <a:latin typeface="Calibri"/>
                          <a:ea typeface="Calibri"/>
                          <a:cs typeface="Calibri"/>
                        </a:rPr>
                        <a:t>ChurnGuard</a:t>
                      </a:r>
                      <a:r>
                        <a:rPr lang="en-US" sz="1000" b="0" i="0" u="none" strike="noStrike" noProof="0" dirty="0">
                          <a:ln w="3175">
                            <a:noFill/>
                          </a:ln>
                          <a:solidFill>
                            <a:srgbClr val="000000"/>
                          </a:solidFill>
                          <a:effectLst/>
                          <a:latin typeface="Calibri"/>
                          <a:ea typeface="Calibri"/>
                          <a:cs typeface="Calibri"/>
                        </a:rPr>
                        <a:t> shifts detection from a team's quarterly-review cycle to continuous, near-real-time flagging — cutting response lag from weeks down to days (efficiency). For an illustrative 500-customer client at ₹3,00,000 average contract value with 20% churn, retaining just 15% of the accounts that would've churned saves ₹45,00,000 a year, a 7–10x return against a ₹4–6L/year subscription (cost savings). Outreach is grounded in the actual SHAP-identified cause instead of a generic message, which lifts response rates on retention outreach (customer experience). Net effect: gross revenue retention improves by a few points on the flagged segment alone — the metric SaaS boards track most closely (other key metric).</a:t>
                      </a:r>
                      <a:endParaRPr lang="en-US" dirty="0"/>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91440" algn="ctr" fontAlgn="b">
                        <a:lnSpc>
                          <a:spcPct val="100000"/>
                        </a:lnSpc>
                      </a:pPr>
                      <a:r>
                        <a:rPr lang="en-US" sz="1000" u="none" strike="noStrike">
                          <a:ln w="3175">
                            <a:noFill/>
                          </a:ln>
                          <a:solidFill>
                            <a:srgbClr val="000000"/>
                          </a:solidFill>
                          <a:effectLst/>
                        </a:rPr>
                        <a:t>5</a:t>
                      </a:r>
                    </a:p>
                  </a:txBody>
                  <a:tcPr marL="5075" marR="5075" marT="5075" marB="0" anchor="ctr" anchorCtr="1">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515877296"/>
                  </a:ext>
                </a:extLst>
              </a:tr>
              <a:tr h="210110">
                <a:tc gridSpan="5">
                  <a:txBody>
                    <a:bodyPr/>
                    <a:lstStyle/>
                    <a:p>
                      <a:pPr lvl="0" algn="l">
                        <a:lnSpc>
                          <a:spcPct val="100000"/>
                        </a:lnSpc>
                        <a:spcBef>
                          <a:spcPts val="0"/>
                        </a:spcBef>
                        <a:spcAft>
                          <a:spcPts val="0"/>
                        </a:spcAft>
                        <a:buNone/>
                      </a:pPr>
                      <a:r>
                        <a:rPr lang="en-US" sz="1000" b="0" i="0" u="none" strike="noStrike" noProof="0">
                          <a:ln w="3175">
                            <a:noFill/>
                          </a:ln>
                          <a:solidFill>
                            <a:srgbClr val="FFFFFF"/>
                          </a:solidFill>
                          <a:effectLst/>
                          <a:latin typeface="Calibri"/>
                          <a:ea typeface="Calibri"/>
                          <a:cs typeface="Calibri"/>
                        </a:rPr>
                        <a:t>   Effort (Hours) and Cost (INR) of implementation                                                                                                                                                                                                                                                                                                                5%                                                                                                                                                                                                                                                                                                                                  </a:t>
                      </a:r>
                      <a:endParaRPr lang="en-US" sz="1000" b="0" i="0" u="none" strike="noStrike" noProof="0" dirty="0">
                        <a:ln w="3175">
                          <a:noFill/>
                        </a:ln>
                        <a:solidFill>
                          <a:srgbClr val="FFFFFF"/>
                        </a:solidFill>
                        <a:effectLst/>
                        <a:latin typeface="Calibri"/>
                        <a:ea typeface="Calibri"/>
                        <a:cs typeface="Calibri"/>
                      </a:endParaRPr>
                    </a:p>
                  </a:txBody>
                  <a:tcPr marL="5074" marR="5074" marT="5074" marB="0" anchor="b">
                    <a:lnT w="6350">
                      <a:solidFill>
                        <a:schemeClr val="bg1"/>
                      </a:solidFill>
                    </a:lnT>
                    <a:lnB w="6350">
                      <a:solidFill>
                        <a:schemeClr val="bg1"/>
                      </a:solidFill>
                    </a:lnB>
                    <a:solidFill>
                      <a:schemeClr val="tx1">
                        <a:lumMod val="50000"/>
                        <a:lumOff val="50000"/>
                      </a:schemeClr>
                    </a:solidFill>
                  </a:tcPr>
                </a:tc>
                <a:tc hMerge="1">
                  <a:txBody>
                    <a:bodyPr/>
                    <a:lstStyle/>
                    <a:p>
                      <a:pPr defTabSz="914400">
                        <a:tabLst/>
                        <a:defRPr/>
                      </a:pPr>
                      <a:endParaRPr lang="en-US"/>
                    </a:p>
                  </a:txBody>
                  <a:tcPr marL="5074" marR="5074" marT="5074" marB="0" anchor="ctr">
                    <a:lnT w="6350">
                      <a:solidFill>
                        <a:schemeClr val="bg1"/>
                      </a:solidFill>
                    </a:lnT>
                    <a:lnB w="6350">
                      <a:solidFill>
                        <a:schemeClr val="bg1"/>
                      </a:solidFill>
                    </a:lnB>
                    <a:solidFill>
                      <a:schemeClr val="tx1">
                        <a:lumMod val="50000"/>
                        <a:lumOff val="50000"/>
                      </a:schemeClr>
                    </a:solidFill>
                  </a:tcPr>
                </a:tc>
                <a:tc hMerge="1">
                  <a:txBody>
                    <a:bodyPr/>
                    <a:lstStyle/>
                    <a:p>
                      <a:endParaRPr lang="en-US"/>
                    </a:p>
                  </a:txBody>
                  <a:tcPr marL="5074" marR="5074" marT="5074" marB="0" anchor="ctr">
                    <a:lnT w="6350">
                      <a:solidFill>
                        <a:schemeClr val="bg1"/>
                      </a:solidFill>
                    </a:lnT>
                    <a:lnB w="6350">
                      <a:solidFill>
                        <a:schemeClr val="bg1"/>
                      </a:solidFill>
                    </a:lnB>
                    <a:solidFill>
                      <a:schemeClr val="tx1">
                        <a:lumMod val="50000"/>
                        <a:lumOff val="50000"/>
                      </a:schemeClr>
                    </a:solidFill>
                  </a:tcPr>
                </a:tc>
                <a:tc hMerge="1">
                  <a:txBody>
                    <a:bodyPr/>
                    <a:lstStyle/>
                    <a:p>
                      <a:endParaRPr lang="en-US"/>
                    </a:p>
                  </a:txBody>
                  <a:tcPr marL="5074" marR="5074" marT="5074" marB="0" anchor="ctr">
                    <a:lnT w="6350">
                      <a:solidFill>
                        <a:schemeClr val="bg1"/>
                      </a:solidFill>
                    </a:lnT>
                    <a:lnB w="6350">
                      <a:solidFill>
                        <a:schemeClr val="bg1"/>
                      </a:solidFill>
                    </a:lnB>
                    <a:solidFill>
                      <a:schemeClr val="tx1">
                        <a:lumMod val="50000"/>
                        <a:lumOff val="50000"/>
                      </a:schemeClr>
                    </a:solidFill>
                  </a:tcPr>
                </a:tc>
                <a:tc hMerge="1">
                  <a:txBody>
                    <a:bodyPr/>
                    <a:lstStyle/>
                    <a:p>
                      <a:endParaRPr lang="en-US"/>
                    </a:p>
                  </a:txBody>
                  <a:tcPr marL="5074" marR="5074" marT="5074" marB="0" anchor="ctr">
                    <a:lnT w="6350">
                      <a:solidFill>
                        <a:schemeClr val="bg1"/>
                      </a:solidFill>
                    </a:lnT>
                    <a:lnB w="6350">
                      <a:solidFill>
                        <a:schemeClr val="bg1"/>
                      </a:solidFill>
                    </a:lnB>
                    <a:solidFill>
                      <a:schemeClr val="tx1">
                        <a:lumMod val="50000"/>
                        <a:lumOff val="50000"/>
                      </a:schemeClr>
                    </a:solidFill>
                  </a:tcPr>
                </a:tc>
                <a:extLst>
                  <a:ext uri="{0D108BD9-81ED-4DB2-BD59-A6C34878D82A}">
                    <a16:rowId xmlns:a16="http://schemas.microsoft.com/office/drawing/2014/main" val="1661654677"/>
                  </a:ext>
                </a:extLst>
              </a:tr>
              <a:tr h="1736169">
                <a:tc>
                  <a:txBody>
                    <a:bodyPr/>
                    <a:lstStyle/>
                    <a:p>
                      <a:pPr lvl="0" algn="l">
                        <a:lnSpc>
                          <a:spcPct val="100000"/>
                        </a:lnSpc>
                        <a:spcBef>
                          <a:spcPts val="0"/>
                        </a:spcBef>
                        <a:spcAft>
                          <a:spcPts val="0"/>
                        </a:spcAft>
                        <a:buNone/>
                      </a:pPr>
                      <a:r>
                        <a:rPr lang="en-US" sz="1000" b="0" i="0" u="none" strike="noStrike" noProof="0">
                          <a:ln w="3175">
                            <a:noFill/>
                          </a:ln>
                          <a:solidFill>
                            <a:srgbClr val="000000"/>
                          </a:solidFill>
                          <a:effectLst/>
                          <a:latin typeface="Calibri"/>
                          <a:ea typeface="Calibri"/>
                          <a:cs typeface="Calibri"/>
                        </a:rPr>
                        <a:t>   Cost Effectiveness</a:t>
                      </a:r>
                      <a:endParaRPr lang="en-US"/>
                    </a:p>
                    <a:p>
                      <a:pPr lvl="0" algn="l">
                        <a:lnSpc>
                          <a:spcPct val="100000"/>
                        </a:lnSpc>
                        <a:spcBef>
                          <a:spcPts val="0"/>
                        </a:spcBef>
                        <a:spcAft>
                          <a:spcPts val="0"/>
                        </a:spcAft>
                        <a:buNone/>
                      </a:pPr>
                      <a:endParaRPr lang="en-US"/>
                    </a:p>
                    <a:p>
                      <a:pPr lvl="0" algn="l">
                        <a:lnSpc>
                          <a:spcPct val="100000"/>
                        </a:lnSpc>
                        <a:spcBef>
                          <a:spcPts val="0"/>
                        </a:spcBef>
                        <a:spcAft>
                          <a:spcPts val="0"/>
                        </a:spcAft>
                        <a:buNone/>
                      </a:pPr>
                      <a:endParaRPr lang="en-US"/>
                    </a:p>
                    <a:p>
                      <a:pPr marL="91440" lvl="0" indent="0" algn="l" defTabSz="914400">
                        <a:lnSpc>
                          <a:spcPct val="100000"/>
                        </a:lnSpc>
                        <a:spcBef>
                          <a:spcPts val="0"/>
                        </a:spcBef>
                        <a:spcAft>
                          <a:spcPts val="0"/>
                        </a:spcAft>
                        <a:buNone/>
                        <a:tabLst/>
                        <a:defRPr/>
                      </a:pPr>
                      <a:endParaRPr lang="en-US" sz="1000" u="none" strike="noStrike" dirty="0">
                        <a:ln w="3175">
                          <a:noFill/>
                        </a:ln>
                        <a:solidFill>
                          <a:srgbClr val="000000"/>
                        </a:solidFill>
                        <a:effectLst/>
                      </a:endParaRPr>
                    </a:p>
                  </a:txBody>
                  <a:tcPr marL="5074" marR="5074" marT="5074" marB="0" anchor="ctr">
                    <a:lnT w="6350">
                      <a:solidFill>
                        <a:schemeClr val="bg1"/>
                      </a:solidFill>
                    </a:lnT>
                    <a:lnB w="6350" cap="flat" cmpd="sng" algn="ctr">
                      <a:solidFill>
                        <a:schemeClr val="bg1"/>
                      </a:solidFill>
                      <a:prstDash val="solid"/>
                      <a:round/>
                      <a:headEnd type="none" w="med" len="med"/>
                      <a:tailEnd type="none" w="med" len="med"/>
                    </a:lnB>
                    <a:solidFill>
                      <a:srgbClr val="DDEFE8"/>
                    </a:solidFill>
                  </a:tcPr>
                </a:tc>
                <a:tc>
                  <a:txBody>
                    <a:bodyPr/>
                    <a:lstStyle/>
                    <a:p>
                      <a:pPr marL="91440" lvl="0" indent="0" algn="l" defTabSz="914400">
                        <a:lnSpc>
                          <a:spcPct val="100000"/>
                        </a:lnSpc>
                        <a:spcBef>
                          <a:spcPts val="0"/>
                        </a:spcBef>
                        <a:spcAft>
                          <a:spcPts val="0"/>
                        </a:spcAft>
                        <a:buNone/>
                        <a:tabLst/>
                        <a:defRPr/>
                      </a:pPr>
                      <a:endParaRPr lang="en-US" sz="1000" u="none" strike="noStrike" dirty="0">
                        <a:ln w="3175">
                          <a:noFill/>
                        </a:ln>
                        <a:solidFill>
                          <a:srgbClr val="000000"/>
                        </a:solidFill>
                        <a:effectLst/>
                      </a:endParaRPr>
                    </a:p>
                  </a:txBody>
                  <a:tcPr marL="5074" marR="5074" marT="5074" marB="0" anchor="b">
                    <a:lnT w="6350">
                      <a:solidFill>
                        <a:schemeClr val="bg1"/>
                      </a:solidFill>
                    </a:lnT>
                    <a:lnB w="6350" cap="flat" cmpd="sng" algn="ctr">
                      <a:solidFill>
                        <a:schemeClr val="bg1"/>
                      </a:solidFill>
                      <a:prstDash val="solid"/>
                      <a:round/>
                      <a:headEnd type="none" w="med" len="med"/>
                      <a:tailEnd type="none" w="med" len="med"/>
                    </a:lnB>
                    <a:solidFill>
                      <a:srgbClr val="DDEFE8"/>
                    </a:solidFill>
                  </a:tcPr>
                </a:tc>
                <a:tc>
                  <a:txBody>
                    <a:bodyPr/>
                    <a:lstStyle/>
                    <a:p>
                      <a:pPr lvl="0" algn="l">
                        <a:lnSpc>
                          <a:spcPct val="100000"/>
                        </a:lnSpc>
                        <a:spcBef>
                          <a:spcPts val="0"/>
                        </a:spcBef>
                        <a:spcAft>
                          <a:spcPts val="0"/>
                        </a:spcAft>
                        <a:buNone/>
                      </a:pPr>
                      <a:r>
                        <a:rPr lang="en-US" sz="1000" b="0" i="0" u="none" strike="noStrike" noProof="0">
                          <a:ln w="3175">
                            <a:noFill/>
                          </a:ln>
                          <a:solidFill>
                            <a:srgbClr val="000000"/>
                          </a:solidFill>
                          <a:effectLst/>
                        </a:rPr>
                        <a:t>What is the cost of implementing and maintaining the solution     </a:t>
                      </a:r>
                      <a:r>
                        <a:rPr lang="en-US" sz="1000" b="0" i="0" u="none" strike="noStrike" noProof="0" dirty="0">
                          <a:ln w="3175">
                            <a:noFill/>
                          </a:ln>
                          <a:solidFill>
                            <a:srgbClr val="000000"/>
                          </a:solidFill>
                          <a:effectLst/>
                        </a:rPr>
                        <a:t>relative to its expected benefits. This should include initial setup costs, operational costs, and any potential hidden costs. Explain the model used to arrive at the efforts.</a:t>
                      </a:r>
                      <a:endParaRPr lang="en-US" sz="1000" b="0" i="0" u="none" strike="noStrike" noProof="0" dirty="0">
                        <a:ln w="3175">
                          <a:noFill/>
                        </a:ln>
                        <a:solidFill>
                          <a:srgbClr val="000000"/>
                        </a:solidFill>
                        <a:effectLst/>
                        <a:latin typeface="Calibri"/>
                        <a:ea typeface="Calibri"/>
                        <a:cs typeface="Calibri"/>
                      </a:endParaRPr>
                    </a:p>
                    <a:p>
                      <a:pPr lvl="0" algn="l">
                        <a:lnSpc>
                          <a:spcPct val="100000"/>
                        </a:lnSpc>
                        <a:spcBef>
                          <a:spcPts val="0"/>
                        </a:spcBef>
                        <a:spcAft>
                          <a:spcPts val="0"/>
                        </a:spcAft>
                        <a:buNone/>
                      </a:pPr>
                      <a:endParaRPr lang="en-US" sz="1000" b="0" i="0" u="none" strike="noStrike" noProof="0" dirty="0">
                        <a:ln w="3175">
                          <a:noFill/>
                        </a:ln>
                        <a:solidFill>
                          <a:srgbClr val="000000"/>
                        </a:solidFill>
                        <a:effectLst/>
                        <a:latin typeface="Calibri"/>
                        <a:ea typeface="Calibri"/>
                        <a:cs typeface="Calibri"/>
                      </a:endParaRPr>
                    </a:p>
                    <a:p>
                      <a:pPr lvl="0" algn="l">
                        <a:lnSpc>
                          <a:spcPct val="100000"/>
                        </a:lnSpc>
                        <a:spcBef>
                          <a:spcPts val="0"/>
                        </a:spcBef>
                        <a:spcAft>
                          <a:spcPts val="0"/>
                        </a:spcAft>
                        <a:buNone/>
                      </a:pPr>
                      <a:endParaRPr lang="en-US" sz="1000" b="0" i="0" u="none" strike="noStrike" noProof="0" dirty="0">
                        <a:ln w="3175">
                          <a:noFill/>
                        </a:ln>
                        <a:solidFill>
                          <a:srgbClr val="000000"/>
                        </a:solidFill>
                        <a:effectLst/>
                        <a:latin typeface="Calibri"/>
                        <a:ea typeface="Calibri"/>
                        <a:cs typeface="Calibri"/>
                      </a:endParaRPr>
                    </a:p>
                    <a:p>
                      <a:pPr lvl="0" algn="l">
                        <a:lnSpc>
                          <a:spcPct val="100000"/>
                        </a:lnSpc>
                        <a:spcBef>
                          <a:spcPts val="0"/>
                        </a:spcBef>
                        <a:spcAft>
                          <a:spcPts val="0"/>
                        </a:spcAft>
                        <a:buNone/>
                      </a:pPr>
                      <a:endParaRPr lang="en-US" sz="1000" b="0" i="0" u="none" strike="noStrike" noProof="0" dirty="0">
                        <a:ln w="3175">
                          <a:noFill/>
                        </a:ln>
                        <a:solidFill>
                          <a:srgbClr val="000000"/>
                        </a:solidFill>
                        <a:effectLst/>
                        <a:latin typeface="Calibri"/>
                        <a:ea typeface="Calibri"/>
                        <a:cs typeface="Calibri"/>
                      </a:endParaRPr>
                    </a:p>
                    <a:p>
                      <a:pPr lvl="0" algn="l">
                        <a:lnSpc>
                          <a:spcPct val="100000"/>
                        </a:lnSpc>
                        <a:spcBef>
                          <a:spcPts val="0"/>
                        </a:spcBef>
                        <a:spcAft>
                          <a:spcPts val="0"/>
                        </a:spcAft>
                        <a:buNone/>
                      </a:pPr>
                      <a:endParaRPr lang="en-US"/>
                    </a:p>
                    <a:p>
                      <a:pPr lvl="0" algn="l">
                        <a:lnSpc>
                          <a:spcPct val="100000"/>
                        </a:lnSpc>
                        <a:spcBef>
                          <a:spcPts val="0"/>
                        </a:spcBef>
                        <a:spcAft>
                          <a:spcPts val="0"/>
                        </a:spcAft>
                        <a:buNone/>
                      </a:pPr>
                      <a:endParaRPr lang="en-US"/>
                    </a:p>
                    <a:p>
                      <a:pPr marL="91440" lvl="0" algn="l">
                        <a:lnSpc>
                          <a:spcPct val="100000"/>
                        </a:lnSpc>
                        <a:buNone/>
                      </a:pPr>
                      <a:endParaRPr lang="en-US" sz="1000" u="none" strike="noStrike" dirty="0">
                        <a:ln w="3175">
                          <a:noFill/>
                        </a:ln>
                        <a:solidFill>
                          <a:srgbClr val="000000"/>
                        </a:solidFill>
                        <a:effectLst/>
                      </a:endParaRPr>
                    </a:p>
                  </a:txBody>
                  <a:tcPr marL="5074" marR="5074" marT="5074" marB="0" anchor="b">
                    <a:lnT w="6350">
                      <a:solidFill>
                        <a:schemeClr val="bg1"/>
                      </a:solidFill>
                    </a:lnT>
                    <a:lnB w="6350" cap="flat" cmpd="sng" algn="ctr">
                      <a:solidFill>
                        <a:schemeClr val="bg1"/>
                      </a:solidFill>
                      <a:prstDash val="solid"/>
                      <a:round/>
                      <a:headEnd type="none" w="med" len="med"/>
                      <a:tailEnd type="none" w="med" len="med"/>
                    </a:lnB>
                    <a:solidFill>
                      <a:srgbClr val="DDEFE8"/>
                    </a:solidFill>
                  </a:tcPr>
                </a:tc>
                <a:tc>
                  <a:txBody>
                    <a:bodyPr/>
                    <a:lstStyle/>
                    <a:p>
                      <a:pPr marL="91440" lvl="0" algn="l">
                        <a:lnSpc>
                          <a:spcPct val="100000"/>
                        </a:lnSpc>
                        <a:buNone/>
                      </a:pPr>
                      <a:r>
                        <a:rPr lang="en-US" sz="1000" b="0" i="0" u="none" strike="noStrike" noProof="0" dirty="0">
                          <a:ln w="3175">
                            <a:noFill/>
                          </a:ln>
                          <a:solidFill>
                            <a:srgbClr val="000000"/>
                          </a:solidFill>
                          <a:effectLst/>
                          <a:latin typeface="Calibri"/>
                          <a:ea typeface="Calibri"/>
                          <a:cs typeface="Calibri"/>
                        </a:rPr>
                        <a:t>Initial setup: -</a:t>
                      </a:r>
                      <a:r>
                        <a:rPr lang="en-US" sz="1000" b="0" i="0" u="none" strike="noStrike" noProof="0" dirty="0">
                          <a:ln w="3175">
                            <a:noFill/>
                          </a:ln>
                          <a:solidFill>
                            <a:srgbClr val="000000"/>
                          </a:solidFill>
                          <a:effectLst/>
                        </a:rPr>
                        <a:t>1,120 hours (-12 weeks, 3–</a:t>
                      </a:r>
                      <a:r>
                        <a:rPr lang="en-US" sz="1000" b="0" i="0" u="none" strike="noStrike" noProof="0" dirty="0" err="1">
                          <a:ln w="3175">
                            <a:noFill/>
                          </a:ln>
                          <a:solidFill>
                            <a:srgbClr val="000000"/>
                          </a:solidFill>
                          <a:effectLst/>
                        </a:rPr>
                        <a:t>4 person</a:t>
                      </a:r>
                      <a:r>
                        <a:rPr lang="en-US" sz="1000" b="0" i="0" u="none" strike="noStrike" noProof="0" dirty="0">
                          <a:ln w="3175">
                            <a:noFill/>
                          </a:ln>
                          <a:solidFill>
                            <a:srgbClr val="000000"/>
                          </a:solidFill>
                          <a:effectLst/>
                        </a:rPr>
                        <a:t> team) to build the Predict → Explain → Act pipeline, roughly ₹8,96,000 at </a:t>
                      </a:r>
                      <a:r>
                        <a:rPr lang="en-US" sz="1000" b="0" i="0" u="none" strike="noStrike" noProof="0" dirty="0" err="1">
                          <a:ln w="3175">
                            <a:noFill/>
                          </a:ln>
                          <a:solidFill>
                            <a:srgbClr val="000000"/>
                          </a:solidFill>
                          <a:effectLst/>
                        </a:rPr>
                        <a:t>a</a:t>
                      </a:r>
                      <a:r>
                        <a:rPr lang="en-US" sz="1000" b="0" i="0" u="none" strike="noStrike" noProof="0" dirty="0">
                          <a:ln w="3175">
                            <a:noFill/>
                          </a:ln>
                          <a:solidFill>
                            <a:srgbClr val="000000"/>
                          </a:solidFill>
                          <a:effectLst/>
                        </a:rPr>
                        <a:t> blended</a:t>
                      </a:r>
                      <a:r>
                        <a:rPr lang="en-US" sz="1000" b="0" i="0" u="none" strike="noStrike" noProof="0" dirty="0">
                          <a:ln w="3175">
                            <a:noFill/>
                          </a:ln>
                          <a:solidFill>
                            <a:srgbClr val="000000"/>
                          </a:solidFill>
                          <a:effectLst/>
                          <a:latin typeface="Calibri"/>
                          <a:ea typeface="Calibri"/>
                          <a:cs typeface="Calibri"/>
                        </a:rPr>
                        <a:t>₹800/</a:t>
                      </a:r>
                      <a:r>
                        <a:rPr lang="en-US" sz="1000" b="0" i="0" u="none" strike="noStrike" noProof="0" dirty="0" err="1">
                          <a:ln w="3175">
                            <a:noFill/>
                          </a:ln>
                          <a:solidFill>
                            <a:srgbClr val="000000"/>
                          </a:solidFill>
                          <a:effectLst/>
                          <a:latin typeface="Calibri"/>
                          <a:ea typeface="Calibri"/>
                          <a:cs typeface="Calibri"/>
                        </a:rPr>
                        <a:t>hr</a:t>
                      </a:r>
                      <a:r>
                        <a:rPr lang="en-US" sz="1000" b="0" i="0" u="none" strike="noStrike" noProof="0" dirty="0">
                          <a:ln w="3175">
                            <a:noFill/>
                          </a:ln>
                          <a:solidFill>
                            <a:srgbClr val="000000"/>
                          </a:solidFill>
                          <a:effectLst/>
                          <a:latin typeface="Calibri"/>
                          <a:ea typeface="Calibri"/>
                          <a:cs typeface="Calibri"/>
                        </a:rPr>
                        <a:t> planning rate. Model used: bottom-up, phase-based estimate — hours per phase × team roles × blended rate, not a vendor quote. Operational: LLM API usage for ticket analysis and outreach drafting (₹40,000–80,000/month depending on volume), hosting (₹25,000–40,000/month), and quarterly model retraining as churn patterns shift (~₹40,000/quarter). Hidden costs: integration upkeep whenever a client's CRM or ticketing API changes, and CSM time lost to false-positive outreach, which scales with model precision. Relative to the ₹45,00,000/year in preserved revenue from the ROI example below, the ~₹9L build and ~₹65,000–1,20,000/month </a:t>
                      </a:r>
                      <a:r>
                        <a:rPr lang="en-US" sz="1000" b="0" i="0" u="none" strike="noStrike" noProof="0" dirty="0" err="1">
                          <a:ln w="3175">
                            <a:noFill/>
                          </a:ln>
                          <a:solidFill>
                            <a:srgbClr val="000000"/>
                          </a:solidFill>
                          <a:effectLst/>
                          <a:latin typeface="Calibri"/>
                          <a:ea typeface="Calibri"/>
                          <a:cs typeface="Calibri"/>
                        </a:rPr>
                        <a:t>opex</a:t>
                      </a:r>
                      <a:r>
                        <a:rPr lang="en-US" sz="1000" b="0" i="0" u="none" strike="noStrike" noProof="0" dirty="0">
                          <a:ln w="3175">
                            <a:noFill/>
                          </a:ln>
                          <a:solidFill>
                            <a:srgbClr val="000000"/>
                          </a:solidFill>
                          <a:effectLst/>
                          <a:latin typeface="Calibri"/>
                          <a:ea typeface="Calibri"/>
                          <a:cs typeface="Calibri"/>
                        </a:rPr>
                        <a:t> pays back well inside year one.</a:t>
                      </a:r>
                    </a:p>
                    <a:p>
                      <a:pPr marL="91440" lvl="0" algn="l">
                        <a:lnSpc>
                          <a:spcPct val="100000"/>
                        </a:lnSpc>
                        <a:buNone/>
                      </a:pPr>
                      <a:endParaRPr lang="en-US" sz="1000" b="0" i="0" u="none" strike="noStrike" noProof="0" dirty="0">
                        <a:ln w="3175">
                          <a:noFill/>
                        </a:ln>
                        <a:solidFill>
                          <a:srgbClr val="000000"/>
                        </a:solidFill>
                        <a:effectLst/>
                      </a:endParaRPr>
                    </a:p>
                    <a:p>
                      <a:pPr marL="91440" lvl="0" algn="l">
                        <a:lnSpc>
                          <a:spcPct val="100000"/>
                        </a:lnSpc>
                        <a:buNone/>
                      </a:pPr>
                      <a:endParaRPr lang="en-US" sz="1000" b="0" i="0" u="none" strike="noStrike" noProof="0" dirty="0">
                        <a:ln w="3175">
                          <a:noFill/>
                        </a:ln>
                        <a:solidFill>
                          <a:srgbClr val="000000"/>
                        </a:solidFill>
                        <a:effectLst/>
                        <a:latin typeface="Calibri"/>
                        <a:ea typeface="Calibri"/>
                        <a:cs typeface="Calibri"/>
                      </a:endParaRPr>
                    </a:p>
                  </a:txBody>
                  <a:tcPr marL="5074" marR="5074" marT="5074" marB="0" anchor="b">
                    <a:lnT w="6350">
                      <a:solidFill>
                        <a:schemeClr val="bg1"/>
                      </a:solidFill>
                    </a:lnT>
                    <a:lnB w="6350" cap="flat" cmpd="sng" algn="ctr">
                      <a:solidFill>
                        <a:schemeClr val="bg1"/>
                      </a:solidFill>
                      <a:prstDash val="solid"/>
                      <a:round/>
                      <a:headEnd type="none" w="med" len="med"/>
                      <a:tailEnd type="none" w="med" len="med"/>
                    </a:lnB>
                    <a:solidFill>
                      <a:srgbClr val="DDEFE8"/>
                    </a:solidFill>
                  </a:tcPr>
                </a:tc>
                <a:tc>
                  <a:txBody>
                    <a:bodyPr/>
                    <a:lstStyle/>
                    <a:p>
                      <a:pPr marL="91440" lvl="0" algn="ctr">
                        <a:lnSpc>
                          <a:spcPct val="100000"/>
                        </a:lnSpc>
                        <a:buNone/>
                      </a:pPr>
                      <a:r>
                        <a:rPr lang="en-US" sz="1000" u="none" strike="noStrike">
                          <a:ln w="3175">
                            <a:noFill/>
                          </a:ln>
                          <a:solidFill>
                            <a:srgbClr val="000000"/>
                          </a:solidFill>
                          <a:effectLst/>
                        </a:rPr>
                        <a:t>5</a:t>
                      </a:r>
                      <a:endParaRPr lang="en-US" sz="1000" u="none" strike="noStrike" dirty="0">
                        <a:ln w="3175">
                          <a:noFill/>
                        </a:ln>
                        <a:solidFill>
                          <a:srgbClr val="000000"/>
                        </a:solidFill>
                        <a:effectLst/>
                      </a:endParaRPr>
                    </a:p>
                  </a:txBody>
                  <a:tcPr marL="5074" marR="5074" marT="5074" marB="0" anchor="ctr">
                    <a:lnT w="6350">
                      <a:solidFill>
                        <a:schemeClr val="bg1"/>
                      </a:solidFill>
                    </a:lnT>
                    <a:lnB w="6350" cap="flat" cmpd="sng" algn="ctr">
                      <a:solidFill>
                        <a:schemeClr val="bg1"/>
                      </a:solidFill>
                      <a:prstDash val="solid"/>
                      <a:round/>
                      <a:headEnd type="none" w="med" len="med"/>
                      <a:tailEnd type="none" w="med" len="med"/>
                    </a:lnB>
                    <a:solidFill>
                      <a:srgbClr val="DDEFE8"/>
                    </a:solidFill>
                  </a:tcPr>
                </a:tc>
                <a:extLst>
                  <a:ext uri="{0D108BD9-81ED-4DB2-BD59-A6C34878D82A}">
                    <a16:rowId xmlns:a16="http://schemas.microsoft.com/office/drawing/2014/main" val="404691672"/>
                  </a:ext>
                </a:extLst>
              </a:tr>
              <a:tr h="1063236">
                <a:tc>
                  <a:txBody>
                    <a:bodyPr/>
                    <a:lstStyle/>
                    <a:p>
                      <a:pPr lvl="0" algn="l">
                        <a:lnSpc>
                          <a:spcPct val="100000"/>
                        </a:lnSpc>
                        <a:spcBef>
                          <a:spcPts val="0"/>
                        </a:spcBef>
                        <a:spcAft>
                          <a:spcPts val="0"/>
                        </a:spcAft>
                        <a:buNone/>
                      </a:pPr>
                      <a:r>
                        <a:rPr lang="en-US" sz="1000" b="0" i="0" u="none" strike="noStrike" noProof="0">
                          <a:ln w="3175">
                            <a:noFill/>
                          </a:ln>
                          <a:solidFill>
                            <a:srgbClr val="000000"/>
                          </a:solidFill>
                          <a:effectLst/>
                          <a:latin typeface="Calibri"/>
                          <a:ea typeface="Calibri"/>
                          <a:cs typeface="Calibri"/>
                        </a:rPr>
                        <a:t>   ROI</a:t>
                      </a:r>
                      <a:endParaRPr lang="en-US"/>
                    </a:p>
                    <a:p>
                      <a:pPr lvl="0" algn="l">
                        <a:lnSpc>
                          <a:spcPct val="100000"/>
                        </a:lnSpc>
                        <a:spcBef>
                          <a:spcPts val="0"/>
                        </a:spcBef>
                        <a:spcAft>
                          <a:spcPts val="0"/>
                        </a:spcAft>
                        <a:buNone/>
                      </a:pPr>
                      <a:endParaRPr lang="en-US"/>
                    </a:p>
                    <a:p>
                      <a:pPr lvl="0" algn="l">
                        <a:lnSpc>
                          <a:spcPct val="100000"/>
                        </a:lnSpc>
                        <a:spcBef>
                          <a:spcPts val="0"/>
                        </a:spcBef>
                        <a:spcAft>
                          <a:spcPts val="0"/>
                        </a:spcAft>
                        <a:buNone/>
                      </a:pPr>
                      <a:endParaRPr lang="en-US"/>
                    </a:p>
                    <a:p>
                      <a:pPr marL="91440" lvl="0" indent="0" algn="l" defTabSz="914400">
                        <a:lnSpc>
                          <a:spcPct val="100000"/>
                        </a:lnSpc>
                        <a:spcBef>
                          <a:spcPts val="0"/>
                        </a:spcBef>
                        <a:spcAft>
                          <a:spcPts val="0"/>
                        </a:spcAft>
                        <a:buNone/>
                        <a:tabLst/>
                        <a:defRPr/>
                      </a:pPr>
                      <a:endParaRPr lang="en-US" sz="1000" u="none" strike="noStrike" dirty="0">
                        <a:ln w="3175">
                          <a:noFill/>
                        </a:ln>
                        <a:solidFill>
                          <a:srgbClr val="000000"/>
                        </a:solidFill>
                        <a:effectLst/>
                      </a:endParaRPr>
                    </a:p>
                  </a:txBody>
                  <a:tcPr marL="5074" marR="5074" marT="5074" marB="0" anchor="ctr">
                    <a:lnT w="6350">
                      <a:solidFill>
                        <a:schemeClr val="bg1"/>
                      </a:solidFill>
                    </a:lnT>
                    <a:lnB w="6350">
                      <a:solidFill>
                        <a:schemeClr val="bg1"/>
                      </a:solidFill>
                    </a:lnB>
                    <a:solidFill>
                      <a:srgbClr val="DDEFE8"/>
                    </a:solidFill>
                  </a:tcPr>
                </a:tc>
                <a:tc>
                  <a:txBody>
                    <a:bodyPr/>
                    <a:lstStyle/>
                    <a:p>
                      <a:pPr marL="91440" lvl="0" indent="0" algn="l" defTabSz="914400">
                        <a:lnSpc>
                          <a:spcPct val="100000"/>
                        </a:lnSpc>
                        <a:spcBef>
                          <a:spcPts val="0"/>
                        </a:spcBef>
                        <a:spcAft>
                          <a:spcPts val="0"/>
                        </a:spcAft>
                        <a:buNone/>
                        <a:tabLst/>
                        <a:defRPr/>
                      </a:pPr>
                      <a:endParaRPr lang="en-US" sz="1000" u="none" strike="noStrike" dirty="0">
                        <a:ln w="3175">
                          <a:noFill/>
                        </a:ln>
                        <a:solidFill>
                          <a:srgbClr val="000000"/>
                        </a:solidFill>
                        <a:effectLst/>
                      </a:endParaRPr>
                    </a:p>
                  </a:txBody>
                  <a:tcPr marL="5074" marR="5074" marT="5074" marB="0" anchor="b">
                    <a:lnT w="6350">
                      <a:solidFill>
                        <a:schemeClr val="bg1"/>
                      </a:solidFill>
                    </a:lnT>
                    <a:lnB w="6350">
                      <a:solidFill>
                        <a:schemeClr val="bg1"/>
                      </a:solidFill>
                    </a:lnB>
                    <a:solidFill>
                      <a:srgbClr val="DDEFE8"/>
                    </a:solidFill>
                  </a:tcPr>
                </a:tc>
                <a:tc>
                  <a:txBody>
                    <a:bodyPr/>
                    <a:lstStyle/>
                    <a:p>
                      <a:pPr lvl="0" algn="l">
                        <a:lnSpc>
                          <a:spcPct val="100000"/>
                        </a:lnSpc>
                        <a:spcBef>
                          <a:spcPts val="0"/>
                        </a:spcBef>
                        <a:spcAft>
                          <a:spcPts val="0"/>
                        </a:spcAft>
                        <a:buNone/>
                      </a:pPr>
                      <a:r>
                        <a:rPr lang="en-US" sz="1000" b="0" i="0" u="none" strike="noStrike" noProof="0">
                          <a:ln w="3175">
                            <a:noFill/>
                          </a:ln>
                          <a:solidFill>
                            <a:srgbClr val="000000"/>
                          </a:solidFill>
                          <a:effectLst/>
                          <a:latin typeface="Calibri"/>
                          <a:ea typeface="Calibri"/>
                          <a:cs typeface="Calibri"/>
                        </a:rPr>
                        <a:t>What is the potential Return on Investment considering the proposed solution? Illustrate.</a:t>
                      </a:r>
                      <a:endParaRPr lang="en-US"/>
                    </a:p>
                    <a:p>
                      <a:pPr lvl="0" algn="l">
                        <a:lnSpc>
                          <a:spcPct val="100000"/>
                        </a:lnSpc>
                        <a:spcBef>
                          <a:spcPts val="0"/>
                        </a:spcBef>
                        <a:spcAft>
                          <a:spcPts val="0"/>
                        </a:spcAft>
                        <a:buNone/>
                      </a:pPr>
                      <a:endParaRPr lang="en-US"/>
                    </a:p>
                    <a:p>
                      <a:pPr lvl="0" algn="l">
                        <a:lnSpc>
                          <a:spcPct val="100000"/>
                        </a:lnSpc>
                        <a:spcBef>
                          <a:spcPts val="0"/>
                        </a:spcBef>
                        <a:spcAft>
                          <a:spcPts val="0"/>
                        </a:spcAft>
                        <a:buNone/>
                      </a:pPr>
                      <a:endParaRPr lang="en-US"/>
                    </a:p>
                    <a:p>
                      <a:pPr marL="91440" lvl="0" algn="l">
                        <a:lnSpc>
                          <a:spcPct val="100000"/>
                        </a:lnSpc>
                        <a:buNone/>
                      </a:pPr>
                      <a:endParaRPr lang="en-US" sz="1000" u="none" strike="noStrike" dirty="0">
                        <a:ln w="3175">
                          <a:noFill/>
                        </a:ln>
                        <a:solidFill>
                          <a:srgbClr val="000000"/>
                        </a:solidFill>
                        <a:effectLst/>
                      </a:endParaRPr>
                    </a:p>
                  </a:txBody>
                  <a:tcPr marL="5074" marR="5074" marT="5074" marB="0" anchor="b">
                    <a:lnT w="6350">
                      <a:solidFill>
                        <a:schemeClr val="bg1"/>
                      </a:solidFill>
                    </a:lnT>
                    <a:lnB w="6350">
                      <a:solidFill>
                        <a:schemeClr val="bg1"/>
                      </a:solidFill>
                    </a:lnB>
                    <a:solidFill>
                      <a:srgbClr val="DDEFE8"/>
                    </a:solidFill>
                  </a:tcPr>
                </a:tc>
                <a:tc>
                  <a:txBody>
                    <a:bodyPr/>
                    <a:lstStyle/>
                    <a:p>
                      <a:pPr marL="91440" lvl="0" algn="l">
                        <a:lnSpc>
                          <a:spcPct val="100000"/>
                        </a:lnSpc>
                        <a:buNone/>
                      </a:pPr>
                      <a:r>
                        <a:rPr lang="en-US" sz="1000" b="0" i="0" u="none" strike="noStrike" noProof="0">
                          <a:ln w="3175">
                            <a:noFill/>
                          </a:ln>
                          <a:solidFill>
                            <a:srgbClr val="000000"/>
                          </a:solidFill>
                          <a:effectLst/>
                          <a:latin typeface="Calibri"/>
                          <a:ea typeface="Calibri"/>
                          <a:cs typeface="Calibri"/>
                        </a:rPr>
                        <a:t>Illustrative 500-customer client, ₹3,00,000 average annual contract value, 20% churn: retaining just 15% of the ~100 accounts that would've churned preserves ₹45,00,000/year. Against the ~₹9L build cost and a ₹4–6L/year subscription, that's a 7–10x annual return, with the build cost itself recovered within the first year.</a:t>
                      </a:r>
                      <a:endParaRPr lang="en-US" sz="1000"/>
                    </a:p>
                  </a:txBody>
                  <a:tcPr marL="5074" marR="5074" marT="5074" marB="0" anchor="ctr">
                    <a:lnT w="6350">
                      <a:solidFill>
                        <a:schemeClr val="bg1"/>
                      </a:solidFill>
                    </a:lnT>
                    <a:lnB w="6350">
                      <a:solidFill>
                        <a:schemeClr val="bg1"/>
                      </a:solidFill>
                    </a:lnB>
                    <a:solidFill>
                      <a:srgbClr val="DDEFE8"/>
                    </a:solidFill>
                  </a:tcPr>
                </a:tc>
                <a:tc>
                  <a:txBody>
                    <a:bodyPr/>
                    <a:lstStyle/>
                    <a:p>
                      <a:pPr marL="91440" lvl="0" algn="ctr">
                        <a:lnSpc>
                          <a:spcPct val="100000"/>
                        </a:lnSpc>
                        <a:buNone/>
                      </a:pPr>
                      <a:endParaRPr lang="en-US" sz="1000" u="none" strike="noStrike" dirty="0">
                        <a:ln w="3175">
                          <a:noFill/>
                        </a:ln>
                        <a:solidFill>
                          <a:srgbClr val="000000"/>
                        </a:solidFill>
                        <a:effectLst/>
                      </a:endParaRPr>
                    </a:p>
                  </a:txBody>
                  <a:tcPr marL="5074" marR="5074" marT="5074" marB="0" anchor="ctr">
                    <a:lnT w="6350">
                      <a:solidFill>
                        <a:schemeClr val="bg1"/>
                      </a:solidFill>
                    </a:lnT>
                    <a:lnB w="6350">
                      <a:solidFill>
                        <a:schemeClr val="bg1"/>
                      </a:solidFill>
                    </a:lnB>
                    <a:solidFill>
                      <a:srgbClr val="DDEFE8"/>
                    </a:solidFill>
                  </a:tcPr>
                </a:tc>
                <a:extLst>
                  <a:ext uri="{0D108BD9-81ED-4DB2-BD59-A6C34878D82A}">
                    <a16:rowId xmlns:a16="http://schemas.microsoft.com/office/drawing/2014/main" val="3513307793"/>
                  </a:ext>
                </a:extLst>
              </a:tr>
            </a:tbl>
          </a:graphicData>
        </a:graphic>
      </p:graphicFrame>
      <p:sp>
        <p:nvSpPr>
          <p:cNvPr id="6" name="Title 2">
            <a:extLst>
              <a:ext uri="{FF2B5EF4-FFF2-40B4-BE49-F238E27FC236}">
                <a16:creationId xmlns:a16="http://schemas.microsoft.com/office/drawing/2014/main" id="{A434AE0A-495F-781E-C536-5ED926863591}"/>
              </a:ext>
            </a:extLst>
          </p:cNvPr>
          <p:cNvSpPr txBox="1">
            <a:spLocks/>
          </p:cNvSpPr>
          <p:nvPr/>
        </p:nvSpPr>
        <p:spPr bwMode="gray">
          <a:xfrm>
            <a:off x="3702281" y="0"/>
            <a:ext cx="4787438" cy="342000"/>
          </a:xfrm>
          <a:prstGeom prst="rect">
            <a:avLst/>
          </a:prstGeom>
        </p:spPr>
        <p:txBody>
          <a:bodyPr vert="horz" lIns="0" tIns="0" rIns="0" bIns="0" rtlCol="0" anchor="b" anchorCtr="0">
            <a:noAutofit/>
          </a:bodyPr>
          <a:lstStyle>
            <a:lvl1pPr algn="l" defTabSz="685800" rtl="0" eaLnBrk="1" latinLnBrk="0" hangingPunct="1">
              <a:lnSpc>
                <a:spcPts val="3200"/>
              </a:lnSpc>
              <a:spcBef>
                <a:spcPct val="0"/>
              </a:spcBef>
              <a:buNone/>
              <a:defRPr sz="3200" b="0" kern="1200">
                <a:solidFill>
                  <a:schemeClr val="accent3"/>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sz="1800"/>
              <a:t>Capstone Use Case – Student Response Template</a:t>
            </a:r>
          </a:p>
        </p:txBody>
      </p:sp>
      <p:sp>
        <p:nvSpPr>
          <p:cNvPr id="24" name="Text Placeholder 2">
            <a:extLst>
              <a:ext uri="{FF2B5EF4-FFF2-40B4-BE49-F238E27FC236}">
                <a16:creationId xmlns:a16="http://schemas.microsoft.com/office/drawing/2014/main" id="{FBB36D41-369B-8435-B6FB-A5AF777443D2}"/>
              </a:ext>
            </a:extLst>
          </p:cNvPr>
          <p:cNvSpPr>
            <a:spLocks noGrp="1"/>
          </p:cNvSpPr>
          <p:nvPr>
            <p:ph type="body" sz="quarter" idx="10"/>
          </p:nvPr>
        </p:nvSpPr>
        <p:spPr>
          <a:xfrm>
            <a:off x="476141" y="6660850"/>
            <a:ext cx="4490721" cy="180000"/>
          </a:xfrm>
        </p:spPr>
        <p:txBody>
          <a:bodyPr/>
          <a:lstStyle/>
          <a:p>
            <a:r>
              <a:rPr lang="en-US" sz="800" b="0">
                <a:ea typeface="Calibri" panose="020F0502020204030204" pitchFamily="34" charset="0"/>
              </a:rPr>
              <a:t>Copyright © 2026 Deloitte Development LLC. All rights reserved.</a:t>
            </a:r>
          </a:p>
        </p:txBody>
      </p:sp>
      <p:sp>
        <p:nvSpPr>
          <p:cNvPr id="28" name="Text Placeholder 2">
            <a:extLst>
              <a:ext uri="{FF2B5EF4-FFF2-40B4-BE49-F238E27FC236}">
                <a16:creationId xmlns:a16="http://schemas.microsoft.com/office/drawing/2014/main" id="{46AD9E90-41C8-A458-A7F6-30947E51428B}"/>
              </a:ext>
            </a:extLst>
          </p:cNvPr>
          <p:cNvSpPr txBox="1">
            <a:spLocks/>
          </p:cNvSpPr>
          <p:nvPr/>
        </p:nvSpPr>
        <p:spPr>
          <a:xfrm>
            <a:off x="9519914" y="6679986"/>
            <a:ext cx="2327624" cy="135779"/>
          </a:xfrm>
          <a:prstGeom prst="rect">
            <a:avLst/>
          </a:prstGeom>
        </p:spPr>
        <p:txBody>
          <a:bodyPr vert="horz" lIns="0" tIns="0" rIns="0" bIns="0" rtlCol="0" anchor="ctr">
            <a:noAutofit/>
          </a:bodyPr>
          <a:lstStyle>
            <a:lvl1pPr marL="0" indent="0" algn="l" defTabSz="685800" rtl="0" eaLnBrk="1" latinLnBrk="0" hangingPunct="1">
              <a:lnSpc>
                <a:spcPct val="100000"/>
              </a:lnSpc>
              <a:spcBef>
                <a:spcPts val="200"/>
              </a:spcBef>
              <a:spcAft>
                <a:spcPts val="0"/>
              </a:spcAft>
              <a:buSzPct val="100000"/>
              <a:buFontTx/>
              <a:buNone/>
              <a:defRPr sz="1400" b="1" kern="1200">
                <a:solidFill>
                  <a:schemeClr val="tx1"/>
                </a:solidFill>
                <a:latin typeface="Calibri" panose="020F0502020204030204" pitchFamily="34" charset="0"/>
                <a:ea typeface="+mn-ea"/>
                <a:cs typeface="Calibri" panose="020F05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a:solidFill>
                  <a:schemeClr val="bg1"/>
                </a:solidFill>
                <a:latin typeface="+mj-lt"/>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a:solidFill>
                  <a:schemeClr val="bg1"/>
                </a:solidFill>
                <a:latin typeface="+mn-lt"/>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a:solidFill>
                  <a:schemeClr val="bg1"/>
                </a:solidFill>
                <a:latin typeface="+mn-lt"/>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a:solidFill>
                  <a:schemeClr val="bg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r>
              <a:rPr lang="en-US" sz="800" b="0">
                <a:ea typeface="Calibri" panose="020F0502020204030204" pitchFamily="34" charset="0"/>
              </a:rPr>
              <a:t>Capstone Program 2026 – Student Response Template</a:t>
            </a:r>
          </a:p>
        </p:txBody>
      </p:sp>
    </p:spTree>
    <p:extLst>
      <p:ext uri="{BB962C8B-B14F-4D97-AF65-F5344CB8AC3E}">
        <p14:creationId xmlns:p14="http://schemas.microsoft.com/office/powerpoint/2010/main" val="238784511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pPr marR="5080"/>
            <a:r>
              <a:rPr lang="en-US" b="1" spc="-5" dirty="0">
                <a:latin typeface="Calibri Light" panose="020F0302020204030204"/>
                <a:cs typeface="Calibri Light" panose="020F0302020204030204"/>
              </a:rPr>
              <a:t>About Deloitte </a:t>
            </a:r>
          </a:p>
          <a:p>
            <a:pPr marR="5080"/>
            <a:r>
              <a:rPr lang="en-US" spc="-5" dirty="0">
                <a:latin typeface="Calibri Light" panose="020F0302020204030204"/>
                <a:cs typeface="Calibri Light" panose="020F0302020204030204"/>
              </a:rPr>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In the United States, Deloitte refers to one or more of the US member firms of DTTL, their related entities that operate using the “Deloitte” name in the United States and their respective affiliates. Certain services may not be available to attest clients under the rules and regulations of public accounting. Please see </a:t>
            </a:r>
            <a:r>
              <a:rPr lang="en-US" spc="-5" dirty="0">
                <a:latin typeface="Calibri Light" panose="020F0302020204030204"/>
                <a:cs typeface="Calibri Light" panose="020F0302020204030204"/>
                <a:hlinkClick r:id="rId3"/>
              </a:rPr>
              <a:t>www.deloitte.com/about</a:t>
            </a:r>
            <a:r>
              <a:rPr lang="en-US" spc="-5" dirty="0">
                <a:latin typeface="Calibri Light" panose="020F0302020204030204"/>
                <a:cs typeface="Calibri Light" panose="020F0302020204030204"/>
              </a:rPr>
              <a:t> to learn more about our global network of member firms.  </a:t>
            </a:r>
          </a:p>
          <a:p>
            <a:pPr marR="5080"/>
            <a:r>
              <a:rPr lang="en-US" spc="-5" dirty="0">
                <a:latin typeface="Calibri Light" panose="020F0302020204030204"/>
                <a:cs typeface="Calibri Light" panose="020F0302020204030204"/>
              </a:rPr>
              <a:t>Copyright © 2026 Deloitte Development LLC. All rights reserved.</a:t>
            </a:r>
            <a:endParaRPr lang="en-US" dirty="0">
              <a:latin typeface="Calibri Light" panose="020F0302020204030204"/>
              <a:cs typeface="Calibri Light" panose="020F0302020204030204"/>
            </a:endParaRPr>
          </a:p>
        </p:txBody>
      </p:sp>
      <mc:AlternateContent xmlns:mc="http://schemas.openxmlformats.org/markup-compatibility/2006" xmlns:p14="http://schemas.microsoft.com/office/powerpoint/2010/main">
        <mc:Choice Requires="p14">
          <p:contentPart p14:bwMode="auto" r:id="rId4">
            <p14:nvContentPartPr>
              <p14:cNvPr id="3" name="Ink 2"/>
              <p14:cNvContentPartPr/>
              <p14:nvPr/>
            </p14:nvContentPartPr>
            <p14:xfrm>
              <a:off x="1925211" y="6073888"/>
              <a:ext cx="10297" cy="10297"/>
            </p14:xfrm>
          </p:contentPart>
        </mc:Choice>
        <mc:Fallback xmlns="">
          <p:pic>
            <p:nvPicPr>
              <p:cNvPr id="3" name="Ink 2"/>
              <p:cNvPicPr/>
              <p:nvPr/>
            </p:nvPicPr>
            <p:blipFill>
              <a:blip r:embed="rId5"/>
              <a:stretch>
                <a:fillRect/>
              </a:stretch>
            </p:blipFill>
            <p:spPr>
              <a:xfrm>
                <a:off x="1900694" y="6043603"/>
                <a:ext cx="58840" cy="70262"/>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p14:cNvContentPartPr/>
              <p14:nvPr/>
            </p14:nvContentPartPr>
            <p14:xfrm>
              <a:off x="1228334" y="5923075"/>
              <a:ext cx="10297" cy="10297"/>
            </p14:xfrm>
          </p:contentPart>
        </mc:Choice>
        <mc:Fallback xmlns="">
          <p:pic>
            <p:nvPicPr>
              <p:cNvPr id="4" name="Ink 3"/>
              <p:cNvPicPr/>
              <p:nvPr/>
            </p:nvPicPr>
            <p:blipFill>
              <a:blip r:embed="rId7"/>
              <a:stretch>
                <a:fillRect/>
              </a:stretch>
            </p:blipFill>
            <p:spPr>
              <a:xfrm>
                <a:off x="1201237" y="5904006"/>
                <a:ext cx="63950" cy="48053"/>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p14:cNvContentPartPr/>
              <p14:nvPr/>
            </p14:nvContentPartPr>
            <p14:xfrm>
              <a:off x="1416151" y="5724299"/>
              <a:ext cx="10297" cy="10297"/>
            </p14:xfrm>
          </p:contentPart>
        </mc:Choice>
        <mc:Fallback xmlns="">
          <p:pic>
            <p:nvPicPr>
              <p:cNvPr id="5" name="Ink 4"/>
              <p:cNvPicPr/>
              <p:nvPr/>
            </p:nvPicPr>
            <p:blipFill>
              <a:blip r:embed="rId9"/>
              <a:stretch>
                <a:fillRect/>
              </a:stretch>
            </p:blipFill>
            <p:spPr>
              <a:xfrm>
                <a:off x="1369346" y="5650749"/>
                <a:ext cx="102970" cy="155926"/>
              </a:xfrm>
              <a:prstGeom prst="rect">
                <a:avLst/>
              </a:prstGeom>
            </p:spPr>
          </p:pic>
        </mc:Fallback>
      </mc:AlternateContent>
    </p:spTree>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 Brand 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2" id="{57ECC965-9F89-4A4E-BF24-E1BEF30EC054}" vid="{19A2DA7C-225B-47C3-92B9-9FA911C294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8</Slides>
  <Notes>1</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Deloitte Brand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Aditya, K C Delhi Kumar</dc:creator>
  <cp:revision>456</cp:revision>
  <dcterms:created xsi:type="dcterms:W3CDTF">2026-06-30T10:25:38Z</dcterms:created>
  <dcterms:modified xsi:type="dcterms:W3CDTF">2026-08-29T19:14:29Z</dcterms:modified>
</cp:coreProperties>
</file>